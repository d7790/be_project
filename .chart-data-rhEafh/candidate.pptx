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0162b50fc840bf" /><Relationship Type="http://schemas.openxmlformats.org/officeDocument/2006/relationships/extended-properties" Target="/docProps/app.xml" Id="R67737923a8414493" /><Relationship Type="http://schemas.openxmlformats.org/officeDocument/2006/relationships/officeDocument" Target="/ppt/presentation.xml" Id="Rfefd1ddeacf84805" /></Relationships>
</file>

<file path=ppt/presentation.xml><?xml version="1.0" encoding="utf-8"?>
<p:presentation xmlns:p="http://schemas.openxmlformats.org/presentationml/2006/main">
  <p:sldMasterIdLst>
    <p:sldMasterId xmlns:r="http://schemas.openxmlformats.org/officeDocument/2006/relationships" id="2147483648" r:id="R22eeaffad6eb47fe"/>
    <p:sldMasterId xmlns:r="http://schemas.openxmlformats.org/officeDocument/2006/relationships" id="2147483659" r:id="R7accd506945f4886"/>
  </p:sldMasterIdLst>
  <p:notesMasterIdLst>
    <p:notesMasterId xmlns:r="http://schemas.openxmlformats.org/officeDocument/2006/relationships" r:id="Rd99a1b70eacf4f68"/>
  </p:notesMasterIdLst>
  <p:sldIdLst>
    <p:sldId xmlns:r="http://schemas.openxmlformats.org/officeDocument/2006/relationships" id="256" r:id="R356ae01c13484a43"/>
    <p:sldId xmlns:r="http://schemas.openxmlformats.org/officeDocument/2006/relationships" id="257" r:id="R4ab06d5a7edf4488"/>
    <p:sldId xmlns:r="http://schemas.openxmlformats.org/officeDocument/2006/relationships" id="258" r:id="R73f05387c8324270"/>
    <p:sldId xmlns:r="http://schemas.openxmlformats.org/officeDocument/2006/relationships" id="259" r:id="R8a9f98771b8640c2"/>
    <p:sldId xmlns:r="http://schemas.openxmlformats.org/officeDocument/2006/relationships" id="260" r:id="R522792ad6a174191"/>
    <p:sldId xmlns:r="http://schemas.openxmlformats.org/officeDocument/2006/relationships" id="261" r:id="Ra9b670e5d85444be"/>
    <p:sldId xmlns:r="http://schemas.openxmlformats.org/officeDocument/2006/relationships" id="262" r:id="R84f49476d6634f3b"/>
    <p:sldId xmlns:r="http://schemas.openxmlformats.org/officeDocument/2006/relationships" id="263" r:id="R5892fdee3da3413a"/>
    <p:sldId xmlns:r="http://schemas.openxmlformats.org/officeDocument/2006/relationships" id="264" r:id="Rc7f74cdcb16248bb"/>
    <p:sldId xmlns:r="http://schemas.openxmlformats.org/officeDocument/2006/relationships" id="265" r:id="R10c386166814453f"/>
    <p:sldId xmlns:r="http://schemas.openxmlformats.org/officeDocument/2006/relationships" id="266" r:id="Rff14e6d0fd07443a"/>
    <p:sldId xmlns:r="http://schemas.openxmlformats.org/officeDocument/2006/relationships" id="267" r:id="R14708599bbfb486f"/>
    <p:sldId xmlns:r="http://schemas.openxmlformats.org/officeDocument/2006/relationships" id="268" r:id="Rf7d9726897864547"/>
    <p:sldId xmlns:r="http://schemas.openxmlformats.org/officeDocument/2006/relationships" id="269" r:id="Rb9ff51ed57ee4436"/>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ea502892eb248d5" /><Relationship Type="http://schemas.openxmlformats.org/officeDocument/2006/relationships/slideMaster" Target="/ppt/slideMasters/slideMaster1.xml" Id="R22eeaffad6eb47fe" /><Relationship Type="http://schemas.openxmlformats.org/officeDocument/2006/relationships/slideMaster" Target="/ppt/slideMasters/slideMaster2.xml" Id="R7accd506945f4886" /><Relationship Type="http://schemas.openxmlformats.org/officeDocument/2006/relationships/notesMaster" Target="/ppt/notesMasters/notesMaster1.xml" Id="Rd99a1b70eacf4f68" /><Relationship Type="http://schemas.openxmlformats.org/officeDocument/2006/relationships/presProps" Target="/ppt/presProps.xml" Id="Rbf4a8cdd75724641" /><Relationship Type="http://schemas.openxmlformats.org/officeDocument/2006/relationships/viewProps" Target="/ppt/viewProps.xml" Id="R63245d25c469423d" /><Relationship Type="http://schemas.openxmlformats.org/officeDocument/2006/relationships/tableStyles" Target="/ppt/tableStyles.xml" Id="R994a24ba14b640ef" /><Relationship Type="http://schemas.openxmlformats.org/officeDocument/2006/relationships/slide" Target="/ppt/slides/slide1.xml" Id="R356ae01c13484a43" /><Relationship Type="http://schemas.openxmlformats.org/officeDocument/2006/relationships/slide" Target="/ppt/slides/slide2.xml" Id="R4ab06d5a7edf4488" /><Relationship Type="http://schemas.openxmlformats.org/officeDocument/2006/relationships/slide" Target="/ppt/slides/slide3.xml" Id="R73f05387c8324270" /><Relationship Type="http://schemas.openxmlformats.org/officeDocument/2006/relationships/slide" Target="/ppt/slides/slide4.xml" Id="R8a9f98771b8640c2" /><Relationship Type="http://schemas.openxmlformats.org/officeDocument/2006/relationships/slide" Target="/ppt/slides/slide5.xml" Id="R522792ad6a174191" /><Relationship Type="http://schemas.openxmlformats.org/officeDocument/2006/relationships/slide" Target="/ppt/slides/slide6.xml" Id="Ra9b670e5d85444be" /><Relationship Type="http://schemas.openxmlformats.org/officeDocument/2006/relationships/slide" Target="/ppt/slides/slide7.xml" Id="R84f49476d6634f3b" /><Relationship Type="http://schemas.openxmlformats.org/officeDocument/2006/relationships/slide" Target="/ppt/slides/slide8.xml" Id="R5892fdee3da3413a" /><Relationship Type="http://schemas.openxmlformats.org/officeDocument/2006/relationships/slide" Target="/ppt/slides/slide9.xml" Id="Rc7f74cdcb16248bb" /><Relationship Type="http://schemas.openxmlformats.org/officeDocument/2006/relationships/slide" Target="/ppt/slides/slide10.xml" Id="R10c386166814453f" /><Relationship Type="http://schemas.openxmlformats.org/officeDocument/2006/relationships/slide" Target="/ppt/slides/slide11.xml" Id="Rff14e6d0fd07443a" /><Relationship Type="http://schemas.openxmlformats.org/officeDocument/2006/relationships/slide" Target="/ppt/slides/slide12.xml" Id="R14708599bbfb486f" /><Relationship Type="http://schemas.openxmlformats.org/officeDocument/2006/relationships/slide" Target="/ppt/slides/slide13.xml" Id="Rf7d9726897864547" /><Relationship Type="http://schemas.openxmlformats.org/officeDocument/2006/relationships/slide" Target="/ppt/slides/slide14.xml" Id="Rb9ff51ed57ee44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e90197fd3ea441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ae1a7a2f4d484c" /><Relationship Type="http://schemas.openxmlformats.org/officeDocument/2006/relationships/notesMaster" Target="/ppt/notesMasters/notesMaster1.xml" Id="Ra6bb66cc0fb643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e57666f93a4911" /><Relationship Type="http://schemas.openxmlformats.org/officeDocument/2006/relationships/notesMaster" Target="/ppt/notesMasters/notesMaster1.xml" Id="Re6e44ccd265842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42940529db4364" /><Relationship Type="http://schemas.openxmlformats.org/officeDocument/2006/relationships/notesMaster" Target="/ppt/notesMasters/notesMaster1.xml" Id="R42cc93378acb45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8306ff0d4942bc" /><Relationship Type="http://schemas.openxmlformats.org/officeDocument/2006/relationships/notesMaster" Target="/ppt/notesMasters/notesMaster1.xml" Id="R42f63b7834b546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02bdcbc23a415d" /><Relationship Type="http://schemas.openxmlformats.org/officeDocument/2006/relationships/notesMaster" Target="/ppt/notesMasters/notesMaster1.xml" Id="R2e244b41dd8943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634379e9d14242" /><Relationship Type="http://schemas.openxmlformats.org/officeDocument/2006/relationships/notesMaster" Target="/ppt/notesMasters/notesMaster1.xml" Id="Rb12cdc18a3dc43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b589c784cd4cd7" /><Relationship Type="http://schemas.openxmlformats.org/officeDocument/2006/relationships/notesMaster" Target="/ppt/notesMasters/notesMaster1.xml" Id="R7bd1339ab89448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8bd329c2844fa6" /><Relationship Type="http://schemas.openxmlformats.org/officeDocument/2006/relationships/notesMaster" Target="/ppt/notesMasters/notesMaster1.xml" Id="Ra37c09b409244c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a7018f87b94e97" /><Relationship Type="http://schemas.openxmlformats.org/officeDocument/2006/relationships/notesMaster" Target="/ppt/notesMasters/notesMaster1.xml" Id="R2c5ec0b2b33f47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cde322fdf141ba" /><Relationship Type="http://schemas.openxmlformats.org/officeDocument/2006/relationships/notesMaster" Target="/ppt/notesMasters/notesMaster1.xml" Id="R9273bc4294f34a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8a275b18484fc5" /><Relationship Type="http://schemas.openxmlformats.org/officeDocument/2006/relationships/notesMaster" Target="/ppt/notesMasters/notesMaster1.xml" Id="R85fefde92d9e41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38c9e330194354" /><Relationship Type="http://schemas.openxmlformats.org/officeDocument/2006/relationships/notesMaster" Target="/ppt/notesMasters/notesMaster1.xml" Id="Rf8e5052b3cd44c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29b34ddaa14ba1" /><Relationship Type="http://schemas.openxmlformats.org/officeDocument/2006/relationships/notesMaster" Target="/ppt/notesMasters/notesMaster1.xml" Id="R24f25482dc3040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e503b0c7674bb4" /><Relationship Type="http://schemas.openxmlformats.org/officeDocument/2006/relationships/notesMaster" Target="/ppt/notesMasters/notesMaster1.xml" Id="R7a6e8ebe4b1743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WattSense studies battery monitoring and priority control for a small DC system. The Review 3 evidence covers a software prototype, a routed PCB and simulations. Physical assembly is the next stage.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User-supplied author/department/date details, 1 October 2026. College identity and logos retained from supplied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design uses a protected 4S LiFePO4 pack, a matched charger, an external converter and an ESP32. Only the fan return is switched. Solar hardware is an extension after the battery-only demonstration. Do not describe the dashboard as a measured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docs/PROJECT_FLOW.md</a:t>
            </a:r>
            <a:endParaRPr/>
          </a:p>
          <a:p xmlns:a="http://schemas.openxmlformats.org/drawingml/2006/main">
            <a:pPr marL="0" lvl="0" indent="0" algn="l">
              <a:spcBef>
                <a:spcPts val="0"/>
              </a:spcBef>
              <a:spcAft>
                <a:spcPts val="0"/>
              </a:spcAft>
              <a:buNone/>
            </a:pPr>
            <a:r>
              <a:t>docs/RECHECK_2026-09-30.md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Section 4 explicitly identifies simulation of stochastic load/generation conditions and three priority levels. The mechanism optimises battery SOC shedding points with PSO and forecasts. Cite issue year 2024, not online-first date December 2023. WattSense implements neither forecasting nor PSO; the comparison is scope, not superiority.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endParaRPr/>
          </a:p>
          <a:p xmlns:a="http://schemas.openxmlformats.org/drawingml/2006/main">
            <a:pPr marL="0" lvl="0" indent="0" algn="l">
              <a:spcBef>
                <a:spcPts val="0"/>
              </a:spcBef>
              <a:spcAft>
                <a:spcPts val="0"/>
              </a:spcAft>
              <a:buNone/>
            </a:pPr>
            <a:r>
              <a:t>https://www.mdpi.com/2076-3417/10/7/2544</a:t>
            </a:r>
            <a:endParaRPr/>
          </a:p>
          <a:p xmlns:a="http://schemas.openxmlformats.org/drawingml/2006/main">
            <a:pPr marL="0" lvl="0" indent="0" algn="l">
              <a:spcBef>
                <a:spcPts val="0"/>
              </a:spcBef>
              <a:spcAft>
                <a:spcPts val="0"/>
              </a:spcAft>
              <a:buNone/>
            </a:pPr>
            <a:r>
              <a:t>Evidence: The full PDF was opened. The model includes PV, battery, supercapacitor, diesel and grid connection. Section 2.6 names knapsack/MILP with IBM CPLEX; section 2 explicitly omits converter efficiency. Results are simulation, not a laboratory trial. That omission is a stated author modeling choice rather than our invented criticism.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endParaRPr/>
          </a:p>
          <a:p xmlns:a="http://schemas.openxmlformats.org/drawingml/2006/main">
            <a:pPr marL="0" lvl="0" indent="0" algn="l">
              <a:spcBef>
                <a:spcPts val="0"/>
              </a:spcBef>
              <a:spcAft>
                <a:spcPts val="0"/>
              </a:spcAft>
              <a:buNone/>
            </a:pPr>
            <a:r>
              <a:t>https://www.mdpi.com/2079-9292/10/7/834</a:t>
            </a:r>
            <a:endParaRPr/>
          </a:p>
          <a:p xmlns:a="http://schemas.openxmlformats.org/drawingml/2006/main">
            <a:pPr marL="0" lvl="0" indent="0" algn="l">
              <a:spcBef>
                <a:spcPts val="0"/>
              </a:spcBef>
              <a:spcAft>
                <a:spcPts val="0"/>
              </a:spcAft>
              <a:buNone/>
            </a:pPr>
            <a:r>
              <a:t>Evidence: The publisher page direct open returned 429 but primary full text was retrieved through search, including tables and result sections. The paper uses two energy-storage units, SOC-dependent droop, and secondary-load shedding when SOC is low and generation insufficient. Its Table 2 has a 450 V bus. The simulation scope differs from the 12.8 V one-pack WattSense demonstrator.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The reported platform has a solar panel, purchased MPPT controller, rechargeable battery, relay-controlled LEDs and a toy-car charger. Hardware data were sampled every ten minutes during the reported outdoor run; do not imply WattSense data exist. The applicability limit is our scope comparison: its focus is education and integration rather than WattSense's battery-only retained-lamp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endParaRPr/>
          </a:p>
          <a:p xmlns:a="http://schemas.openxmlformats.org/drawingml/2006/main">
            <a:pPr marL="0" lvl="0" indent="0" algn="l">
              <a:spcBef>
                <a:spcPts val="0"/>
              </a:spcBef>
              <a:spcAft>
                <a:spcPts val="0"/>
              </a:spcAft>
              <a:buNone/>
            </a:pPr>
            <a:r>
              <a:t>https://www.sciencedirect.com/science/article/pii/S2352152X23026804</a:t>
            </a:r>
            <a:endParaRPr/>
          </a:p>
          <a:p xmlns:a="http://schemas.openxmlformats.org/drawingml/2006/main">
            <a:pPr marL="0" lvl="0" indent="0" algn="l">
              <a:spcBef>
                <a:spcPts val="0"/>
              </a:spcBef>
              <a:spcAft>
                <a:spcPts val="0"/>
              </a:spcAft>
              <a:buNone/>
            </a:pPr>
            <a:r>
              <a:t>Evidence: Both institutional and publisher abstracts describe an HIL environment plus a Micro Lab Box/dSPACE DS1202 experimental setup. The row does not invent sample sizes or transfer their transient results to WattSense. WattSense is a supervisory fan switch; it does not implement converter-level distributed predictive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endParaRPr/>
          </a:p>
          <a:p xmlns:a="http://schemas.openxmlformats.org/drawingml/2006/main">
            <a:pPr marL="0" lvl="0" indent="0" algn="l">
              <a:spcBef>
                <a:spcPts val="0"/>
              </a:spcBef>
              <a:spcAft>
                <a:spcPts val="0"/>
              </a:spcAft>
              <a:buNone/>
            </a:pPr>
            <a:r>
              <a:t>https://www.sciencedirect.com/science/article/pii/S0038092X23000336</a:t>
            </a:r>
            <a:endParaRPr/>
          </a:p>
          <a:p xmlns:a="http://schemas.openxmlformats.org/drawingml/2006/main">
            <a:pPr marL="0" lvl="0" indent="0" algn="l">
              <a:spcBef>
                <a:spcPts val="0"/>
              </a:spcBef>
              <a:spcAft>
                <a:spcPts val="0"/>
              </a:spcAft>
              <a:buNone/>
            </a:pPr>
            <a:r>
              <a:t>Evidence: Publisher methods text explicitly says MATLAB R2021a simulations, hourly PV profiles for Amman based on NREL and forecast-based rural load profiles. Therefore the row does not call these measured hardware results. The limitation is applicability: this optimisation workflow requires input profiles/training beyond WattSense's deterministic two-load policy.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endParaRPr/>
          </a:p>
          <a:p xmlns:a="http://schemas.openxmlformats.org/drawingml/2006/main">
            <a:pPr marL="0" lvl="0" indent="0" algn="l">
              <a:spcBef>
                <a:spcPts val="0"/>
              </a:spcBef>
              <a:spcAft>
                <a:spcPts val="0"/>
              </a:spcAft>
              <a:buNone/>
            </a:pPr>
            <a:r>
              <a:t>https://www.sciencedirect.com/science/article/pii/S2352467723001455</a:t>
            </a:r>
            <a:endParaRPr/>
          </a:p>
          <a:p xmlns:a="http://schemas.openxmlformats.org/drawingml/2006/main">
            <a:pPr marL="0" lvl="0" indent="0" algn="l">
              <a:spcBef>
                <a:spcPts val="0"/>
              </a:spcBef>
              <a:spcAft>
                <a:spcPts val="0"/>
              </a:spcAft>
              <a:buNone/>
            </a:pPr>
            <a:r>
              <a:t>Evidence: The primary page explicitly states a ten-bus simulated test network, probabilistic point estimates with correlation handling, and sufficient historical input data assumed. Its conclusion says grid-connected. This is contextual prior art for uncertainty handling, not a direct small standalone prototype baseline. Do not claim WattSense implements its optimisation or uncertainty model.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An electronic-load instrument characterized a lithium-titanate cell and supplied data to EKF SOC estimation. WattSense uses a protected LFP pack with a switched fan, not this high-current characterization load.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an implementation gap for our project constraints, not a claim that the research community lacks priority shedding. The planned prototype can test real calibration, startup and runtime limits that current simulations cannot establish.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paper/src/manuscript.json, C003–C006</a:t>
            </a:r>
            <a:endParaRPr/>
          </a:p>
          <a:p xmlns:a="http://schemas.openxmlformats.org/drawingml/2006/main">
            <a:pPr marL="0" lvl="0" indent="0" algn="l">
              <a:spcBef>
                <a:spcPts val="0"/>
              </a:spcBef>
              <a:spcAft>
                <a:spcPts val="0"/>
              </a:spcAft>
              <a:buNone/>
            </a:pPr>
            <a:r>
              <a:t>Literature survey references [1]–[20]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spending plan targets less than ₹10,000, but delivered quotations have not yet established affordability. Runtime is a heuristic, not a guaranteed minimum. Cell-level protection remains with the purchased BMS.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WATTSENSE_PROJECT_BLUEPRINT.md</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custom board measures signed battery current (U1), load input (U2) and optional charging current (U3). The purchased protected 4S LiFePO4 pack and matched charger supply cell protection and charging. U3 readout and solar are disabled initially. Essential lamp is unswitched, so reserve tests require supervised external stopping. Solid arrows denote power and dashed arrows denote data/control. Shared return, fuses and charger routing are omitted from this conceptual diagram. DS18B20 supplies surface temperature. SOC begins unknown and needs a verified full-charge reference. A sample gap &gt;2 s or invalid sample turns the optional output off and invalidates charge tracking. Restore requires explicit request, prospective runtime at least3.25 h and all operating gates. Intended ceilings:2 A battery,1.5 A total5 V, measured starter branches≤0.6 A each. Configured CAD checks pass; six generic connector footprint-filter warnings appear with all ignored categories enabled. Actual assigned footprints, nets, pitch and drills were independently checked. The board is not fabricated.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firmware/include/config.h</a:t>
            </a:r>
            <a:endParaRPr/>
          </a:p>
          <a:p xmlns:a="http://schemas.openxmlformats.org/drawingml/2006/main">
            <a:pPr marL="0" lvl="0" indent="0" algn="l">
              <a:spcBef>
                <a:spcPts val="0"/>
              </a:spcBef>
              <a:spcAft>
                <a:spcPts val="0"/>
              </a:spcAft>
              <a:buNone/>
            </a:pPr>
            <a:r>
              <a:t>docs/evidence/recheck-2026-09-30/hardware/FINDINGS.md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Current data are synthetic model traces, not physical observations. The18 pairs vary assumed capacity, efficiency and battery resistance; they are deterministic scenarios, not confidence intervals. The12,000 comparisons use host-compiled C++ versus Python, not ESP32 execution. Both production and bring-up targets build; production arming remains disabled. The reduced startup simulations give common-rail/fan minima: S1 4.824746/4.677085 V, S2 4.756409/4.473916 V, S3 2.994660/2.735565 V, S4 identical minima with2200 µF, S5 4.693761/4.287662 V, S6 4.790716/4.551236 V. Fan-start/source-limit currents: S1 .6/2 A, S2 1.2/2 A, S3–S4 1.8/1.5 A, S5 1.8/3 A, S6 1/2 A. Other cases use470 µF. S3,S4,S5 fail the provisional4.75 V rail screen. This screen is neither an actual selected-fan specification nor an ESP32 reset threshold. More capacitance cannot fix sustained source shortage. Models do not establish converter/BLDC/thermal performance. Hardware logs must include timestamps, independent readings, load state and temperature.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simulations/results/hardware-summary.json</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chart reports a Python reference controller coupled to a nonideal battery/load model. Baseline lamp/fan service is5.476388889 h. Priority lamp service is7.883611111 h and fan service2.493611111 h. Lamp+43.956378% accompanies fan−54.466142%; this reallocates service and does not add battery capacity or show an equal-service efficiency gain. Values in the editable chart workbook are rounded to six decimals; raw values remain in hardware-summary.json. Runtime depends on assumed capacity, OCV, resistance, efficiency and known current. Hardware has not established these runtimes. Calibration target is±1% voltage and±(3% of independent reference current +10 mA). Verify these targets with held-out readings and instrument uncertainty. Also test3 s low-runtime trigger, invalid-reading OFF, explicit restore, startup rails, temperature and repeated matched baseline/priority discharge. Use supervised external stopping because the lamp is unswitched.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simulations/results/hardware-summary.json</a:t>
            </a:r>
            <a:endParaRPr/>
          </a:p>
          <a:p xmlns:a="http://schemas.openxmlformats.org/drawingml/2006/main">
            <a:pPr marL="0" lvl="0" indent="0" algn="l">
              <a:spcBef>
                <a:spcPts val="0"/>
              </a:spcBef>
              <a:spcAft>
                <a:spcPts val="0"/>
              </a:spcAft>
              <a:buNone/>
            </a:pPr>
            <a:r>
              <a:t>simulations/hardware-assumptions.json</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Review3 is3 October2026 as supplied. The final project submission is next semester. The listed months are planning stages, not confirmed deliveries. Initial allocation₹9,700 includes a₹700 contingency, no funded re-spin and no solar purchase. Scope is one custom interface board and a purchased protected BMS pack.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review date,1 October2026</a:t>
            </a:r>
            <a:endParaRPr/>
          </a:p>
          <a:p xmlns:a="http://schemas.openxmlformats.org/drawingml/2006/main">
            <a:pPr marL="0" lvl="0" indent="0" algn="l">
              <a:spcBef>
                <a:spcPts val="0"/>
              </a:spcBef>
              <a:spcAft>
                <a:spcPts val="0"/>
              </a:spcAft>
              <a:buNone/>
            </a:pPr>
            <a:r>
              <a:t>docs/NEXT_STEPS.md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abstract, retrieved 2026-10-01; existing paper/evidence/literature-review.json, source marahatta2021 (2026-09-30). Earlier author-uploaded paper section 2.2.2 and Table 3 were checked in that record.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Publisher abstract; section 4 Discussion and Conclusions; issue citation. Publisher content retrieved through indexed primary page 2026-10-01. Saved literature-review.json also checked.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endParaRPr/>
          </a:p>
          <a:p xmlns:a="http://schemas.openxmlformats.org/drawingml/2006/main">
            <a:pPr marL="0" lvl="0" indent="0" algn="l">
              <a:spcBef>
                <a:spcPts val="0"/>
              </a:spcBef>
              <a:spcAft>
                <a:spcPts val="0"/>
              </a:spcAft>
              <a:buNone/>
            </a:pPr>
            <a:r>
              <a:t>https://www.mdpi.com/2076-3417/10/7/2544</a:t>
            </a:r>
            <a:endParaRPr/>
          </a:p>
          <a:p xmlns:a="http://schemas.openxmlformats.org/drawingml/2006/main">
            <a:pPr marL="0" lvl="0" indent="0" algn="l">
              <a:spcBef>
                <a:spcPts val="0"/>
              </a:spcBef>
              <a:spcAft>
                <a:spcPts val="0"/>
              </a:spcAft>
              <a:buNone/>
            </a:pPr>
            <a:r>
              <a:t>Evidence: Publisher PDF pp. 1-3 abstract/contributions; section 2 introduction (p. 3), section 2.6 DC Load (p. 6); doi and byline on p.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endParaRPr/>
          </a:p>
          <a:p xmlns:a="http://schemas.openxmlformats.org/drawingml/2006/main">
            <a:pPr marL="0" lvl="0" indent="0" algn="l">
              <a:spcBef>
                <a:spcPts val="0"/>
              </a:spcBef>
              <a:spcAft>
                <a:spcPts val="0"/>
              </a:spcAft>
              <a:buNone/>
            </a:pPr>
            <a:r>
              <a:t>https://www.mdpi.com/2079-9292/10/7/834</a:t>
            </a:r>
            <a:endParaRPr/>
          </a:p>
          <a:p xmlns:a="http://schemas.openxmlformats.org/drawingml/2006/main">
            <a:pPr marL="0" lvl="0" indent="0" algn="l">
              <a:spcBef>
                <a:spcPts val="0"/>
              </a:spcBef>
              <a:spcAft>
                <a:spcPts val="0"/>
              </a:spcAft>
              <a:buNone/>
            </a:pPr>
            <a:r>
              <a:t>Evidence: Publisher indexed full text: byline/abstract, section 4 Simulation and Discussion, section 4.2, Table 2, section 5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Publisher indexed full text: title/byline, section 2 system design, section 4 GUI, section 6 Experimental Results, section 7 Educational Assessment and section 8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Publisher landing page abstract and citation, published 30 September 2023; publisher four-page PDF opened for primary source confirmation.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Publisher indexed sections 4 Results and 5 Conclusions; published PDF at LAPSE repository pp. 1 (metadata), 12-18 (results and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endParaRPr/>
          </a:p>
          <a:p xmlns:a="http://schemas.openxmlformats.org/drawingml/2006/main">
            <a:pPr marL="0" lvl="0" indent="0" algn="l">
              <a:spcBef>
                <a:spcPts val="0"/>
              </a:spcBef>
              <a:spcAft>
                <a:spcPts val="0"/>
              </a:spcAft>
              <a:buNone/>
            </a:pPr>
            <a:r>
              <a:t>https://www.sciencedirect.com/science/article/pii/S2352152X23026804</a:t>
            </a:r>
            <a:endParaRPr/>
          </a:p>
          <a:p xmlns:a="http://schemas.openxmlformats.org/drawingml/2006/main">
            <a:pPr marL="0" lvl="0" indent="0" algn="l">
              <a:spcBef>
                <a:spcPts val="0"/>
              </a:spcBef>
              <a:spcAft>
                <a:spcPts val="0"/>
              </a:spcAft>
              <a:buNone/>
            </a:pPr>
            <a:r>
              <a:t>Evidence: Aarhus University institutional record: authors, peer-review flag, abstract paragraphs 1-4, citation and DOI. Publisher abstract was independently retrieved.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endParaRPr/>
          </a:p>
          <a:p xmlns:a="http://schemas.openxmlformats.org/drawingml/2006/main">
            <a:pPr marL="0" lvl="0" indent="0" algn="l">
              <a:spcBef>
                <a:spcPts val="0"/>
              </a:spcBef>
              <a:spcAft>
                <a:spcPts val="0"/>
              </a:spcAft>
              <a:buNone/>
            </a:pPr>
            <a:r>
              <a:t>https://www.sciencedirect.com/science/article/pii/S0038092X23000336</a:t>
            </a:r>
            <a:endParaRPr/>
          </a:p>
          <a:p xmlns:a="http://schemas.openxmlformats.org/drawingml/2006/main">
            <a:pPr marL="0" lvl="0" indent="0" algn="l">
              <a:spcBef>
                <a:spcPts val="0"/>
              </a:spcBef>
              <a:spcAft>
                <a:spcPts val="0"/>
              </a:spcAft>
              <a:buNone/>
            </a:pPr>
            <a:r>
              <a:t>Evidence: Publisher title/byline/abstract and Experimental results section; 15-page author manuscript opened from Newcastle staff repository, title page and abstract.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endParaRPr/>
          </a:p>
          <a:p xmlns:a="http://schemas.openxmlformats.org/drawingml/2006/main">
            <a:pPr marL="0" lvl="0" indent="0" algn="l">
              <a:spcBef>
                <a:spcPts val="0"/>
              </a:spcBef>
              <a:spcAft>
                <a:spcPts val="0"/>
              </a:spcAft>
              <a:buNone/>
            </a:pPr>
            <a:r>
              <a:t>https://www.sciencedirect.com/science/article/pii/S2352467723001455</a:t>
            </a:r>
            <a:endParaRPr/>
          </a:p>
          <a:p xmlns:a="http://schemas.openxmlformats.org/drawingml/2006/main">
            <a:pPr marL="0" lvl="0" indent="0" algn="l">
              <a:spcBef>
                <a:spcPts val="0"/>
              </a:spcBef>
              <a:spcAft>
                <a:spcPts val="0"/>
              </a:spcAft>
              <a:buNone/>
            </a:pPr>
            <a:r>
              <a:t>Evidence: Publisher indexed article title/byline/abstract; System modelling assumptions; Test system;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Existing primary-source record paper/evidence/literature-review.json, id movassagh2021; NASA-hosted manuscript abstract and error-analysis sections.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Existing primary-source record paper/evidence/literature-review.json, id zhang2018; abstract, experimental section 4.1 and discussion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Aalborg-hosted version of record: section 2 identifies 3.4 Ah NMC cells; sections 3–5 describe efficiency compensation, OCV reset and RLS; section 6 discusses relaxation-time dependence.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Published-paper PDF: section 3/Table 1 states University of Maryland 2 Ah LiNiMnCo/graphite data; OCV and DST tests at 0, 25 and 45 °C; section 3.2.2 and conclusion compare against RLS.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Publisher retrieved sections 2, 3, 5, 6.1 and 7; KIT institutional bibliographic record. Section 6.1 describes a cell estimator operating within a 96-cell system using AURIX/LTC6811/fluxgate hardware.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Publisher retrieved abstract, section 3 and concluding paragraphs. Conclusion explicitly describes experimental validation using a domestic lead-acid battery.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Opened University of Jaén publication record: abstract, citation and author metadata; university-hosted paper title-page retrieval confirms article byline.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Publisher retrieved abstract and sections 2 and 3.1–3.4: temperature-dependent ECM, PSO parameter fitting, improved EKF, Lishen LFP tests, HPPC and variable-temperature NEDC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Publisher retrieved abstract, introduction, sections 3 and 7; implementation description identifies STM32H747XIH6 on STM32H7-DISCO. Accuracy and run-cycle duration are evaluated separately.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Opened SciELO publisher PDF: page 1 abstract, section II ECM, section IV-A ESP32 prototype, sections V–VI load and cell-parameterization results.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Expected questions: Why use a purchased BMS? It supplies cell protection while our board monitors energy and controls a fan. What is demonstrated now? Software, CAD and simulation. What comes next? Parts selection, assembly, calibration and physical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99ce58acbd4b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289b03abf44e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c44bf94fce4b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96779b2ea848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6c8ef1ad4e4e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acf56f6f474d3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0df5c758823434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ccff7cecca4421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414ef2f3a9e4d2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05dbba1ed334e4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15fc074efe094d71"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49528C46-5FD3-45ED-B293-D584565E7577}"/>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58DC5AB7-A801-4D20-B828-5B9CE8435211}"/>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5A0C1A85-49F3-4817-8422-F076E2D8CC8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6094A543-4317-4CD1-B9A1-6FD4738114F9}"/>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915F58D7-5DC7-4A2A-86AD-3AAE2210A23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428EEF30-E6AF-4408-B36F-FD7742B41D51}"/>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5E70EC80-7013-4429-B71A-883B44A84896}"/>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0F3D1674-2ACF-417F-AEE0-670220718923}"/>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6F93AA30-D394-4E65-8B96-899A1F3C8C6C}"/>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1540178C-A078-4576-AEA1-D1E94C4BF3AC}"/>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FE55EDAD-7C3D-47F5-91D2-6A8543F14685}"/>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B3FB4F5E-43A7-431F-B911-D76BAD6F281C}"/>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69990CD1-132C-4C14-A6F4-232EEBBA498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6EE9DB5F-F861-4EAC-8F9A-AF8328F662AE}"/>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F7287C80-63BE-4FBC-90E3-3AF8C09769B2}"/>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345D3B7E-04C8-486D-93B9-6C9EBE3AE952}"/>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3C93DA92-42AA-4FC6-A0FE-9B34F64872B0}"/>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9A644125-E6C3-40B2-A9CD-69E01A87699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55029398-8AD7-406F-938D-59DA35603910}"/>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C6D49E02-607C-4540-8834-19888CD436FD}"/>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6968BDCD-E63A-40AF-81DD-5E7B49ECEDF9}"/>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8B3BF60D-3E22-4172-B4A9-B26A25B0602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C953C351-6B50-4D3B-917E-FBD2B5C3CA32}"/>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BDFC1D0C-E3AE-4CD0-B9B9-074CE9E37819}"/>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13B48548-E7D7-41EC-881B-3E0ACA66AAAC}"/>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51A64851-CB1A-495C-9A1A-86D476EC3D23}"/>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F03358D3-7401-42CB-98D1-BA494D6C3F11}"/>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A7404543-3048-4F65-8A3F-02805EEB4389}"/>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771E8D67-9245-4450-9070-C1A00D20F08B}"/>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4cf1712c5444cc" /><Relationship Type="http://schemas.openxmlformats.org/officeDocument/2006/relationships/slideLayout" Target="/ppt/slideLayouts/slideLayout1.xml" Id="R7d1ce10ebc2348f8" /><Relationship Type="http://schemas.openxmlformats.org/officeDocument/2006/relationships/slideLayout" Target="/ppt/slideLayouts/slideLayout2.xml" Id="Rcac0c2919f644a67" /><Relationship Type="http://schemas.openxmlformats.org/officeDocument/2006/relationships/slideLayout" Target="/ppt/slideLayouts/slideLayout3.xml" Id="Rd61e43ac17fd430d" /><Relationship Type="http://schemas.openxmlformats.org/officeDocument/2006/relationships/slideLayout" Target="/ppt/slideLayouts/slideLayout4.xml" Id="R08e337c6c9874dd9" /><Relationship Type="http://schemas.openxmlformats.org/officeDocument/2006/relationships/slideLayout" Target="/ppt/slideLayouts/slideLayout5.xml" Id="R60e03b6cdff64c50" /><Relationship Type="http://schemas.openxmlformats.org/officeDocument/2006/relationships/slideLayout" Target="/ppt/slideLayouts/slideLayout6.xml" Id="R5749124e8e0c4b3d" /><Relationship Type="http://schemas.openxmlformats.org/officeDocument/2006/relationships/slideLayout" Target="/ppt/slideLayouts/slideLayout7.xml" Id="R4743d7a47c30466f" /><Relationship Type="http://schemas.openxmlformats.org/officeDocument/2006/relationships/slideLayout" Target="/ppt/slideLayouts/slideLayout8.xml" Id="Ra5488f34c18944c2" /><Relationship Type="http://schemas.openxmlformats.org/officeDocument/2006/relationships/slideLayout" Target="/ppt/slideLayouts/slideLayout9.xml" Id="R41350a31f44e4efd" /><Relationship Type="http://schemas.openxmlformats.org/officeDocument/2006/relationships/slideLayout" Target="/ppt/slideLayouts/slideLayout10.xml" Id="R56a3f43ac24f43de"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dcc817f47764ff0" /><Relationship Type="http://schemas.openxmlformats.org/officeDocument/2006/relationships/slideLayout" Target="/ppt/slideLayouts/slideLayout11.xml" Id="Rc3169f8fb6ef429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A97383CA-C040-494C-B52F-B77401847BA9}"/>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8C13A7D8-FA47-46CA-8FCA-0E82CEDB039A}"/>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BAF68EEE-03AC-477A-8C92-96C6B9B34E02}"/>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d1ce10ebc2348f8"/>
    <p:sldLayoutId xmlns:r="http://schemas.openxmlformats.org/officeDocument/2006/relationships" id="2147483650" r:id="Rcac0c2919f644a67"/>
    <p:sldLayoutId xmlns:r="http://schemas.openxmlformats.org/officeDocument/2006/relationships" id="2147483651" r:id="Rd61e43ac17fd430d"/>
    <p:sldLayoutId xmlns:r="http://schemas.openxmlformats.org/officeDocument/2006/relationships" id="2147483652" r:id="R08e337c6c9874dd9"/>
    <p:sldLayoutId xmlns:r="http://schemas.openxmlformats.org/officeDocument/2006/relationships" id="2147483653" r:id="R60e03b6cdff64c50"/>
    <p:sldLayoutId xmlns:r="http://schemas.openxmlformats.org/officeDocument/2006/relationships" id="2147483654" r:id="R5749124e8e0c4b3d"/>
    <p:sldLayoutId xmlns:r="http://schemas.openxmlformats.org/officeDocument/2006/relationships" id="2147483655" r:id="R4743d7a47c30466f"/>
    <p:sldLayoutId xmlns:r="http://schemas.openxmlformats.org/officeDocument/2006/relationships" id="2147483656" r:id="Ra5488f34c18944c2"/>
    <p:sldLayoutId xmlns:r="http://schemas.openxmlformats.org/officeDocument/2006/relationships" id="2147483657" r:id="R41350a31f44e4efd"/>
    <p:sldLayoutId xmlns:r="http://schemas.openxmlformats.org/officeDocument/2006/relationships" id="2147483658" r:id="R56a3f43ac24f43de"/>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2CE24F7A-EB70-47CB-84AE-D946BB074CA8}"/>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E6705B56-45FF-4350-8CAE-ED3976BB9C3C}"/>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549C5600-10FF-4583-A22E-16BAE1DAF5CA}"/>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8608FE5C-D937-4C51-803D-8D0418C372F0}"/>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c3169f8fb6ef4299"/>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ecb0467fa34e28" /><Relationship Type="http://schemas.openxmlformats.org/officeDocument/2006/relationships/image" Target="/ppt/media/image.png" Id="R9374dee6520c411e" /><Relationship Type="http://schemas.openxmlformats.org/officeDocument/2006/relationships/image" Target="/ppt/media/image2.png" Id="Ra2a4e0733987476a" /><Relationship Type="http://schemas.openxmlformats.org/officeDocument/2006/relationships/notesSlide" Target="/ppt/notesSlides/notesSlide1.xml" Id="R897529a412d641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637c2a0e5a140ed" /><Relationship Type="http://schemas.openxmlformats.org/officeDocument/2006/relationships/notesSlide" Target="/ppt/notesSlides/notesSlide2.xml" Id="Rb2d8a52d4f9a49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2d4d2018e014d81" /><Relationship Type="http://schemas.openxmlformats.org/officeDocument/2006/relationships/notesSlide" Target="/ppt/notesSlides/notesSlide3.xml" Id="R99ff808f8f734f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f08115f8b234db1" /><Relationship Type="http://schemas.openxmlformats.org/officeDocument/2006/relationships/notesSlide" Target="/ppt/notesSlides/notesSlide4.xml" Id="Rf9e80df7155449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6d55af32d204ee5" /><Relationship Type="http://schemas.openxmlformats.org/officeDocument/2006/relationships/notesSlide" Target="/ppt/notesSlides/notesSlide5.xml" Id="R36decbb6762d4e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123a45c05db48d9" /><Relationship Type="http://schemas.openxmlformats.org/officeDocument/2006/relationships/notesSlide" Target="/ppt/notesSlides/notesSlide6.xml" Id="R418eb1a5f00c4a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691efb1d7d24042" /><Relationship Type="http://schemas.openxmlformats.org/officeDocument/2006/relationships/notesSlide" Target="/ppt/notesSlides/notesSlide7.xml" Id="Rca64910a3ce14f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8e628902cf14f55" /><Relationship Type="http://schemas.openxmlformats.org/officeDocument/2006/relationships/notesSlide" Target="/ppt/notesSlides/notesSlide8.xml" Id="R36f2da05d89f45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610d12183a74a21" /><Relationship Type="http://schemas.openxmlformats.org/officeDocument/2006/relationships/image" Target="/ppt/media/image3.png" Id="R2b81c9cc805d4451" /><Relationship Type="http://schemas.openxmlformats.org/officeDocument/2006/relationships/notesSlide" Target="/ppt/notesSlides/notesSlide9.xml" Id="R30adf4b1202345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315a971975c4e2b" /><Relationship Type="http://schemas.openxmlformats.org/officeDocument/2006/relationships/notesSlide" Target="/ppt/notesSlides/notesSlide10.xml" Id="R57bc081a30f741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f2307e686b64baa" /><Relationship Type="http://schemas.openxmlformats.org/officeDocument/2006/relationships/chart" Target="/ppt/slides/charts/chart1.xml" Id="Raeaf64edc61b430b" /><Relationship Type="http://schemas.openxmlformats.org/officeDocument/2006/relationships/notesSlide" Target="/ppt/notesSlides/notesSlide11.xml" Id="R86b1849edbef4d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d540e1141b048c2" /><Relationship Type="http://schemas.openxmlformats.org/officeDocument/2006/relationships/notesSlide" Target="/ppt/notesSlides/notesSlide12.xml" Id="Ra30b57fe71b84f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0b97dc493c0419c" /><Relationship Type="http://schemas.openxmlformats.org/officeDocument/2006/relationships/hyperlink" Target="https://doi.org/10.1016/j.egyr.2020.11.030" TargetMode="External" Id="Rc9c957636a01453a" /><Relationship Type="http://schemas.openxmlformats.org/officeDocument/2006/relationships/hyperlink" Target="https://doi.org/10.1049/stg2.12151" TargetMode="External" Id="R9f1f0aa962ec48ef" /><Relationship Type="http://schemas.openxmlformats.org/officeDocument/2006/relationships/hyperlink" Target="https://doi.org/10.3390/app10072544" TargetMode="External" Id="R47f1ffc9e33c4a7c" /><Relationship Type="http://schemas.openxmlformats.org/officeDocument/2006/relationships/hyperlink" Target="https://doi.org/10.3390/electronics10070834" TargetMode="External" Id="Rb4d7b777f19a42d4" /><Relationship Type="http://schemas.openxmlformats.org/officeDocument/2006/relationships/hyperlink" Target="https://doi.org/10.3390/electronics10131562" TargetMode="External" Id="R06a12a97cb8d4aeb" /><Relationship Type="http://schemas.openxmlformats.org/officeDocument/2006/relationships/hyperlink" Target="https://doi.org/10.35784/iapgos.5320" TargetMode="External" Id="Re4a9119988214884" /><Relationship Type="http://schemas.openxmlformats.org/officeDocument/2006/relationships/hyperlink" Target="https://doi.org/10.3390/en16062912" TargetMode="External" Id="R5e815c753e024a03" /><Relationship Type="http://schemas.openxmlformats.org/officeDocument/2006/relationships/hyperlink" Target="https://doi.org/10.1016/j.est.2023.109282" TargetMode="External" Id="R43241103658f4f76" /><Relationship Type="http://schemas.openxmlformats.org/officeDocument/2006/relationships/hyperlink" Target="https://doi.org/10.1016/j.solener.2023.01.027" TargetMode="External" Id="Rdc84be8d2ef24309" /><Relationship Type="http://schemas.openxmlformats.org/officeDocument/2006/relationships/hyperlink" Target="https://doi.org/10.1016/j.segan.2023.101137" TargetMode="External" Id="Re7f512d8a35a41ea" /><Relationship Type="http://schemas.openxmlformats.org/officeDocument/2006/relationships/hyperlink" Target="https://doi.org/10.3390/en14144074" TargetMode="External" Id="R0aa06014588d4f31" /><Relationship Type="http://schemas.openxmlformats.org/officeDocument/2006/relationships/hyperlink" Target="https://doi.org/10.1016/j.energy.2017.10.043" TargetMode="External" Id="Rd2d9a24febe8493c" /><Relationship Type="http://schemas.openxmlformats.org/officeDocument/2006/relationships/hyperlink" Target="https://doi.org/10.3390/en13071811" TargetMode="External" Id="Rcb387a6b83dc44ed" /><Relationship Type="http://schemas.openxmlformats.org/officeDocument/2006/relationships/hyperlink" Target="https://doi.org/10.3390/en14041054" TargetMode="External" Id="R72e187fa966a4df8" /><Relationship Type="http://schemas.openxmlformats.org/officeDocument/2006/relationships/hyperlink" Target="https://doi.org/10.3390/en14133733" TargetMode="External" Id="Rb20ec735fa4e44e4" /><Relationship Type="http://schemas.openxmlformats.org/officeDocument/2006/relationships/hyperlink" Target="https://doi.org/10.3390/en15218172" TargetMode="External" Id="Rbbb62a8344434d75" /><Relationship Type="http://schemas.openxmlformats.org/officeDocument/2006/relationships/hyperlink" Target="https://doi.org/10.3390/en16145558" TargetMode="External" Id="R72487b2ad9b74c8b" /><Relationship Type="http://schemas.openxmlformats.org/officeDocument/2006/relationships/hyperlink" Target="https://doi.org/10.3390/batteries9010043" TargetMode="External" Id="Rb338d8776b3d441a" /><Relationship Type="http://schemas.openxmlformats.org/officeDocument/2006/relationships/hyperlink" Target="https://doi.org/10.3390/electronics13214256" TargetMode="External" Id="R1326bda122484834" /><Relationship Type="http://schemas.openxmlformats.org/officeDocument/2006/relationships/hyperlink" Target="https://doi.org/10.18618/REP.e202521" TargetMode="External" Id="R9fe6abbb691145fc" /><Relationship Type="http://schemas.openxmlformats.org/officeDocument/2006/relationships/notesSlide" Target="/ppt/notesSlides/notesSlide13.xml" Id="Rd580a52fa0184e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bd4c0a81d464c34" /><Relationship Type="http://schemas.openxmlformats.org/officeDocument/2006/relationships/notesSlide" Target="/ppt/notesSlides/notesSlide14.xml" Id="R66bbab534acd493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Both loads retained</c:v>
          </c:tx>
          <c:spPr>
            <a:solidFill xmlns:a="http://schemas.openxmlformats.org/drawingml/2006/main">
              <a:srgbClr val="8A8A8A"/>
            </a:solidFill>
          </c:spPr>
          <c:cat>
            <c:strRef>
              <c:f>'Chart Data'!$A$2:$A$3</c:f>
              <c:strCache>
                <c:ptCount val="2"/>
                <c:pt idx="0">
                  <c:v>Lamp service</c:v>
                </c:pt>
                <c:pt idx="1">
                  <c:v>Fan service</c:v>
                </c:pt>
              </c:strCache>
            </c:strRef>
          </c:cat>
          <c:val>
            <c:numRef>
              <c:f>'Chart Data'!$B$2:$B$3</c:f>
              <c:numCache>
                <c:formatCode>0.00</c:formatCode>
                <c:ptCount val="2"/>
                <c:pt idx="0">
                  <c:v>5.476389</c:v>
                </c:pt>
                <c:pt idx="1">
                  <c:v>5.476389</c:v>
                </c:pt>
              </c:numCache>
            </c:numRef>
          </c:val>
        </c:ser>
        <c:ser>
          <c:idx val="1"/>
          <c:order val="1"/>
          <c:tx>
            <c:v>Priority control</c:v>
          </c:tx>
          <c:spPr>
            <a:solidFill xmlns:a="http://schemas.openxmlformats.org/drawingml/2006/main">
              <a:srgbClr val="7030A0"/>
            </a:solidFill>
          </c:spPr>
          <c:cat>
            <c:strRef>
              <c:f>'Chart Data'!$C$2:$C$3</c:f>
              <c:strCache>
                <c:ptCount val="2"/>
                <c:pt idx="0">
                  <c:v>Lamp service</c:v>
                </c:pt>
                <c:pt idx="1">
                  <c:v>Fan service</c:v>
                </c:pt>
              </c:strCache>
            </c:strRef>
          </c:cat>
          <c:val>
            <c:numRef>
              <c:f>'Chart Data'!$D$2:$D$3</c:f>
              <c:numCache>
                <c:formatCode>0.00</c:formatCode>
                <c:ptCount val="2"/>
                <c:pt idx="0">
                  <c:v>7.883611</c:v>
                </c:pt>
                <c:pt idx="1">
                  <c:v>2.493611</c:v>
                </c:pt>
              </c:numCache>
            </c:numRef>
          </c:val>
        </c:ser>
        <c:dLbls>
          <c:txPr>
            <a:bodyPr xmlns:a="http://schemas.openxmlformats.org/drawingml/2006/main" anchorCtr="1"/>
            <a:lstStyle xmlns:a="http://schemas.openxmlformats.org/drawingml/2006/main"/>
            <a:p xmlns:a="http://schemas.openxmlformats.org/drawingml/2006/main">
              <a:pPr>
                <a:defRPr sz="1575">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Times New Roman"/>
                <a:ea typeface="Times New Roman"/>
                <a:cs typeface="Times New Roman"/>
              </a:defRPr>
            </a:pPr>
          </a:p>
        </c:txPr>
        <c:crossAx val="48672768"/>
      </c:catAx>
      <c:valAx>
        <c:axId val="48672768"/>
        <c:scaling>
          <c:orientation val="minMax"/>
          <c:max val="9"/>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575">
                    <a:latin typeface="Times New Roman"/>
                    <a:ea typeface="Times New Roman"/>
                    <a:cs typeface="Times New Roman"/>
                  </a:rPr>
                  <a:t>Simulated service (h)</a:t>
                </a:r>
              </a:p>
            </c:rich>
          </c:tx>
          <c:overlay val="0"/>
          <c:txPr>
            <a:bodyPr xmlns:a="http://schemas.openxmlformats.org/drawingml/2006/main" anchorCtr="1"/>
            <a:lstStyle xmlns:a="http://schemas.openxmlformats.org/drawingml/2006/main"/>
            <a:p xmlns:a="http://schemas.openxmlformats.org/drawingml/2006/main">
              <a:pPr>
                <a:defRPr sz="1575">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Times New Roman"/>
                <a:ea typeface="Times New Roman"/>
                <a:cs typeface="Times New Roman"/>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479F4A54-1411-469F-8621-6CA98363F519}"/>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52B4C633-7D7F-4BD0-A873-32039AD9D4EA}"/>
              </a:ext>
            </a:extLst>
          </p:cNvPr>
          <p:cNvSpPr>
            <a:spLocks xmlns:a="http://schemas.openxmlformats.org/drawingml/2006/main" noGrp="1"/>
          </p:cNvSpPr>
          <p:nvPr/>
        </p:nvSpPr>
        <p:spPr>
          <a:xfrm xmlns:a="http://schemas.openxmlformats.org/drawingml/2006/main">
            <a:off x="190500" y="1438275"/>
            <a:ext cx="8763000" cy="981075"/>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5075D6DD-2FF2-488D-B77D-D1727A092BE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2" name="Google Shape;62;p1">
            <a:extLst xmlns:a="http://schemas.openxmlformats.org/drawingml/2006/main">
              <a:ext uri="{FF2B5EF4-FFF2-40B4-BE49-F238E27FC236}">
                <a16:creationId xmlns:a16="http://schemas.microsoft.com/office/drawing/2014/main" id="{61B20F62-FD00-45AD-9654-6A295164B64C}"/>
              </a:ext>
            </a:extLst>
          </p:cNvPr>
          <p:cNvSpPr>
            <a:spLocks xmlns:a="http://schemas.openxmlformats.org/drawingml/2006/main" noGrp="1"/>
          </p:cNvSpPr>
          <p:nvPr/>
        </p:nvSpPr>
        <p:spPr>
          <a:xfrm xmlns:a="http://schemas.openxmlformats.org/drawingml/2006/main">
            <a:off x="5372100" y="4667250"/>
            <a:ext cx="3333750" cy="192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ctr">
              <a:lnSpc>
                <a:spcPct val="150000"/>
              </a:lnSpc>
              <a:spcBef>
                <a:spcPts val="0"/>
              </a:spcBef>
              <a:spcAft>
                <a:spcPts val="0"/>
              </a:spcAft>
              <a:buClr>
                <a:schemeClr val="dk1"/>
              </a:buClr>
              <a:buSzPts val="2800"/>
              <a:buFont typeface="Times New Roman"/>
              <a:buNone/>
              <a:defRPr sz="2100" b="0">
                <a:solidFill>
                  <a:srgbClr val="000000"/>
                </a:solidFill>
                <a:latin typeface="Times New Roman"/>
                <a:ea typeface="Times New Roman"/>
                <a:cs typeface="Times New Roman"/>
              </a:defRPr>
            </a:pPr>
            <a:r>
              <a:rPr sz="2100" b="0" i="0" u="none" cap="none">
                <a:solidFill>
                  <a:srgbClr val="000000"/>
                </a:solidFill>
                <a:latin typeface="Times New Roman"/>
                <a:ea typeface="Times New Roman"/>
                <a:cs typeface="Times New Roman"/>
              </a:rPr>
              <a:t>Under the guidance of</a:t>
            </a:r>
            <a:endParaRPr/>
          </a:p>
          <a:p xmlns:a="http://schemas.openxmlformats.org/drawingml/2006/main">
            <a:pPr marL="0" marR="0" lvl="0" indent="0" algn="ctr">
              <a:lnSpc>
                <a:spcPct val="150000"/>
              </a:lnSpc>
              <a:spcBef>
                <a:spcPts val="0"/>
              </a:spcBef>
              <a:spcAft>
                <a:spcPts val="0"/>
              </a:spcAft>
              <a:buClr>
                <a:schemeClr val="dk1"/>
              </a:buClr>
              <a:buSzPts val="2400"/>
              <a:buFont typeface="Times New Roman"/>
              <a:buNone/>
              <a:defRPr sz="2100" b="0">
                <a:solidFill>
                  <a:srgbClr val="000000"/>
                </a:solidFill>
                <a:latin typeface="Times New Roman"/>
                <a:ea typeface="Times New Roman"/>
                <a:cs typeface="Times New Roman"/>
              </a:defRPr>
            </a:pPr>
            <a:r>
              <a:rPr sz="2100" b="0" i="0" u="none">
                <a:solidFill>
                  <a:srgbClr val="000000"/>
                </a:solidFill>
                <a:latin typeface="Times New Roman"/>
                <a:ea typeface="Times New Roman"/>
                <a:cs typeface="Times New Roman"/>
              </a:rPr>
              <a:t>Prof. Chetna Jain†</a:t>
            </a:r>
            <a:endParaRPr/>
          </a:p>
        </p:txBody>
      </p:sp>
      <p:sp>
        <p:nvSpPr>
          <p:cNvPr id="63" name="Google Shape;63;p1">
            <a:extLst xmlns:a="http://schemas.openxmlformats.org/drawingml/2006/main">
              <a:ext uri="{FF2B5EF4-FFF2-40B4-BE49-F238E27FC236}">
                <a16:creationId xmlns:a16="http://schemas.microsoft.com/office/drawing/2014/main" id="{FA52C222-0154-4806-B1C5-AAFC016EF3F0}"/>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9374dee6520c411e">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71C11761-0DE2-4A0B-8B96-D398832578F6}"/>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a2a4e0733987476a">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272FB62C-5B68-4B0D-BA69-8468D2765580}"/>
              </a:ext>
            </a:extLst>
          </p:cNvPr>
          <p:cNvSpPr>
            <a:spLocks xmlns:a="http://schemas.openxmlformats.org/drawingml/2006/main" noGrp="1"/>
          </p:cNvSpPr>
          <p:nvPr/>
        </p:nvSpPr>
        <p:spPr>
          <a:xfrm xmlns:a="http://schemas.openxmlformats.org/drawingml/2006/main">
            <a:off x="2381250" y="3600450"/>
            <a:ext cx="438150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DF13EE6E-8D97-4ED0-AC82-B415E0172FA4}"/>
              </a:ext>
            </a:extLst>
          </p:cNvPr>
          <p:cNvSpPr>
            <a:spLocks xmlns:a="http://schemas.openxmlformats.org/drawingml/2006/main" noGrp="1"/>
          </p:cNvSpPr>
          <p:nvPr/>
        </p:nvSpPr>
        <p:spPr>
          <a:xfrm xmlns:a="http://schemas.openxmlformats.org/drawingml/2006/main">
            <a:off x="190500" y="2562225"/>
            <a:ext cx="8763000" cy="10287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550" b="1">
                <a:solidFill>
                  <a:srgbClr val="7030A0"/>
                </a:solidFill>
                <a:latin typeface="Times New Roman"/>
                <a:ea typeface="Times New Roman"/>
                <a:cs typeface="Times New Roman"/>
              </a:defRPr>
            </a:pPr>
            <a:r>
              <a:rPr sz="2550"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550" b="1">
                <a:solidFill>
                  <a:srgbClr val="7030A0"/>
                </a:solidFill>
                <a:latin typeface="Times New Roman"/>
                <a:ea typeface="Times New Roman"/>
                <a:cs typeface="Times New Roman"/>
              </a:defRPr>
            </a:pPr>
            <a:r>
              <a:rPr sz="2550" b="1" i="0" u="none" cap="none">
                <a:solidFill>
                  <a:srgbClr val="7030A0"/>
                </a:solidFill>
                <a:latin typeface="Times New Roman"/>
                <a:ea typeface="Times New Roman"/>
                <a:cs typeface="Times New Roman"/>
              </a:rPr>
              <a:t>Battery Monitoring and Priority Load Control</a:t>
            </a:r>
            <a:endParaRPr sz="3200" b="1" i="0" u="none">
              <a:solidFill>
                <a:srgbClr val="7030A0"/>
              </a:solidFill>
              <a:latin typeface="Times New Roman"/>
              <a:ea typeface="Times New Roman"/>
              <a:cs typeface="Times New Roman"/>
            </a:endParaRPr>
          </a:p>
        </p:txBody>
      </p:sp>
      <p:sp>
        <p:nvSpPr>
          <p:cNvPr id="66" name="Details to confirm">
            <a:extLst xmlns:a="http://schemas.openxmlformats.org/drawingml/2006/main">
              <a:ext uri="{FF2B5EF4-FFF2-40B4-BE49-F238E27FC236}">
                <a16:creationId xmlns:a16="http://schemas.microsoft.com/office/drawing/2014/main" id="{88AB6EB0-624B-44FC-B1F2-96031CA9D31F}"/>
              </a:ext>
            </a:extLst>
          </p:cNvPr>
          <p:cNvSpPr>
            <a:spLocks xmlns:a="http://schemas.openxmlformats.org/drawingml/2006/main" noGrp="1"/>
          </p:cNvSpPr>
          <p:nvPr/>
        </p:nvSpPr>
        <p:spPr>
          <a:xfrm xmlns:a="http://schemas.openxmlformats.org/drawingml/2006/main">
            <a:off x="523875" y="6296025"/>
            <a:ext cx="781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666666"/>
                </a:solidFill>
                <a:latin typeface="Times New Roman"/>
                <a:ea typeface="Times New Roman"/>
                <a:cs typeface="Times New Roman"/>
              </a:defRPr>
            </a:pPr>
            <a:r>
              <a:rPr sz="1350" b="0">
                <a:solidFill>
                  <a:srgbClr val="666666"/>
                </a:solidFill>
                <a:latin typeface="Times New Roman"/>
                <a:ea typeface="Times New Roman"/>
                <a:cs typeface="Times New Roman"/>
              </a:rPr>
              <a:t>* Temporary roll numbers.  † Guide name to confirm.</a:t>
            </a:r>
          </a:p>
        </p:txBody>
      </p:sp>
      <p:sp>
        <p:nvSpPr>
          <p:cNvPr id="67" name="Student names">
            <a:extLst xmlns:a="http://schemas.openxmlformats.org/drawingml/2006/main">
              <a:ext uri="{FF2B5EF4-FFF2-40B4-BE49-F238E27FC236}">
                <a16:creationId xmlns:a16="http://schemas.microsoft.com/office/drawing/2014/main" id="{0D65D63F-7073-435B-98A7-B026F9BB0C25}"/>
              </a:ext>
            </a:extLst>
          </p:cNvPr>
          <p:cNvSpPr>
            <a:spLocks xmlns:a="http://schemas.openxmlformats.org/drawingml/2006/main" noGrp="1"/>
          </p:cNvSpPr>
          <p:nvPr/>
        </p:nvSpPr>
        <p:spPr>
          <a:xfrm xmlns:a="http://schemas.openxmlformats.org/drawingml/2006/main">
            <a:off x="419100" y="4467225"/>
            <a:ext cx="26193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Students</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Dhanesh Chaudhari</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Yash Ahire</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Mrudula Pagar</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Ujjwal Kshirsagar</a:t>
            </a:r>
          </a:p>
        </p:txBody>
      </p:sp>
      <p:sp>
        <p:nvSpPr>
          <p:cNvPr id="68" name="Roll numbers">
            <a:extLst xmlns:a="http://schemas.openxmlformats.org/drawingml/2006/main">
              <a:ext uri="{FF2B5EF4-FFF2-40B4-BE49-F238E27FC236}">
                <a16:creationId xmlns:a16="http://schemas.microsoft.com/office/drawing/2014/main" id="{1748C0A1-BD5D-4B39-A9DB-7008F7395F22}"/>
              </a:ext>
            </a:extLst>
          </p:cNvPr>
          <p:cNvSpPr>
            <a:spLocks xmlns:a="http://schemas.openxmlformats.org/drawingml/2006/main" noGrp="1"/>
          </p:cNvSpPr>
          <p:nvPr/>
        </p:nvSpPr>
        <p:spPr>
          <a:xfrm xmlns:a="http://schemas.openxmlformats.org/drawingml/2006/main">
            <a:off x="3152775" y="4467225"/>
            <a:ext cx="14763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Roll No.</a:t>
            </a:r>
          </a:p>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4114</a:t>
            </a:r>
          </a:p>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4101</a:t>
            </a:r>
          </a:p>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4114*</a:t>
            </a:r>
          </a:p>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4101*</a:t>
            </a:r>
          </a:p>
        </p:txBody>
      </p:sp>
    </p:spTree>
    <p:extLst>
      <p:ext uri="{BB962C8B-B14F-4D97-AF65-F5344CB8AC3E}">
        <p14:creationId xmlns:p14="http://schemas.microsoft.com/office/powerpoint/2010/main" val="2071930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4D7B9247-A0D8-4D85-97BD-D0E52ED645F2}"/>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838D54C5-3635-4BED-ABE1-83DFCEACC26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Introduction">
            <a:extLst xmlns:a="http://schemas.openxmlformats.org/drawingml/2006/main">
              <a:ext uri="{FF2B5EF4-FFF2-40B4-BE49-F238E27FC236}">
                <a16:creationId xmlns:a16="http://schemas.microsoft.com/office/drawing/2014/main" id="{828230BA-2B92-4026-AE16-F67F15D29078}"/>
              </a:ext>
            </a:extLst>
          </p:cNvPr>
          <p:cNvSpPr>
            <a:spLocks xmlns:a="http://schemas.openxmlformats.org/drawingml/2006/main" noGrp="1"/>
          </p:cNvSpPr>
          <p:nvPr/>
        </p:nvSpPr>
        <p:spPr>
          <a:xfrm xmlns:a="http://schemas.openxmlformats.org/drawingml/2006/main">
            <a:off x="933450" y="1371600"/>
            <a:ext cx="7381875" cy="369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 battery powers a 5 V lamp and an optional fan through a converter.</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Keeping both loads on can shorten the service available to the lamp.</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WattSense estimates remaining charge and sheds the fan when backup becomes limited.</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 purchased BMS protects the cells. Our board measures current and controls load priority.</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Intended use: a small DC backup demonstrator for lighting and ventilation.</a:t>
            </a:r>
          </a:p>
        </p:txBody>
      </p:sp>
      <p:sp>
        <p:nvSpPr>
          <p:cNvPr id="73" name="Present scope">
            <a:extLst xmlns:a="http://schemas.openxmlformats.org/drawingml/2006/main">
              <a:ext uri="{FF2B5EF4-FFF2-40B4-BE49-F238E27FC236}">
                <a16:creationId xmlns:a16="http://schemas.microsoft.com/office/drawing/2014/main" id="{2C63117C-A333-43DE-9BD7-F22D906E0D85}"/>
              </a:ext>
            </a:extLst>
          </p:cNvPr>
          <p:cNvSpPr>
            <a:spLocks xmlns:a="http://schemas.openxmlformats.org/drawingml/2006/main" noGrp="1"/>
          </p:cNvSpPr>
          <p:nvPr/>
        </p:nvSpPr>
        <p:spPr>
          <a:xfrm xmlns:a="http://schemas.openxmlformats.org/drawingml/2006/main">
            <a:off x="962025" y="5429250"/>
            <a:ext cx="742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Review 3 status: software, PCB design and simulation evidence.</a:t>
            </a:r>
          </a:p>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Hardware measurements and solar tests remain pending.</a:t>
            </a:r>
          </a:p>
        </p:txBody>
      </p:sp>
    </p:spTree>
    <p:extLst>
      <p:ext uri="{BB962C8B-B14F-4D97-AF65-F5344CB8AC3E}">
        <p14:creationId xmlns:p14="http://schemas.microsoft.com/office/powerpoint/2010/main" val="165312525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812900E0-26EE-4927-BE28-1C2D05C09B7D}"/>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FB81A8E6-E91F-4797-A8D6-5CF25B87799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Marahatta et al.</a:t>
                      </a:r>
                    </a:p>
                    <a:p>
                      <a:pPr algn="l"/>
                      <a:r>
                        <a:rPr sz="1425" b="0">
                          <a:solidFill>
                            <a:srgbClr val="000000"/>
                          </a:solidFill>
                          <a:latin typeface="Times New Roman"/>
                          <a:ea typeface="Times New Roman"/>
                          <a:cs typeface="Times New Roman"/>
                        </a:rPr>
                        <a:t>2021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Limited rural energy supply</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Priority switching + SCADA</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Laboratory solar-battery microgrid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Maintains essential-load service</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Three-level solar system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Rajbhandari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solar energy availability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Stochastic generation/load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3</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Bai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 imbalance and load priorities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Rule control + MILP shedding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day-long model</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Balances power across operating modes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Converter efficiency omitted</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4</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Lv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imbalance and bus fluctuations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Adaptive droop + SOC modes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with two stores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Balances SOC and bus power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450 V simulated microgrid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5</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Guo &amp; Kors</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Renewable energy teaching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Sensors, Raspberry Pi, SCADA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Outdoor rig + student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Demonstrates integrated teaching platform</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load-runtime comparison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53033558-EC91-46CA-9A34-8DA8F9E3AFA5}"/>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DC microgrid and load-management studies</a:t>
            </a:r>
          </a:p>
        </p:txBody>
      </p:sp>
    </p:spTree>
    <p:extLst>
      <p:ext uri="{BB962C8B-B14F-4D97-AF65-F5344CB8AC3E}">
        <p14:creationId xmlns:p14="http://schemas.microsoft.com/office/powerpoint/2010/main" val="145295217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F85AD0A-F0BE-4DB1-B371-B32F93E150F7}"/>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843C7246-CE84-437B-BCFF-9DFC0A5AD78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Yusubov &amp; Bekirova</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Basantes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Hierarchical control + predictive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Sepehrzad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Converter fluctuations and power sharing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Distributed MDMPC</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Simulation, HIL and experiment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converter fluctuations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Complex converter control</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Khawaja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PV / battery / diesel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Economic sizing + Q-learning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MATLAB with Amman profiles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Lowers cost and diesel use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Training and profile data required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Singh &amp; Maulik</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Correlated load and supply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Probabilistic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Ten-bus DC network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expected cost and losses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Grid-connected study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8EDDB2AF-1212-4D44-9789-26F91977AB6E}"/>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DC microgrid and load-management studies</a:t>
            </a:r>
          </a:p>
        </p:txBody>
      </p:sp>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B789E8C3-E6CA-40CC-A9CE-913649F1B929}"/>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779A1FF0-A2CF-49D3-B50E-140CDD211AEC}"/>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Movassagh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Accumulated SOC error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Four error sources quantified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Zhang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Characterize our actual pack first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Gismero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Separated RLS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Rzepka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ECM + hysteresis + EKF tuning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265F39D5-0D7F-4343-BE1A-B1B197F8DA96}"/>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Battery estimation and measurement studies</a:t>
            </a:r>
          </a:p>
        </p:txBody>
      </p:sp>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38EE56F6-2450-48A5-BB7D-9BA4B13ECFB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AF718E23-5F36-46C4-AEA9-B23330F90C55}"/>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Zine et al.</a:t>
                      </a:r>
                      <a:endParaRPr sz="1400">
                        <a:latin typeface="Cambria"/>
                        <a:ea typeface="Cambria"/>
                        <a:cs typeface="Cambria"/>
                      </a:endParaRPr>
                    </a:p>
                    <a:p>
                      <a:pPr algn="l"/>
                      <a:r>
                        <a:rPr sz="1425" b="0">
                          <a:solidFill>
                            <a:srgbClr val="000000"/>
                          </a:solidFill>
                          <a:latin typeface="Times New Roman"/>
                          <a:ea typeface="Times New Roman"/>
                          <a:cs typeface="Times New Roman"/>
                        </a:rPr>
                        <a:t>2022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Bench SOC workflow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Fahmy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under changing battery conditions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Wang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Voltage plateau and temperature variation</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chamber / load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Temperature-aware estimate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pack-specific data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Turkmanović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Bampi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Different test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25B47A2E-C08C-452A-B8BB-C49B62F6A289}"/>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Battery estimation and measurement studies</a:t>
            </a:r>
          </a:p>
        </p:txBody>
      </p:sp>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52DB317B-51BF-4C8A-9158-9F2923642994}"/>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8C45C083-1600-43D6-9E06-A517FB2FB99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Research Gap and Project Focus</a:t>
            </a:r>
            <a:endParaRPr/>
          </a:p>
        </p:txBody>
      </p:sp>
      <p:sp>
        <p:nvSpPr>
          <p:cNvPr id="81" name="Research gap">
            <a:extLst xmlns:a="http://schemas.openxmlformats.org/drawingml/2006/main">
              <a:ext uri="{FF2B5EF4-FFF2-40B4-BE49-F238E27FC236}">
                <a16:creationId xmlns:a16="http://schemas.microsoft.com/office/drawing/2014/main" id="{5E161C85-B3A6-4B04-B2B9-40C19BB31602}"/>
              </a:ext>
            </a:extLst>
          </p:cNvPr>
          <p:cNvSpPr>
            <a:spLocks xmlns:a="http://schemas.openxmlformats.org/drawingml/2006/main" noGrp="1"/>
          </p:cNvSpPr>
          <p:nvPr/>
        </p:nvSpPr>
        <p:spPr>
          <a:xfrm xmlns:a="http://schemas.openxmlformats.org/drawingml/2006/main">
            <a:off x="790575" y="1304925"/>
            <a:ext cx="7629525" cy="407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Published priority control and SOC methods already exist.</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Many studies target larger microgrids or need battery characterisation and training data.</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Our project needs a small, inspectable implementation with a clear load-service tradeoff.</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Voltage drop, fan startup and sensor errors can limit an otherwise valid control rule.</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We combine a local controller, a routed interface PCB and reproducible tests, then validate them on hardware.</a:t>
            </a:r>
          </a:p>
        </p:txBody>
      </p:sp>
      <p:sp>
        <p:nvSpPr>
          <p:cNvPr id="82" name="Evidence scope">
            <a:extLst xmlns:a="http://schemas.openxmlformats.org/drawingml/2006/main">
              <a:ext uri="{FF2B5EF4-FFF2-40B4-BE49-F238E27FC236}">
                <a16:creationId xmlns:a16="http://schemas.microsoft.com/office/drawing/2014/main" id="{2D61F3FF-C90F-43AC-893A-925CEC1BC6CC}"/>
              </a:ext>
            </a:extLst>
          </p:cNvPr>
          <p:cNvSpPr>
            <a:spLocks xmlns:a="http://schemas.openxmlformats.org/drawingml/2006/main" noGrp="1"/>
          </p:cNvSpPr>
          <p:nvPr/>
        </p:nvSpPr>
        <p:spPr>
          <a:xfrm xmlns:a="http://schemas.openxmlformats.org/drawingml/2006/main">
            <a:off x="457200" y="5905500"/>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Contribution: implementation and evaluation of one optional-load policy.</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42F0D631-8BD5-4D40-AE4B-8E9B80AD748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78B9CB0C-A018-4458-8624-F2AABB3D1E2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6F356D2F-E4A0-41A6-8FED-1FA9673DAC31}"/>
              </a:ext>
            </a:extLst>
          </p:cNvPr>
          <p:cNvSpPr>
            <a:spLocks xmlns:a="http://schemas.openxmlformats.org/drawingml/2006/main" noGrp="1"/>
          </p:cNvSpPr>
          <p:nvPr/>
        </p:nvSpPr>
        <p:spPr>
          <a:xfrm xmlns:a="http://schemas.openxmlformats.org/drawingml/2006/main">
            <a:off x="1371600" y="2819400"/>
            <a:ext cx="6429375" cy="54292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2" name="Rectangle 1">
            <a:extLst xmlns:a="http://schemas.openxmlformats.org/drawingml/2006/main">
              <a:ext uri="{FF2B5EF4-FFF2-40B4-BE49-F238E27FC236}">
                <a16:creationId xmlns:a16="http://schemas.microsoft.com/office/drawing/2014/main" id="{E45C50B7-EFF1-4976-9373-612C1C2A6AD5}"/>
              </a:ext>
            </a:extLst>
          </p:cNvPr>
          <p:cNvSpPr>
            <a:spLocks xmlns:a="http://schemas.openxmlformats.org/drawingml/2006/main" noGrp="1"/>
          </p:cNvSpPr>
          <p:nvPr/>
        </p:nvSpPr>
        <p:spPr>
          <a:xfrm xmlns:a="http://schemas.openxmlformats.org/drawingml/2006/main">
            <a:off x="866775" y="1066800"/>
            <a:ext cx="7486650" cy="1485900"/>
          </a:xfrm>
          <a:prstGeom xmlns:a="http://schemas.openxmlformats.org/drawingml/2006/main" prst="rect">
            <a:avLst/>
          </a:prstGeom>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Design and evaluate a low-cost battery monitor that preserves essential lamp service by disconnecting an optional fan when the estimated backup becomes limited.</a:t>
            </a:r>
          </a:p>
        </p:txBody>
      </p:sp>
      <p:sp>
        <p:nvSpPr>
          <p:cNvPr id="81" name="Objectives">
            <a:extLst xmlns:a="http://schemas.openxmlformats.org/drawingml/2006/main">
              <a:ext uri="{FF2B5EF4-FFF2-40B4-BE49-F238E27FC236}">
                <a16:creationId xmlns:a16="http://schemas.microsoft.com/office/drawing/2014/main" id="{D76C234D-47B8-49CB-B305-CFD81D896A54}"/>
              </a:ext>
            </a:extLst>
          </p:cNvPr>
          <p:cNvSpPr>
            <a:spLocks xmlns:a="http://schemas.openxmlformats.org/drawingml/2006/main" noGrp="1"/>
          </p:cNvSpPr>
          <p:nvPr/>
        </p:nvSpPr>
        <p:spPr>
          <a:xfrm xmlns:a="http://schemas.openxmlformats.org/drawingml/2006/main">
            <a:off x="942975" y="3590925"/>
            <a:ext cx="7477125"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Measure signed battery current, load power and surface temperature.</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Estimate charge and remaining runtime from a valid reference.</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Implement fan shedding, explicit restore and fault handling.</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Compare lamp and fan service, then calibrate and test the assembled system.</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5A6CB358-E0B1-4D27-9460-B37439A2713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977AA294-4B7B-452A-8105-A62613AA7A5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Methodology and System Architecture</a:t>
            </a:r>
            <a:endParaRPr sz="1050"/>
          </a:p>
        </p:txBody>
      </p:sp>
      <p:sp>
        <p:nvSpPr>
          <p:cNvPr id="89" name="Protected pack&#10;Purchased BMS">
            <a:extLst xmlns:a="http://schemas.openxmlformats.org/drawingml/2006/main">
              <a:ext uri="{FF2B5EF4-FFF2-40B4-BE49-F238E27FC236}">
                <a16:creationId xmlns:a16="http://schemas.microsoft.com/office/drawing/2014/main" id="{D2803154-C5E5-4C25-A509-3092A005836F}"/>
              </a:ext>
            </a:extLst>
          </p:cNvPr>
          <p:cNvSpPr>
            <a:spLocks xmlns:a="http://schemas.openxmlformats.org/drawingml/2006/main" noGrp="1"/>
          </p:cNvSpPr>
          <p:nvPr/>
        </p:nvSpPr>
        <p:spPr>
          <a:xfrm xmlns:a="http://schemas.openxmlformats.org/drawingml/2006/main">
            <a:off x="371475" y="1438275"/>
            <a:ext cx="1647825" cy="7715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Protected pack</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Purchased BMS</a:t>
            </a:r>
          </a:p>
        </p:txBody>
      </p:sp>
      <p:sp>
        <p:nvSpPr>
          <p:cNvPr id="90" name="Interface PCB&#10;Current sensors">
            <a:extLst xmlns:a="http://schemas.openxmlformats.org/drawingml/2006/main">
              <a:ext uri="{FF2B5EF4-FFF2-40B4-BE49-F238E27FC236}">
                <a16:creationId xmlns:a16="http://schemas.microsoft.com/office/drawing/2014/main" id="{722B4DA0-2DDA-46B2-8177-F8BDD99600AA}"/>
              </a:ext>
            </a:extLst>
          </p:cNvPr>
          <p:cNvSpPr>
            <a:spLocks xmlns:a="http://schemas.openxmlformats.org/drawingml/2006/main" noGrp="1"/>
          </p:cNvSpPr>
          <p:nvPr/>
        </p:nvSpPr>
        <p:spPr>
          <a:xfrm xmlns:a="http://schemas.openxmlformats.org/drawingml/2006/main">
            <a:off x="2447925" y="1438275"/>
            <a:ext cx="1724025" cy="7715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Interface PCB</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Current sensors</a:t>
            </a:r>
          </a:p>
        </p:txBody>
      </p:sp>
      <p:sp>
        <p:nvSpPr>
          <p:cNvPr id="91" name="External buck&#10;5 V output">
            <a:extLst xmlns:a="http://schemas.openxmlformats.org/drawingml/2006/main">
              <a:ext uri="{FF2B5EF4-FFF2-40B4-BE49-F238E27FC236}">
                <a16:creationId xmlns:a16="http://schemas.microsoft.com/office/drawing/2014/main" id="{A43F30B1-1213-4886-9685-0FD5FFE6AFC8}"/>
              </a:ext>
            </a:extLst>
          </p:cNvPr>
          <p:cNvSpPr>
            <a:spLocks xmlns:a="http://schemas.openxmlformats.org/drawingml/2006/main" noGrp="1"/>
          </p:cNvSpPr>
          <p:nvPr/>
        </p:nvSpPr>
        <p:spPr>
          <a:xfrm xmlns:a="http://schemas.openxmlformats.org/drawingml/2006/main">
            <a:off x="4591050" y="1438275"/>
            <a:ext cx="1609725" cy="7715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External buck</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5 V output</a:t>
            </a:r>
          </a:p>
        </p:txBody>
      </p:sp>
      <p:sp>
        <p:nvSpPr>
          <p:cNvPr id="92" name="Essential lamp&#10;Unswitched">
            <a:extLst xmlns:a="http://schemas.openxmlformats.org/drawingml/2006/main">
              <a:ext uri="{FF2B5EF4-FFF2-40B4-BE49-F238E27FC236}">
                <a16:creationId xmlns:a16="http://schemas.microsoft.com/office/drawing/2014/main" id="{CD640632-E360-4716-B1FA-069E0CBD1037}"/>
              </a:ext>
            </a:extLst>
          </p:cNvPr>
          <p:cNvSpPr>
            <a:spLocks xmlns:a="http://schemas.openxmlformats.org/drawingml/2006/main" noGrp="1"/>
          </p:cNvSpPr>
          <p:nvPr/>
        </p:nvSpPr>
        <p:spPr>
          <a:xfrm xmlns:a="http://schemas.openxmlformats.org/drawingml/2006/main">
            <a:off x="4572000" y="2619375"/>
            <a:ext cx="1657350" cy="79057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Essential lamp</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Unswitched</a:t>
            </a:r>
          </a:p>
        </p:txBody>
      </p:sp>
      <p:sp>
        <p:nvSpPr>
          <p:cNvPr id="93" name="Optional fan&#10;Q1 return switch">
            <a:extLst xmlns:a="http://schemas.openxmlformats.org/drawingml/2006/main">
              <a:ext uri="{FF2B5EF4-FFF2-40B4-BE49-F238E27FC236}">
                <a16:creationId xmlns:a16="http://schemas.microsoft.com/office/drawing/2014/main" id="{1F9A5A9C-3E15-43D2-AEDB-BCB6F697CC9F}"/>
              </a:ext>
            </a:extLst>
          </p:cNvPr>
          <p:cNvSpPr>
            <a:spLocks xmlns:a="http://schemas.openxmlformats.org/drawingml/2006/main" noGrp="1"/>
          </p:cNvSpPr>
          <p:nvPr/>
        </p:nvSpPr>
        <p:spPr>
          <a:xfrm xmlns:a="http://schemas.openxmlformats.org/drawingml/2006/main">
            <a:off x="4562475" y="3933825"/>
            <a:ext cx="1676400" cy="800100"/>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Optional fan</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Q1 return switch</a:t>
            </a:r>
          </a:p>
        </p:txBody>
      </p:sp>
      <p:sp>
        <p:nvSpPr>
          <p:cNvPr id="94" name="ESP32&#10;SOC and control">
            <a:extLst xmlns:a="http://schemas.openxmlformats.org/drawingml/2006/main">
              <a:ext uri="{FF2B5EF4-FFF2-40B4-BE49-F238E27FC236}">
                <a16:creationId xmlns:a16="http://schemas.microsoft.com/office/drawing/2014/main" id="{5D205F34-F92B-490F-B249-CCA20C896DDE}"/>
              </a:ext>
            </a:extLst>
          </p:cNvPr>
          <p:cNvSpPr>
            <a:spLocks xmlns:a="http://schemas.openxmlformats.org/drawingml/2006/main" noGrp="1"/>
          </p:cNvSpPr>
          <p:nvPr/>
        </p:nvSpPr>
        <p:spPr>
          <a:xfrm xmlns:a="http://schemas.openxmlformats.org/drawingml/2006/main">
            <a:off x="2438400" y="3467100"/>
            <a:ext cx="1733550" cy="914400"/>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ESP32</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SOC and control</a:t>
            </a:r>
          </a:p>
        </p:txBody>
      </p:sp>
      <p:sp>
        <p:nvSpPr>
          <p:cNvPr id="95" name="Local dashboard&#10;USB and CSV">
            <a:extLst xmlns:a="http://schemas.openxmlformats.org/drawingml/2006/main">
              <a:ext uri="{FF2B5EF4-FFF2-40B4-BE49-F238E27FC236}">
                <a16:creationId xmlns:a16="http://schemas.microsoft.com/office/drawing/2014/main" id="{ABECE90A-9992-462A-A931-7EBBCA2F100F}"/>
              </a:ext>
            </a:extLst>
          </p:cNvPr>
          <p:cNvSpPr>
            <a:spLocks xmlns:a="http://schemas.openxmlformats.org/drawingml/2006/main" noGrp="1"/>
          </p:cNvSpPr>
          <p:nvPr/>
        </p:nvSpPr>
        <p:spPr>
          <a:xfrm xmlns:a="http://schemas.openxmlformats.org/drawingml/2006/main">
            <a:off x="361950" y="3505200"/>
            <a:ext cx="1676400" cy="857250"/>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Local dashboard</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USB and CSV</a:t>
            </a:r>
          </a:p>
        </p:txBody>
      </p:sp>
      <p:cxnSp>
        <p:nvCxnSpPr>
          <p:cNvPr id="119" name=""/>
          <p:cNvCxnSpPr>
            <a:stCxn xmlns:a="http://schemas.openxmlformats.org/drawingml/2006/main" id="89" idx="3"/>
            <a:endCxn xmlns:a="http://schemas.openxmlformats.org/drawingml/2006/main" id="90" idx="1"/>
          </p:cNvCxnSpPr>
          <p:nvPr/>
        </p:nvCxnSpPr>
        <p:spPr>
          <a:xfrm xmlns:a="http://schemas.openxmlformats.org/drawingml/2006/main">
            <a:off x="2019300" y="1824038"/>
            <a:ext cx="42862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20" name=""/>
          <p:cNvCxnSpPr>
            <a:stCxn xmlns:a="http://schemas.openxmlformats.org/drawingml/2006/main" id="90" idx="3"/>
            <a:endCxn xmlns:a="http://schemas.openxmlformats.org/drawingml/2006/main" id="91" idx="1"/>
          </p:cNvCxnSpPr>
          <p:nvPr/>
        </p:nvCxnSpPr>
        <p:spPr>
          <a:xfrm xmlns:a="http://schemas.openxmlformats.org/drawingml/2006/main">
            <a:off x="4171950" y="1824038"/>
            <a:ext cx="419100"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21" name=""/>
          <p:cNvCxnSpPr>
            <a:stCxn xmlns:a="http://schemas.openxmlformats.org/drawingml/2006/main" id="91" idx="2"/>
            <a:endCxn xmlns:a="http://schemas.openxmlformats.org/drawingml/2006/main" id="92" idx="0"/>
          </p:cNvCxnSpPr>
          <p:nvPr/>
        </p:nvCxnSpPr>
        <p:spPr>
          <a:xfrm xmlns:a="http://schemas.openxmlformats.org/drawingml/2006/main">
            <a:off x="5395913" y="2209800"/>
            <a:ext cx="4763" cy="409575"/>
          </a:xfrm>
          <a:prstGeom xmlns:a="http://schemas.openxmlformats.org/drawingml/2006/main" prst="bentConnector4">
            <a:avLst>
              <a:gd name="adj1" fmla="val 0"/>
              <a:gd name="adj2" fmla="val 50000"/>
            </a:avLst>
          </a:prstGeom>
          <a:ln xmlns:a="http://schemas.openxmlformats.org/drawingml/2006/main" w="19050">
            <a:solidFill>
              <a:srgbClr val="333333"/>
            </a:solidFill>
            <a:prstDash val="solid"/>
            <a:tailEnd type="triangle" w="med" len="med"/>
          </a:ln>
        </p:spPr>
      </p:cxnSp>
      <p:sp>
        <p:nvSpPr>
          <p:cNvPr id="99" name="5 V power branch">
            <a:extLst xmlns:a="http://schemas.openxmlformats.org/drawingml/2006/main">
              <a:ext uri="{FF2B5EF4-FFF2-40B4-BE49-F238E27FC236}">
                <a16:creationId xmlns:a16="http://schemas.microsoft.com/office/drawing/2014/main" id="{A904F628-3788-48A4-A035-0DAD519C61E7}"/>
              </a:ext>
            </a:extLst>
          </p:cNvPr>
          <p:cNvSpPr>
            <a:spLocks xmlns:a="http://schemas.openxmlformats.org/drawingml/2006/main" noGrp="1"/>
          </p:cNvSpPr>
          <p:nvPr/>
        </p:nvSpPr>
        <p:spPr>
          <a:xfrm xmlns:a="http://schemas.openxmlformats.org/drawingml/2006/main">
            <a:off x="6419850" y="1809750"/>
            <a:ext cx="19050" cy="19050"/>
          </a:xfrm>
          <a:prstGeom xmlns:a="http://schemas.openxmlformats.org/drawingml/2006/main" prst="ellipse">
            <a:avLst/>
          </a:prstGeom>
          <a:solidFill xmlns:a="http://schemas.openxmlformats.org/drawingml/2006/main">
            <a:srgbClr val="333333"/>
          </a:solidFill>
          <a:ln xmlns:a="http://schemas.openxmlformats.org/drawingml/2006/main" w="0">
            <a:noFill/>
          </a:ln>
        </p:spPr>
      </p:sp>
      <p:cxnSp>
        <p:nvCxnSpPr>
          <p:cNvPr id="123" name=""/>
          <p:cNvCxnSpPr>
            <a:stCxn xmlns:a="http://schemas.openxmlformats.org/drawingml/2006/main" id="91" idx="3"/>
            <a:endCxn xmlns:a="http://schemas.openxmlformats.org/drawingml/2006/main" id="99" idx="2"/>
          </p:cNvCxnSpPr>
          <p:nvPr/>
        </p:nvCxnSpPr>
        <p:spPr>
          <a:xfrm xmlns:a="http://schemas.openxmlformats.org/drawingml/2006/main" flipV="1">
            <a:off x="6200775" y="1819275"/>
            <a:ext cx="219075" cy="4763"/>
          </a:xfrm>
          <a:prstGeom xmlns:a="http://schemas.openxmlformats.org/drawingml/2006/main" prst="straightConnector1">
            <a:avLst/>
          </a:prstGeom>
          <a:ln xmlns:a="http://schemas.openxmlformats.org/drawingml/2006/main" w="19050">
            <a:solidFill>
              <a:srgbClr val="333333"/>
            </a:solidFill>
          </a:ln>
        </p:spPr>
      </p:cxnSp>
      <p:cxnSp>
        <p:nvCxnSpPr>
          <p:cNvPr id="124" name=""/>
          <p:cNvCxnSpPr>
            <a:stCxn xmlns:a="http://schemas.openxmlformats.org/drawingml/2006/main" id="99" idx="4"/>
            <a:endCxn xmlns:a="http://schemas.openxmlformats.org/drawingml/2006/main" id="93" idx="3"/>
          </p:cNvCxnSpPr>
          <p:nvPr/>
        </p:nvCxnSpPr>
        <p:spPr>
          <a:xfrm xmlns:a="http://schemas.openxmlformats.org/drawingml/2006/main" flipH="1">
            <a:off x="6238875" y="1828800"/>
            <a:ext cx="190500" cy="2505075"/>
          </a:xfrm>
          <a:prstGeom xmlns:a="http://schemas.openxmlformats.org/drawingml/2006/main" prst="bentConnector3">
            <a:avLst>
              <a:gd name="adj1" fmla="val 0"/>
            </a:avLst>
          </a:prstGeom>
          <a:ln xmlns:a="http://schemas.openxmlformats.org/drawingml/2006/main" w="19050">
            <a:solidFill>
              <a:srgbClr val="333333"/>
            </a:solidFill>
            <a:prstDash val="solid"/>
            <a:tailEnd type="triangle" w="med" len="med"/>
          </a:ln>
        </p:spPr>
      </p:cxnSp>
      <p:cxnSp>
        <p:nvCxnSpPr>
          <p:cNvPr id="125" name=""/>
          <p:cNvCxnSpPr>
            <a:stCxn xmlns:a="http://schemas.openxmlformats.org/drawingml/2006/main" id="90" idx="2"/>
            <a:endCxn xmlns:a="http://schemas.openxmlformats.org/drawingml/2006/main" id="94" idx="0"/>
          </p:cNvCxnSpPr>
          <p:nvPr/>
        </p:nvCxnSpPr>
        <p:spPr>
          <a:xfrm xmlns:a="http://schemas.openxmlformats.org/drawingml/2006/main" flipH="1">
            <a:off x="3305175" y="2209800"/>
            <a:ext cx="4763" cy="1257300"/>
          </a:xfrm>
          <a:prstGeom xmlns:a="http://schemas.openxmlformats.org/drawingml/2006/main" prst="bentConnector4">
            <a:avLst>
              <a:gd name="adj1" fmla="val 0"/>
              <a:gd name="adj2" fmla="val 50000"/>
            </a:avLst>
          </a:prstGeom>
          <a:ln xmlns:a="http://schemas.openxmlformats.org/drawingml/2006/main" w="19050">
            <a:solidFill>
              <a:srgbClr val="23588C"/>
            </a:solidFill>
            <a:prstDash val="dash"/>
            <a:tailEnd type="triangle" w="med" len="med"/>
          </a:ln>
        </p:spPr>
      </p:cxnSp>
      <p:cxnSp>
        <p:nvCxnSpPr>
          <p:cNvPr id="126" name=""/>
          <p:cNvCxnSpPr>
            <a:stCxn xmlns:a="http://schemas.openxmlformats.org/drawingml/2006/main" id="94" idx="3"/>
            <a:endCxn xmlns:a="http://schemas.openxmlformats.org/drawingml/2006/main" id="93" idx="1"/>
          </p:cNvCxnSpPr>
          <p:nvPr/>
        </p:nvCxnSpPr>
        <p:spPr>
          <a:xfrm xmlns:a="http://schemas.openxmlformats.org/drawingml/2006/main">
            <a:off x="4171950" y="3924300"/>
            <a:ext cx="390525" cy="409575"/>
          </a:xfrm>
          <a:prstGeom xmlns:a="http://schemas.openxmlformats.org/drawingml/2006/main" prst="bentConnector3">
            <a:avLst>
              <a:gd name="adj1" fmla="val 50000"/>
            </a:avLst>
          </a:prstGeom>
          <a:ln xmlns:a="http://schemas.openxmlformats.org/drawingml/2006/main" w="19050">
            <a:solidFill>
              <a:srgbClr val="7030A0"/>
            </a:solidFill>
            <a:prstDash val="dash"/>
            <a:tailEnd type="triangle" w="med" len="med"/>
          </a:ln>
        </p:spPr>
      </p:cxnSp>
      <p:cxnSp>
        <p:nvCxnSpPr>
          <p:cNvPr id="127" name=""/>
          <p:cNvCxnSpPr>
            <a:stCxn xmlns:a="http://schemas.openxmlformats.org/drawingml/2006/main" id="94" idx="1"/>
            <a:endCxn xmlns:a="http://schemas.openxmlformats.org/drawingml/2006/main" id="95" idx="3"/>
          </p:cNvCxnSpPr>
          <p:nvPr/>
        </p:nvCxnSpPr>
        <p:spPr>
          <a:xfrm xmlns:a="http://schemas.openxmlformats.org/drawingml/2006/main" flipH="1">
            <a:off x="2038350" y="3924300"/>
            <a:ext cx="400050" cy="9525"/>
          </a:xfrm>
          <a:prstGeom xmlns:a="http://schemas.openxmlformats.org/drawingml/2006/main" prst="bentConnector3">
            <a:avLst>
              <a:gd name="adj1" fmla="val 50000"/>
            </a:avLst>
          </a:prstGeom>
          <a:ln xmlns:a="http://schemas.openxmlformats.org/drawingml/2006/main" w="19050">
            <a:solidFill>
              <a:srgbClr val="23588C"/>
            </a:solidFill>
            <a:prstDash val="dash"/>
            <a:tailEnd type="triangle" w="med" len="med"/>
          </a:ln>
        </p:spPr>
      </p:cxnSp>
      <p:sp>
        <p:nvSpPr>
          <p:cNvPr id="105" name="Temperature">
            <a:extLst xmlns:a="http://schemas.openxmlformats.org/drawingml/2006/main">
              <a:ext uri="{FF2B5EF4-FFF2-40B4-BE49-F238E27FC236}">
                <a16:creationId xmlns:a16="http://schemas.microsoft.com/office/drawing/2014/main" id="{9BB37498-A46F-46F9-8BAF-FDF043B817E3}"/>
              </a:ext>
            </a:extLst>
          </p:cNvPr>
          <p:cNvSpPr>
            <a:spLocks xmlns:a="http://schemas.openxmlformats.org/drawingml/2006/main" noGrp="1"/>
          </p:cNvSpPr>
          <p:nvPr/>
        </p:nvSpPr>
        <p:spPr>
          <a:xfrm xmlns:a="http://schemas.openxmlformats.org/drawingml/2006/main">
            <a:off x="2019300" y="4562475"/>
            <a:ext cx="2686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DS18B20 temperature input</a:t>
            </a:r>
          </a:p>
        </p:txBody>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2b81c9cc805d4451"/>
          <a:stretch xmlns:a="http://schemas.openxmlformats.org/drawingml/2006/main"/>
        </p:blipFill>
        <p:spPr>
          <a:xfrm xmlns:a="http://schemas.openxmlformats.org/drawingml/2006/main">
            <a:off x="6581775" y="1504207"/>
            <a:ext cx="2238375" cy="2154135"/>
          </a:xfrm>
          <a:prstGeom xmlns:a="http://schemas.openxmlformats.org/drawingml/2006/main" prst="rect">
            <a:avLst/>
          </a:prstGeom>
        </p:spPr>
      </p:pic>
      <p:sp>
        <p:nvSpPr>
          <p:cNvPr id="107" name="PCB facts">
            <a:extLst xmlns:a="http://schemas.openxmlformats.org/drawingml/2006/main">
              <a:ext uri="{FF2B5EF4-FFF2-40B4-BE49-F238E27FC236}">
                <a16:creationId xmlns:a16="http://schemas.microsoft.com/office/drawing/2014/main" id="{60EAE2EF-38A9-4312-820A-E7834A2885A2}"/>
              </a:ext>
            </a:extLst>
          </p:cNvPr>
          <p:cNvSpPr>
            <a:spLocks xmlns:a="http://schemas.openxmlformats.org/drawingml/2006/main" noGrp="1"/>
          </p:cNvSpPr>
          <p:nvPr/>
        </p:nvSpPr>
        <p:spPr>
          <a:xfrm xmlns:a="http://schemas.openxmlformats.org/drawingml/2006/main">
            <a:off x="6553200" y="3876675"/>
            <a:ext cx="2314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Rev B: four layers</a:t>
            </a:r>
          </a:p>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100 × 90 mm</a:t>
            </a:r>
          </a:p>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Not fabricated</a:t>
            </a:r>
          </a:p>
        </p:txBody>
      </p:sp>
      <p:sp>
        <p:nvSpPr>
          <p:cNvPr id="108" name="Control rule">
            <a:extLst xmlns:a="http://schemas.openxmlformats.org/drawingml/2006/main">
              <a:ext uri="{FF2B5EF4-FFF2-40B4-BE49-F238E27FC236}">
                <a16:creationId xmlns:a16="http://schemas.microsoft.com/office/drawing/2014/main" id="{CBB70B3A-5E5B-4AFD-BD65-CCF9CF13B8AA}"/>
              </a:ext>
            </a:extLst>
          </p:cNvPr>
          <p:cNvSpPr>
            <a:spLocks xmlns:a="http://schemas.openxmlformats.org/drawingml/2006/main" noGrp="1"/>
          </p:cNvSpPr>
          <p:nvPr/>
        </p:nvSpPr>
        <p:spPr>
          <a:xfrm xmlns:a="http://schemas.openxmlformats.org/drawingml/2006/main">
            <a:off x="438150" y="5029200"/>
            <a:ext cx="830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Integrate current to estimate SOC and usable runtime.</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Fan OFF after 3 s below 3 h.</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Restore: requested, prospective ≥3.25 h, operating limits valid.</a:t>
            </a:r>
          </a:p>
        </p:txBody>
      </p:sp>
      <p:sp>
        <p:nvSpPr>
          <p:cNvPr id="109" name="Evidence scope">
            <a:extLst xmlns:a="http://schemas.openxmlformats.org/drawingml/2006/main">
              <a:ext uri="{FF2B5EF4-FFF2-40B4-BE49-F238E27FC236}">
                <a16:creationId xmlns:a16="http://schemas.microsoft.com/office/drawing/2014/main" id="{F81E8D4B-F0C6-4911-A80C-ABD789F5A263}"/>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Hardware output is disabled until qualification. Solar is a later extension.</a:t>
            </a:r>
          </a:p>
        </p:txBody>
      </p:sp>
    </p:spTree>
    <p:extLst>
      <p:ext uri="{BB962C8B-B14F-4D97-AF65-F5344CB8AC3E}">
        <p14:creationId xmlns:p14="http://schemas.microsoft.com/office/powerpoint/2010/main" val="102527387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59353476-10AE-4B1B-BF50-0B6A85C57B63}"/>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C34DE036-AA92-4109-99F8-5C73BA6EF73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 Collection and Validation</a:t>
            </a:r>
            <a:endParaRPr sz="1050"/>
          </a:p>
        </p:txBody>
      </p:sp>
      <p:graphicFrame>
        <p:nvGraphicFramePr>
          <p:cNvPr id="95" name=""/>
          <p:cNvGraphicFramePr/>
          <p:nvPr/>
        </p:nvGraphicFramePr>
        <p:xfrm>
          <a:off xmlns:a="http://schemas.openxmlformats.org/drawingml/2006/main" x="457200" y="1257300"/>
          <a:ext xmlns:a="http://schemas.openxmlformats.org/drawingml/2006/main" cx="8229600" cy="3162300"/>
        </p:xfrm>
        <a:graphic xmlns:a="http://schemas.openxmlformats.org/drawingml/2006/main">
          <a:graphicData uri="http://schemas.openxmlformats.org/drawingml/2006/table">
            <a:tbl>
              <a:tblPr/>
              <a:tblGrid>
                <a:gridCol w="3962400"/>
                <a:gridCol w="4267200"/>
              </a:tblGrid>
              <a:tr h="632460">
                <a:tc>
                  <a:txBody>
                    <a:bodyPr>
                      <a:noAutofit/>
                    </a:bodyPr>
                    <a:lstStyle/>
                    <a:p>
                      <a:pPr algn="l"/>
                      <a:r>
                        <a:rPr sz="1800" b="1">
                          <a:solidFill>
                            <a:srgbClr val="000000"/>
                          </a:solidFill>
                          <a:latin typeface="Times New Roman"/>
                          <a:ea typeface="Times New Roman"/>
                          <a:cs typeface="Times New Roman"/>
                        </a:rPr>
                        <a:t>Available evidence</a:t>
                      </a:r>
                    </a:p>
                  </a:txBody>
                  <a:tcPr marL="85725" marR="85725" marT="57150" marB="57150" anchor="ctr">
                    <a:solidFill>
                      <a:srgbClr val="F2F2F2"/>
                    </a:solidFill>
                  </a:tcPr>
                </a:tc>
                <a:tc>
                  <a:txBody>
                    <a:bodyPr>
                      <a:noAutofit/>
                    </a:bodyPr>
                    <a:lstStyle/>
                    <a:p>
                      <a:pPr algn="l"/>
                      <a:r>
                        <a:rPr sz="1800" b="1">
                          <a:solidFill>
                            <a:srgbClr val="000000"/>
                          </a:solidFill>
                          <a:latin typeface="Times New Roman"/>
                          <a:ea typeface="Times New Roman"/>
                          <a:cs typeface="Times New Roman"/>
                        </a:rPr>
                        <a:t>Next physical measurement</a:t>
                      </a:r>
                    </a:p>
                  </a:txBody>
                  <a:tcPr marL="85725" marR="85725" marT="57150" marB="57150" anchor="ctr">
                    <a:solidFill>
                      <a:srgbClr val="F2F2F2"/>
                    </a:solidFill>
                  </a:tcPr>
                </a:tc>
              </a:tr>
              <a:tr h="632460">
                <a:tc>
                  <a:txBody>
                    <a:bodyPr>
                      <a:noAutofit/>
                    </a:bodyPr>
                    <a:lstStyle/>
                    <a:p>
                      <a:pPr algn="l"/>
                      <a:r>
                        <a:rPr sz="1800" b="0">
                          <a:solidFill>
                            <a:srgbClr val="000000"/>
                          </a:solidFill>
                          <a:latin typeface="Times New Roman"/>
                          <a:ea typeface="Times New Roman"/>
                          <a:cs typeface="Times New Roman"/>
                        </a:rPr>
                        <a:t>Synthetic battery and policy CSV traces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Independent meter and sensor log</a:t>
                      </a:r>
                    </a:p>
                  </a:txBody>
                  <a:tcPr marL="85725" marR="85725" marT="57150" marB="57150" anchor="ctr">
                    <a:solidFill>
                      <a:srgbClr val="FFFFFF"/>
                    </a:solidFill>
                  </a:tcPr>
                </a:tc>
              </a:tr>
              <a:tr h="632460">
                <a:tc>
                  <a:txBody>
                    <a:bodyPr>
                      <a:noAutofit/>
                    </a:bodyPr>
                    <a:lstStyle/>
                    <a:p>
                      <a:pPr algn="l"/>
                      <a:r>
                        <a:rPr sz="1800" b="0">
                          <a:solidFill>
                            <a:srgbClr val="000000"/>
                          </a:solidFill>
                          <a:latin typeface="Times New Roman"/>
                          <a:ea typeface="Times New Roman"/>
                          <a:cs typeface="Times New Roman"/>
                        </a:rPr>
                        <a:t>18 deterministic scenario pairs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Measured capacity and converter efficiency</a:t>
                      </a:r>
                    </a:p>
                  </a:txBody>
                  <a:tcPr marL="85725" marR="85725" marT="57150" marB="57150" anchor="ctr">
                    <a:solidFill>
                      <a:srgbClr val="FFFFFF"/>
                    </a:solidFill>
                  </a:tcPr>
                </a:tc>
              </a:tr>
              <a:tr h="632460">
                <a:tc>
                  <a:txBody>
                    <a:bodyPr>
                      <a:noAutofit/>
                    </a:bodyPr>
                    <a:lstStyle/>
                    <a:p>
                      <a:pPr algn="l"/>
                      <a:r>
                        <a:rPr sz="1800" b="0">
                          <a:solidFill>
                            <a:srgbClr val="000000"/>
                          </a:solidFill>
                          <a:latin typeface="Times New Roman"/>
                          <a:ea typeface="Times New Roman"/>
                          <a:cs typeface="Times New Roman"/>
                        </a:rPr>
                        <a:t>Six behavioral SPICE startup cases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5 V, fan and 3.3 V scope traces</a:t>
                      </a:r>
                    </a:p>
                  </a:txBody>
                  <a:tcPr marL="85725" marR="85725" marT="57150" marB="57150" anchor="ctr">
                    <a:solidFill>
                      <a:srgbClr val="FFFFFF"/>
                    </a:solidFill>
                  </a:tcPr>
                </a:tc>
              </a:tr>
              <a:tr h="632460">
                <a:tc>
                  <a:txBody>
                    <a:bodyPr>
                      <a:noAutofit/>
                    </a:bodyPr>
                    <a:lstStyle/>
                    <a:p>
                      <a:pPr algn="l"/>
                      <a:r>
                        <a:rPr sz="1800" b="0">
                          <a:solidFill>
                            <a:srgbClr val="000000"/>
                          </a:solidFill>
                          <a:latin typeface="Times New Roman"/>
                          <a:ea typeface="Times New Roman"/>
                          <a:cs typeface="Times New Roman"/>
                        </a:rPr>
                        <a:t>45 Python tests, 67 C++ assertions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Calibration and repeated runtime trials</a:t>
                      </a:r>
                    </a:p>
                  </a:txBody>
                  <a:tcPr marL="85725" marR="85725" marT="57150" marB="57150" anchor="ctr">
                    <a:solidFill>
                      <a:srgbClr val="FFFFFF"/>
                    </a:solidFill>
                  </a:tcPr>
                </a:tc>
              </a:tr>
            </a:tbl>
          </a:graphicData>
        </a:graphic>
      </p:graphicFrame>
      <p:sp>
        <p:nvSpPr>
          <p:cNvPr id="90" name="Software checks">
            <a:extLst xmlns:a="http://schemas.openxmlformats.org/drawingml/2006/main">
              <a:ext uri="{FF2B5EF4-FFF2-40B4-BE49-F238E27FC236}">
                <a16:creationId xmlns:a16="http://schemas.microsoft.com/office/drawing/2014/main" id="{48A42D51-80F4-4071-90EA-1E17BEF951F5}"/>
              </a:ext>
            </a:extLst>
          </p:cNvPr>
          <p:cNvSpPr>
            <a:spLocks xmlns:a="http://schemas.openxmlformats.org/drawingml/2006/main" noGrp="1"/>
          </p:cNvSpPr>
          <p:nvPr/>
        </p:nvSpPr>
        <p:spPr>
          <a:xfrm xmlns:a="http://schemas.openxmlformats.org/drawingml/2006/main">
            <a:off x="533400" y="46196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Both firmware builds pass. 12,000 host policy steps agree.</a:t>
            </a:r>
          </a:p>
        </p:txBody>
      </p:sp>
      <p:sp>
        <p:nvSpPr>
          <p:cNvPr id="91" name="Startup limitation">
            <a:extLst xmlns:a="http://schemas.openxmlformats.org/drawingml/2006/main">
              <a:ext uri="{FF2B5EF4-FFF2-40B4-BE49-F238E27FC236}">
                <a16:creationId xmlns:a16="http://schemas.microsoft.com/office/drawing/2014/main" id="{F04514DA-CEDA-4060-B906-96855AED3F26}"/>
              </a:ext>
            </a:extLst>
          </p:cNvPr>
          <p:cNvSpPr>
            <a:spLocks xmlns:a="http://schemas.openxmlformats.org/drawingml/2006/main" noGrp="1"/>
          </p:cNvSpPr>
          <p:nvPr/>
        </p:nvSpPr>
        <p:spPr>
          <a:xfrm xmlns:a="http://schemas.openxmlformats.org/drawingml/2006/main">
            <a:off x="533400" y="514350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A00000"/>
                </a:solidFill>
                <a:latin typeface="Times New Roman"/>
                <a:ea typeface="Times New Roman"/>
                <a:cs typeface="Times New Roman"/>
              </a:defRPr>
            </a:pPr>
            <a:r>
              <a:rPr sz="1875" b="1">
                <a:solidFill>
                  <a:srgbClr val="A00000"/>
                </a:solidFill>
                <a:latin typeface="Times New Roman"/>
                <a:ea typeface="Times New Roman"/>
                <a:cs typeface="Times New Roman"/>
              </a:rPr>
              <a:t>3 of 6 startup cases fail the provisional 4.75 V rail screen.</a:t>
            </a:r>
          </a:p>
        </p:txBody>
      </p:sp>
      <p:sp>
        <p:nvSpPr>
          <p:cNvPr id="92" name="Physical data status">
            <a:extLst xmlns:a="http://schemas.openxmlformats.org/drawingml/2006/main">
              <a:ext uri="{FF2B5EF4-FFF2-40B4-BE49-F238E27FC236}">
                <a16:creationId xmlns:a16="http://schemas.microsoft.com/office/drawing/2014/main" id="{BB91D894-B349-4E32-B988-FB9BA5E03198}"/>
              </a:ext>
            </a:extLst>
          </p:cNvPr>
          <p:cNvSpPr>
            <a:spLocks xmlns:a="http://schemas.openxmlformats.org/drawingml/2006/main" noGrp="1"/>
          </p:cNvSpPr>
          <p:nvPr/>
        </p:nvSpPr>
        <p:spPr>
          <a:xfrm xmlns:a="http://schemas.openxmlformats.org/drawingml/2006/main">
            <a:off x="533400" y="5695950"/>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No physical measurements yet.</a:t>
            </a:r>
          </a:p>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Next: assemble, calibrate, test startup, temperature and runtime.</a:t>
            </a:r>
          </a:p>
        </p:txBody>
      </p:sp>
    </p:spTree>
    <p:extLst>
      <p:ext uri="{BB962C8B-B14F-4D97-AF65-F5344CB8AC3E}">
        <p14:creationId xmlns:p14="http://schemas.microsoft.com/office/powerpoint/2010/main" val="27333468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1D876CCA-4625-495C-860C-A3DC625B6DD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572E38A1-990D-4609-84CA-D9FAE7E1DF4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Expected Outcomes and Evaluation</a:t>
            </a:r>
            <a:endParaRPr sz="1050"/>
          </a:p>
        </p:txBody>
      </p:sp>
      <p:graphicFrame>
        <p:nvGraphicFramePr>
          <p:cNvPr id="96" name="Chart"/>
          <p:cNvGraphicFramePr/>
          <p:nvPr/>
        </p:nvGraphicFramePr>
        <p:xfrm>
          <a:off xmlns:a="http://schemas.openxmlformats.org/drawingml/2006/main" x="371475" y="1343025"/>
          <a:ext xmlns:a="http://schemas.openxmlformats.org/drawingml/2006/main" cx="5572125" cy="3238500"/>
        </p:xfrm>
        <a:graphic xmlns:a="http://schemas.openxmlformats.org/drawingml/2006/main">
          <a:graphicData uri="http://schemas.openxmlformats.org/drawingml/2006/chart">
            <c:chart xmlns:r="http://schemas.openxmlformats.org/officeDocument/2006/relationships" xmlns:c="http://schemas.openxmlformats.org/drawingml/2006/chart" r:id="Raeaf64edc61b430b"/>
          </a:graphicData>
        </a:graphic>
      </p:graphicFrame>
      <p:sp>
        <p:nvSpPr>
          <p:cNvPr id="90" name="Service tradeoff">
            <a:extLst xmlns:a="http://schemas.openxmlformats.org/drawingml/2006/main">
              <a:ext uri="{FF2B5EF4-FFF2-40B4-BE49-F238E27FC236}">
                <a16:creationId xmlns:a16="http://schemas.microsoft.com/office/drawing/2014/main" id="{3F26B773-EFBD-4FED-8E9C-90B327A7359D}"/>
              </a:ext>
            </a:extLst>
          </p:cNvPr>
          <p:cNvSpPr>
            <a:spLocks xmlns:a="http://schemas.openxmlformats.org/drawingml/2006/main" noGrp="1"/>
          </p:cNvSpPr>
          <p:nvPr/>
        </p:nvSpPr>
        <p:spPr>
          <a:xfrm xmlns:a="http://schemas.openxmlformats.org/drawingml/2006/main">
            <a:off x="6153150" y="1362075"/>
            <a:ext cx="26765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025" b="1">
                <a:solidFill>
                  <a:srgbClr val="7030A0"/>
                </a:solidFill>
                <a:latin typeface="Times New Roman"/>
                <a:ea typeface="Times New Roman"/>
                <a:cs typeface="Times New Roman"/>
              </a:defRPr>
            </a:pPr>
            <a:r>
              <a:rPr sz="2025" b="1">
                <a:solidFill>
                  <a:srgbClr val="7030A0"/>
                </a:solidFill>
                <a:latin typeface="Times New Roman"/>
                <a:ea typeface="Times New Roman"/>
                <a:cs typeface="Times New Roman"/>
              </a:rPr>
              <a:t>Lamp +43.96%</a:t>
            </a:r>
          </a:p>
          <a:p xmlns:a="http://schemas.openxmlformats.org/drawingml/2006/main">
            <a:pPr algn="l">
              <a:defRPr sz="2025" b="1">
                <a:solidFill>
                  <a:srgbClr val="7030A0"/>
                </a:solidFill>
                <a:latin typeface="Times New Roman"/>
                <a:ea typeface="Times New Roman"/>
                <a:cs typeface="Times New Roman"/>
              </a:defRPr>
            </a:pPr>
            <a:r>
              <a:rPr sz="2025" b="1">
                <a:solidFill>
                  <a:srgbClr val="7030A0"/>
                </a:solidFill>
                <a:latin typeface="Times New Roman"/>
                <a:ea typeface="Times New Roman"/>
                <a:cs typeface="Times New Roman"/>
              </a:rPr>
              <a:t>Fan −54.47%</a:t>
            </a:r>
          </a:p>
          <a:p xmlns:a="http://schemas.openxmlformats.org/drawingml/2006/main">
            <a:pPr algn="l">
              <a:defRPr sz="2025" b="1">
                <a:solidFill>
                  <a:srgbClr val="7030A0"/>
                </a:solidFill>
                <a:latin typeface="Times New Roman"/>
                <a:ea typeface="Times New Roman"/>
                <a:cs typeface="Times New Roman"/>
              </a:defRPr>
            </a:pPr>
            <a:r>
              <a:rPr sz="2025" b="1">
                <a:solidFill>
                  <a:srgbClr val="7030A0"/>
                </a:solidFill>
                <a:latin typeface="Times New Roman"/>
                <a:ea typeface="Times New Roman"/>
                <a:cs typeface="Times New Roman"/>
              </a:rPr>
              <a:t>Service tradeoff</a:t>
            </a:r>
          </a:p>
        </p:txBody>
      </p:sp>
      <p:sp>
        <p:nvSpPr>
          <p:cNvPr id="91" name="Evaluation targets">
            <a:extLst xmlns:a="http://schemas.openxmlformats.org/drawingml/2006/main">
              <a:ext uri="{FF2B5EF4-FFF2-40B4-BE49-F238E27FC236}">
                <a16:creationId xmlns:a16="http://schemas.microsoft.com/office/drawing/2014/main" id="{C8B8932A-45AA-4FEE-B00A-7174DFAEBA19}"/>
              </a:ext>
            </a:extLst>
          </p:cNvPr>
          <p:cNvSpPr>
            <a:spLocks xmlns:a="http://schemas.openxmlformats.org/drawingml/2006/main" noGrp="1"/>
          </p:cNvSpPr>
          <p:nvPr/>
        </p:nvSpPr>
        <p:spPr>
          <a:xfrm xmlns:a="http://schemas.openxmlformats.org/drawingml/2006/main">
            <a:off x="6076950" y="2724150"/>
            <a:ext cx="28289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Calibration targets</a:t>
            </a:r>
          </a:p>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Voltage: ±1%</a:t>
            </a:r>
          </a:p>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Current: ±(3% of reference</a:t>
            </a:r>
          </a:p>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+ 10 mA)</a:t>
            </a:r>
          </a:p>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Measurement pending</a:t>
            </a:r>
          </a:p>
        </p:txBody>
      </p:sp>
      <p:sp>
        <p:nvSpPr>
          <p:cNvPr id="92" name="Simulation assumptions">
            <a:extLst xmlns:a="http://schemas.openxmlformats.org/drawingml/2006/main">
              <a:ext uri="{FF2B5EF4-FFF2-40B4-BE49-F238E27FC236}">
                <a16:creationId xmlns:a16="http://schemas.microsoft.com/office/drawing/2014/main" id="{27B73885-70AD-4B18-B044-CACAD69BB8E7}"/>
              </a:ext>
            </a:extLst>
          </p:cNvPr>
          <p:cNvSpPr>
            <a:spLocks xmlns:a="http://schemas.openxmlformats.org/drawingml/2006/main" noGrp="1"/>
          </p:cNvSpPr>
          <p:nvPr/>
        </p:nvSpPr>
        <p:spPr>
          <a:xfrm xmlns:a="http://schemas.openxmlformats.org/drawingml/2006/main">
            <a:off x="485775" y="4895850"/>
            <a:ext cx="8201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Model: 6 Ah, 68% to 20% SOC, 90% efficiency, zero charging.</a:t>
            </a:r>
          </a:p>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Loads: 2.5 W lamp + 2.5 W fan + 0.8 W controller.</a:t>
            </a:r>
          </a:p>
        </p:txBody>
      </p:sp>
      <p:sp>
        <p:nvSpPr>
          <p:cNvPr id="93" name="Expected prototype">
            <a:extLst xmlns:a="http://schemas.openxmlformats.org/drawingml/2006/main">
              <a:ext uri="{FF2B5EF4-FFF2-40B4-BE49-F238E27FC236}">
                <a16:creationId xmlns:a16="http://schemas.microsoft.com/office/drawing/2014/main" id="{95527C5A-9258-4AB7-AE6D-EDDB0DBE3191}"/>
              </a:ext>
            </a:extLst>
          </p:cNvPr>
          <p:cNvSpPr>
            <a:spLocks xmlns:a="http://schemas.openxmlformats.org/drawingml/2006/main" noGrp="1"/>
          </p:cNvSpPr>
          <p:nvPr/>
        </p:nvSpPr>
        <p:spPr>
          <a:xfrm xmlns:a="http://schemas.openxmlformats.org/drawingml/2006/main">
            <a:off x="495300" y="5753100"/>
            <a:ext cx="81248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Final outcome: assembled prototype with calibrated logs,</a:t>
            </a:r>
          </a:p>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repeatable load control and measured service comparisons.</a:t>
            </a:r>
          </a:p>
        </p:txBody>
      </p:sp>
    </p:spTree>
    <p:extLst>
      <p:ext uri="{BB962C8B-B14F-4D97-AF65-F5344CB8AC3E}">
        <p14:creationId xmlns:p14="http://schemas.microsoft.com/office/powerpoint/2010/main" val="9960588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D5234242-1C4A-4F69-B102-B7952AA7CA5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19966A1F-2F1A-404C-8B6F-FA031C7ED31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3" name="Table 1"/>
          <p:cNvGraphicFramePr/>
          <p:nvPr/>
        </p:nvGraphicFramePr>
        <p:xfrm>
          <a:off xmlns:a="http://schemas.openxmlformats.org/drawingml/2006/main" x="666750" y="1266825"/>
          <a:ext xmlns:a="http://schemas.openxmlformats.org/drawingml/2006/main" cx="7810500" cy="4010025"/>
        </p:xfrm>
        <a:graphic xmlns:a="http://schemas.openxmlformats.org/drawingml/2006/main">
          <a:graphicData uri="http://schemas.openxmlformats.org/drawingml/2006/table">
            <a:tbl>
              <a:tblPr/>
              <a:tblGrid>
                <a:gridCol w="1981200"/>
                <a:gridCol w="5829300"/>
              </a:tblGrid>
              <a:tr h="402590">
                <a:tc>
                  <a:txBody>
                    <a:bodyPr>
                      <a:noAutofit/>
                    </a:bodyPr>
                    <a:lstStyle/>
                    <a:p>
                      <a:r>
                        <a:rPr sz="1800" b="1">
                          <a:solidFill>
                            <a:srgbClr val="000000"/>
                          </a:solidFill>
                          <a:latin typeface="Times New Roman"/>
                          <a:ea typeface="Times New Roman"/>
                          <a:cs typeface="Times New Roman"/>
                        </a:rPr>
                        <a:t>Stage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1">
                          <a:solidFill>
                            <a:srgbClr val="000000"/>
                          </a:solidFill>
                          <a:latin typeface="Times New Roman"/>
                          <a:ea typeface="Times New Roman"/>
                          <a:cs typeface="Times New Roman"/>
                        </a:rPr>
                        <a:t>Work and expected evidence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By 3 Oct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Review 3: design, software demo and simulations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Confirm parts and quotes, then assemble on bench supply</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00" b="0">
                          <a:solidFill>
                            <a:srgbClr val="000000"/>
                          </a:solidFill>
                          <a:latin typeface="Times New Roman"/>
                          <a:ea typeface="Times New Roman"/>
                          <a:cs typeface="Times New Roman"/>
                        </a:rPr>
                        <a:t>Nov–Dec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Calibration, fan startup and loaded thermal tests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Next semester</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Repeated baseline/priority trials and enclosure</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Final submission</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Working prototype, measured results and final report</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Schedule condition">
            <a:extLst xmlns:a="http://schemas.openxmlformats.org/drawingml/2006/main">
              <a:ext uri="{FF2B5EF4-FFF2-40B4-BE49-F238E27FC236}">
                <a16:creationId xmlns:a16="http://schemas.microsoft.com/office/drawing/2014/main" id="{BA06BE54-2541-447A-9FBD-220221CB874D}"/>
              </a:ext>
            </a:extLst>
          </p:cNvPr>
          <p:cNvSpPr>
            <a:spLocks xmlns:a="http://schemas.openxmlformats.org/drawingml/2006/main" noGrp="1"/>
          </p:cNvSpPr>
          <p:nvPr/>
        </p:nvSpPr>
        <p:spPr>
          <a:xfrm xmlns:a="http://schemas.openxmlformats.org/drawingml/2006/main">
            <a:off x="828675" y="56388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Procurement and lab access control the build schedule.</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Confirm the final submission date with the department.</a:t>
            </a:r>
          </a:p>
        </p:txBody>
      </p:sp>
    </p:spTree>
    <p:extLst>
      <p:ext uri="{BB962C8B-B14F-4D97-AF65-F5344CB8AC3E}">
        <p14:creationId xmlns:p14="http://schemas.microsoft.com/office/powerpoint/2010/main" val="4115128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BCC2B0DF-8AD0-413B-AE42-15E0E054AB4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1159A1C8-4C5A-4A05-81B4-18FFA9AEF90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a:t>
            </a:r>
            <a:endParaRPr sz="1050"/>
          </a:p>
        </p:txBody>
      </p:sp>
      <p:sp>
        <p:nvSpPr>
          <p:cNvPr id="89" name="Reference 1">
            <a:extLst xmlns:a="http://schemas.openxmlformats.org/drawingml/2006/main">
              <a:ext uri="{FF2B5EF4-FFF2-40B4-BE49-F238E27FC236}">
                <a16:creationId xmlns:a16="http://schemas.microsoft.com/office/drawing/2014/main" id="{47DBB6A8-DDB2-4C85-B34B-8A8FE844E73F}"/>
              </a:ext>
            </a:extLst>
          </p:cNvPr>
          <p:cNvSpPr>
            <a:spLocks xmlns:a="http://schemas.openxmlformats.org/drawingml/2006/main" noGrp="1"/>
          </p:cNvSpPr>
          <p:nvPr/>
        </p:nvSpPr>
        <p:spPr>
          <a:xfrm xmlns:a="http://schemas.openxmlformats.org/drawingml/2006/main">
            <a:off x="352425" y="11144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 Marahatta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9c957636a01453a"/>
              </a:rPr>
              <a:t>10.1016/j.egyr.2020.11.030</a:t>
            </a:r>
          </a:p>
        </p:txBody>
      </p:sp>
      <p:sp>
        <p:nvSpPr>
          <p:cNvPr id="90" name="Reference 2">
            <a:extLst xmlns:a="http://schemas.openxmlformats.org/drawingml/2006/main">
              <a:ext uri="{FF2B5EF4-FFF2-40B4-BE49-F238E27FC236}">
                <a16:creationId xmlns:a16="http://schemas.microsoft.com/office/drawing/2014/main" id="{782F0813-EB39-4C00-911D-72F321E32AA3}"/>
              </a:ext>
            </a:extLst>
          </p:cNvPr>
          <p:cNvSpPr>
            <a:spLocks xmlns:a="http://schemas.openxmlformats.org/drawingml/2006/main" noGrp="1"/>
          </p:cNvSpPr>
          <p:nvPr/>
        </p:nvSpPr>
        <p:spPr>
          <a:xfrm xmlns:a="http://schemas.openxmlformats.org/drawingml/2006/main">
            <a:off x="352425" y="16097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 Rajbhandari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f1f0aa962ec48ef"/>
              </a:rPr>
              <a:t>10.1049/stg2.12151</a:t>
            </a:r>
          </a:p>
        </p:txBody>
      </p:sp>
      <p:sp>
        <p:nvSpPr>
          <p:cNvPr id="91" name="Reference 3">
            <a:extLst xmlns:a="http://schemas.openxmlformats.org/drawingml/2006/main">
              <a:ext uri="{FF2B5EF4-FFF2-40B4-BE49-F238E27FC236}">
                <a16:creationId xmlns:a16="http://schemas.microsoft.com/office/drawing/2014/main" id="{67814DE4-E449-42F3-AD73-5A7E5FE830FE}"/>
              </a:ext>
            </a:extLst>
          </p:cNvPr>
          <p:cNvSpPr>
            <a:spLocks xmlns:a="http://schemas.openxmlformats.org/drawingml/2006/main" noGrp="1"/>
          </p:cNvSpPr>
          <p:nvPr/>
        </p:nvSpPr>
        <p:spPr>
          <a:xfrm xmlns:a="http://schemas.openxmlformats.org/drawingml/2006/main">
            <a:off x="352425" y="21050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[3] Bai et al., 2020</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7f1ffc9e33c4a7c"/>
              </a:rPr>
              <a:t>10.3390/app10072544</a:t>
            </a:r>
          </a:p>
        </p:txBody>
      </p:sp>
      <p:sp>
        <p:nvSpPr>
          <p:cNvPr id="92" name="Reference 4">
            <a:extLst xmlns:a="http://schemas.openxmlformats.org/drawingml/2006/main">
              <a:ext uri="{FF2B5EF4-FFF2-40B4-BE49-F238E27FC236}">
                <a16:creationId xmlns:a16="http://schemas.microsoft.com/office/drawing/2014/main" id="{0FD76DBE-D521-40C2-8B27-5B05588048C0}"/>
              </a:ext>
            </a:extLst>
          </p:cNvPr>
          <p:cNvSpPr>
            <a:spLocks xmlns:a="http://schemas.openxmlformats.org/drawingml/2006/main" noGrp="1"/>
          </p:cNvSpPr>
          <p:nvPr/>
        </p:nvSpPr>
        <p:spPr>
          <a:xfrm xmlns:a="http://schemas.openxmlformats.org/drawingml/2006/main">
            <a:off x="352425" y="26003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[4] Lv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4d7b777f19a42d4"/>
              </a:rPr>
              <a:t>10.3390/electronics10070834</a:t>
            </a:r>
          </a:p>
        </p:txBody>
      </p:sp>
      <p:sp>
        <p:nvSpPr>
          <p:cNvPr id="93" name="Reference 5">
            <a:extLst xmlns:a="http://schemas.openxmlformats.org/drawingml/2006/main">
              <a:ext uri="{FF2B5EF4-FFF2-40B4-BE49-F238E27FC236}">
                <a16:creationId xmlns:a16="http://schemas.microsoft.com/office/drawing/2014/main" id="{63BDA85A-60DC-41C7-AC25-B92EC03FD52B}"/>
              </a:ext>
            </a:extLst>
          </p:cNvPr>
          <p:cNvSpPr>
            <a:spLocks xmlns:a="http://schemas.openxmlformats.org/drawingml/2006/main" noGrp="1"/>
          </p:cNvSpPr>
          <p:nvPr/>
        </p:nvSpPr>
        <p:spPr>
          <a:xfrm xmlns:a="http://schemas.openxmlformats.org/drawingml/2006/main">
            <a:off x="352425" y="30956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[5] Guo &amp; Kors,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6a12a97cb8d4aeb"/>
              </a:rPr>
              <a:t>10.3390/electronics10131562</a:t>
            </a:r>
          </a:p>
        </p:txBody>
      </p:sp>
      <p:sp>
        <p:nvSpPr>
          <p:cNvPr id="94" name="Reference 6">
            <a:extLst xmlns:a="http://schemas.openxmlformats.org/drawingml/2006/main">
              <a:ext uri="{FF2B5EF4-FFF2-40B4-BE49-F238E27FC236}">
                <a16:creationId xmlns:a16="http://schemas.microsoft.com/office/drawing/2014/main" id="{FE472CD7-AF00-4BD2-9AE9-4B7B8DDC3AF3}"/>
              </a:ext>
            </a:extLst>
          </p:cNvPr>
          <p:cNvSpPr>
            <a:spLocks xmlns:a="http://schemas.openxmlformats.org/drawingml/2006/main" noGrp="1"/>
          </p:cNvSpPr>
          <p:nvPr/>
        </p:nvSpPr>
        <p:spPr>
          <a:xfrm xmlns:a="http://schemas.openxmlformats.org/drawingml/2006/main">
            <a:off x="352425" y="35909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[6] Yusubov &amp; Bekirova,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4a9119988214884"/>
              </a:rPr>
              <a:t>10.35784/iapgos.5320</a:t>
            </a:r>
          </a:p>
        </p:txBody>
      </p:sp>
      <p:sp>
        <p:nvSpPr>
          <p:cNvPr id="95" name="Reference 7">
            <a:extLst xmlns:a="http://schemas.openxmlformats.org/drawingml/2006/main">
              <a:ext uri="{FF2B5EF4-FFF2-40B4-BE49-F238E27FC236}">
                <a16:creationId xmlns:a16="http://schemas.microsoft.com/office/drawing/2014/main" id="{41E52A50-A2DC-4989-9A1B-3F6778CEF6B6}"/>
              </a:ext>
            </a:extLst>
          </p:cNvPr>
          <p:cNvSpPr>
            <a:spLocks xmlns:a="http://schemas.openxmlformats.org/drawingml/2006/main" noGrp="1"/>
          </p:cNvSpPr>
          <p:nvPr/>
        </p:nvSpPr>
        <p:spPr>
          <a:xfrm xmlns:a="http://schemas.openxmlformats.org/drawingml/2006/main">
            <a:off x="352425" y="40862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[7] Basantes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5e815c753e024a03"/>
              </a:rPr>
              <a:t>10.3390/en16062912</a:t>
            </a:r>
          </a:p>
        </p:txBody>
      </p:sp>
      <p:sp>
        <p:nvSpPr>
          <p:cNvPr id="96" name="Reference 8">
            <a:extLst xmlns:a="http://schemas.openxmlformats.org/drawingml/2006/main">
              <a:ext uri="{FF2B5EF4-FFF2-40B4-BE49-F238E27FC236}">
                <a16:creationId xmlns:a16="http://schemas.microsoft.com/office/drawing/2014/main" id="{75D6B6C2-A015-4AE0-BA7C-01E2B7607D89}"/>
              </a:ext>
            </a:extLst>
          </p:cNvPr>
          <p:cNvSpPr>
            <a:spLocks xmlns:a="http://schemas.openxmlformats.org/drawingml/2006/main" noGrp="1"/>
          </p:cNvSpPr>
          <p:nvPr/>
        </p:nvSpPr>
        <p:spPr>
          <a:xfrm xmlns:a="http://schemas.openxmlformats.org/drawingml/2006/main">
            <a:off x="352425" y="45815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[8] Sepehrzad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3241103658f4f76"/>
              </a:rPr>
              <a:t>10.1016/j.est.2023.109282</a:t>
            </a:r>
          </a:p>
        </p:txBody>
      </p:sp>
      <p:sp>
        <p:nvSpPr>
          <p:cNvPr id="97" name="Reference 9">
            <a:extLst xmlns:a="http://schemas.openxmlformats.org/drawingml/2006/main">
              <a:ext uri="{FF2B5EF4-FFF2-40B4-BE49-F238E27FC236}">
                <a16:creationId xmlns:a16="http://schemas.microsoft.com/office/drawing/2014/main" id="{B3DFE1DD-AE58-462D-B07D-0CAC17494396}"/>
              </a:ext>
            </a:extLst>
          </p:cNvPr>
          <p:cNvSpPr>
            <a:spLocks xmlns:a="http://schemas.openxmlformats.org/drawingml/2006/main" noGrp="1"/>
          </p:cNvSpPr>
          <p:nvPr/>
        </p:nvSpPr>
        <p:spPr>
          <a:xfrm xmlns:a="http://schemas.openxmlformats.org/drawingml/2006/main">
            <a:off x="352425" y="50768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[9] Khawaja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c84be8d2ef24309"/>
              </a:rPr>
              <a:t>10.1016/j.solener.2023.01.027</a:t>
            </a:r>
          </a:p>
        </p:txBody>
      </p:sp>
      <p:sp>
        <p:nvSpPr>
          <p:cNvPr id="98" name="Reference 10">
            <a:extLst xmlns:a="http://schemas.openxmlformats.org/drawingml/2006/main">
              <a:ext uri="{FF2B5EF4-FFF2-40B4-BE49-F238E27FC236}">
                <a16:creationId xmlns:a16="http://schemas.microsoft.com/office/drawing/2014/main" id="{873AD85F-9B7A-4485-BD6C-D08293C0F522}"/>
              </a:ext>
            </a:extLst>
          </p:cNvPr>
          <p:cNvSpPr>
            <a:spLocks xmlns:a="http://schemas.openxmlformats.org/drawingml/2006/main" noGrp="1"/>
          </p:cNvSpPr>
          <p:nvPr/>
        </p:nvSpPr>
        <p:spPr>
          <a:xfrm xmlns:a="http://schemas.openxmlformats.org/drawingml/2006/main">
            <a:off x="352425" y="55721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[10] Singh &amp; Maulik,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7f512d8a35a41ea"/>
              </a:rPr>
              <a:t>10.1016/j.segan.2023.101137</a:t>
            </a:r>
          </a:p>
        </p:txBody>
      </p:sp>
      <p:sp>
        <p:nvSpPr>
          <p:cNvPr id="99" name="Reference 11">
            <a:extLst xmlns:a="http://schemas.openxmlformats.org/drawingml/2006/main">
              <a:ext uri="{FF2B5EF4-FFF2-40B4-BE49-F238E27FC236}">
                <a16:creationId xmlns:a16="http://schemas.microsoft.com/office/drawing/2014/main" id="{F05B22AF-DDCF-4CF8-B94F-66C74BB7FA49}"/>
              </a:ext>
            </a:extLst>
          </p:cNvPr>
          <p:cNvSpPr>
            <a:spLocks xmlns:a="http://schemas.openxmlformats.org/drawingml/2006/main" noGrp="1"/>
          </p:cNvSpPr>
          <p:nvPr/>
        </p:nvSpPr>
        <p:spPr>
          <a:xfrm xmlns:a="http://schemas.openxmlformats.org/drawingml/2006/main">
            <a:off x="4686300" y="11144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[11] Movassagh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aa06014588d4f31"/>
              </a:rPr>
              <a:t>10.3390/en14144074</a:t>
            </a:r>
          </a:p>
        </p:txBody>
      </p:sp>
      <p:sp>
        <p:nvSpPr>
          <p:cNvPr id="100" name="Reference 12">
            <a:extLst xmlns:a="http://schemas.openxmlformats.org/drawingml/2006/main">
              <a:ext uri="{FF2B5EF4-FFF2-40B4-BE49-F238E27FC236}">
                <a16:creationId xmlns:a16="http://schemas.microsoft.com/office/drawing/2014/main" id="{5A50E47E-B685-4F6A-95AE-C062ABA424B3}"/>
              </a:ext>
            </a:extLst>
          </p:cNvPr>
          <p:cNvSpPr>
            <a:spLocks xmlns:a="http://schemas.openxmlformats.org/drawingml/2006/main" noGrp="1"/>
          </p:cNvSpPr>
          <p:nvPr/>
        </p:nvSpPr>
        <p:spPr>
          <a:xfrm xmlns:a="http://schemas.openxmlformats.org/drawingml/2006/main">
            <a:off x="4686300" y="16097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[12] Zhang et al., 2018</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2d9a24febe8493c"/>
              </a:rPr>
              <a:t>10.1016/j.energy.2017.10.043</a:t>
            </a:r>
          </a:p>
        </p:txBody>
      </p:sp>
      <p:sp>
        <p:nvSpPr>
          <p:cNvPr id="101" name="Reference 13">
            <a:extLst xmlns:a="http://schemas.openxmlformats.org/drawingml/2006/main">
              <a:ext uri="{FF2B5EF4-FFF2-40B4-BE49-F238E27FC236}">
                <a16:creationId xmlns:a16="http://schemas.microsoft.com/office/drawing/2014/main" id="{C17C3ECF-DF6B-4793-AA16-E6FD2966CC07}"/>
              </a:ext>
            </a:extLst>
          </p:cNvPr>
          <p:cNvSpPr>
            <a:spLocks xmlns:a="http://schemas.openxmlformats.org/drawingml/2006/main" noGrp="1"/>
          </p:cNvSpPr>
          <p:nvPr/>
        </p:nvSpPr>
        <p:spPr>
          <a:xfrm xmlns:a="http://schemas.openxmlformats.org/drawingml/2006/main">
            <a:off x="4686300" y="21050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[13] Gismero et al., 2020</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b387a6b83dc44ed"/>
              </a:rPr>
              <a:t>10.3390/en13071811</a:t>
            </a:r>
          </a:p>
        </p:txBody>
      </p:sp>
      <p:sp>
        <p:nvSpPr>
          <p:cNvPr id="102" name="Reference 14">
            <a:extLst xmlns:a="http://schemas.openxmlformats.org/drawingml/2006/main">
              <a:ext uri="{FF2B5EF4-FFF2-40B4-BE49-F238E27FC236}">
                <a16:creationId xmlns:a16="http://schemas.microsoft.com/office/drawing/2014/main" id="{267562A4-D378-4096-A723-C0350B7CB164}"/>
              </a:ext>
            </a:extLst>
          </p:cNvPr>
          <p:cNvSpPr>
            <a:spLocks xmlns:a="http://schemas.openxmlformats.org/drawingml/2006/main" noGrp="1"/>
          </p:cNvSpPr>
          <p:nvPr/>
        </p:nvSpPr>
        <p:spPr>
          <a:xfrm xmlns:a="http://schemas.openxmlformats.org/drawingml/2006/main">
            <a:off x="4686300" y="26003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[14] Yang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2e187fa966a4df8"/>
              </a:rPr>
              <a:t>10.3390/en14041054</a:t>
            </a:r>
          </a:p>
        </p:txBody>
      </p:sp>
      <p:sp>
        <p:nvSpPr>
          <p:cNvPr id="103" name="Reference 15">
            <a:extLst xmlns:a="http://schemas.openxmlformats.org/drawingml/2006/main">
              <a:ext uri="{FF2B5EF4-FFF2-40B4-BE49-F238E27FC236}">
                <a16:creationId xmlns:a16="http://schemas.microsoft.com/office/drawing/2014/main" id="{E669C76D-EC01-40CA-8632-682266D4932D}"/>
              </a:ext>
            </a:extLst>
          </p:cNvPr>
          <p:cNvSpPr>
            <a:spLocks xmlns:a="http://schemas.openxmlformats.org/drawingml/2006/main" noGrp="1"/>
          </p:cNvSpPr>
          <p:nvPr/>
        </p:nvSpPr>
        <p:spPr>
          <a:xfrm xmlns:a="http://schemas.openxmlformats.org/drawingml/2006/main">
            <a:off x="4686300" y="30956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[15] Rzepka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20ec735fa4e44e4"/>
              </a:rPr>
              <a:t>10.3390/en14133733</a:t>
            </a:r>
          </a:p>
        </p:txBody>
      </p:sp>
      <p:sp>
        <p:nvSpPr>
          <p:cNvPr id="104" name="Reference 16">
            <a:extLst xmlns:a="http://schemas.openxmlformats.org/drawingml/2006/main">
              <a:ext uri="{FF2B5EF4-FFF2-40B4-BE49-F238E27FC236}">
                <a16:creationId xmlns:a16="http://schemas.microsoft.com/office/drawing/2014/main" id="{E98DA221-B27A-4841-B79C-01D2E848E901}"/>
              </a:ext>
            </a:extLst>
          </p:cNvPr>
          <p:cNvSpPr>
            <a:spLocks xmlns:a="http://schemas.openxmlformats.org/drawingml/2006/main" noGrp="1"/>
          </p:cNvSpPr>
          <p:nvPr/>
        </p:nvSpPr>
        <p:spPr>
          <a:xfrm xmlns:a="http://schemas.openxmlformats.org/drawingml/2006/main">
            <a:off x="4686300" y="35909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[16] Zine et al., 2022</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bb62a8344434d75"/>
              </a:rPr>
              <a:t>10.3390/en15218172</a:t>
            </a:r>
          </a:p>
        </p:txBody>
      </p:sp>
      <p:sp>
        <p:nvSpPr>
          <p:cNvPr id="105" name="Reference 17">
            <a:extLst xmlns:a="http://schemas.openxmlformats.org/drawingml/2006/main">
              <a:ext uri="{FF2B5EF4-FFF2-40B4-BE49-F238E27FC236}">
                <a16:creationId xmlns:a16="http://schemas.microsoft.com/office/drawing/2014/main" id="{2A5ABAD1-6F2E-4D3A-B0CF-460B62B20E4D}"/>
              </a:ext>
            </a:extLst>
          </p:cNvPr>
          <p:cNvSpPr>
            <a:spLocks xmlns:a="http://schemas.openxmlformats.org/drawingml/2006/main" noGrp="1"/>
          </p:cNvSpPr>
          <p:nvPr/>
        </p:nvSpPr>
        <p:spPr>
          <a:xfrm xmlns:a="http://schemas.openxmlformats.org/drawingml/2006/main">
            <a:off x="4686300" y="40862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[17] Fahmy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2487b2ad9b74c8b"/>
              </a:rPr>
              <a:t>10.3390/en16145558</a:t>
            </a:r>
          </a:p>
        </p:txBody>
      </p:sp>
      <p:sp>
        <p:nvSpPr>
          <p:cNvPr id="106" name="Reference 18">
            <a:extLst xmlns:a="http://schemas.openxmlformats.org/drawingml/2006/main">
              <a:ext uri="{FF2B5EF4-FFF2-40B4-BE49-F238E27FC236}">
                <a16:creationId xmlns:a16="http://schemas.microsoft.com/office/drawing/2014/main" id="{09F0C854-9414-4925-8489-2A867DB4B2CF}"/>
              </a:ext>
            </a:extLst>
          </p:cNvPr>
          <p:cNvSpPr>
            <a:spLocks xmlns:a="http://schemas.openxmlformats.org/drawingml/2006/main" noGrp="1"/>
          </p:cNvSpPr>
          <p:nvPr/>
        </p:nvSpPr>
        <p:spPr>
          <a:xfrm xmlns:a="http://schemas.openxmlformats.org/drawingml/2006/main">
            <a:off x="4686300" y="45815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[18] Wang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338d8776b3d441a"/>
              </a:rPr>
              <a:t>10.3390/batteries9010043</a:t>
            </a:r>
          </a:p>
        </p:txBody>
      </p:sp>
      <p:sp>
        <p:nvSpPr>
          <p:cNvPr id="107" name="Reference 19">
            <a:extLst xmlns:a="http://schemas.openxmlformats.org/drawingml/2006/main">
              <a:ext uri="{FF2B5EF4-FFF2-40B4-BE49-F238E27FC236}">
                <a16:creationId xmlns:a16="http://schemas.microsoft.com/office/drawing/2014/main" id="{F30F83F9-03D9-46EA-A13B-DA0D6609F40E}"/>
              </a:ext>
            </a:extLst>
          </p:cNvPr>
          <p:cNvSpPr>
            <a:spLocks xmlns:a="http://schemas.openxmlformats.org/drawingml/2006/main" noGrp="1"/>
          </p:cNvSpPr>
          <p:nvPr/>
        </p:nvSpPr>
        <p:spPr>
          <a:xfrm xmlns:a="http://schemas.openxmlformats.org/drawingml/2006/main">
            <a:off x="4686300" y="50768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[19] Turkmanović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326bda122484834"/>
              </a:rPr>
              <a:t>10.3390/electronics13214256</a:t>
            </a:r>
          </a:p>
        </p:txBody>
      </p:sp>
      <p:sp>
        <p:nvSpPr>
          <p:cNvPr id="108" name="Reference 20">
            <a:extLst xmlns:a="http://schemas.openxmlformats.org/drawingml/2006/main">
              <a:ext uri="{FF2B5EF4-FFF2-40B4-BE49-F238E27FC236}">
                <a16:creationId xmlns:a16="http://schemas.microsoft.com/office/drawing/2014/main" id="{E35681F3-82B7-4478-B006-855DB04697B6}"/>
              </a:ext>
            </a:extLst>
          </p:cNvPr>
          <p:cNvSpPr>
            <a:spLocks xmlns:a="http://schemas.openxmlformats.org/drawingml/2006/main" noGrp="1"/>
          </p:cNvSpPr>
          <p:nvPr/>
        </p:nvSpPr>
        <p:spPr>
          <a:xfrm xmlns:a="http://schemas.openxmlformats.org/drawingml/2006/main">
            <a:off x="4686300" y="55721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[20] Bampi et al., 2025</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fe6abbb691145fc"/>
              </a:rPr>
              <a:t>10.18618/REP.e202521</a:t>
            </a:r>
          </a:p>
        </p:txBody>
      </p:sp>
      <p:sp>
        <p:nvSpPr>
          <p:cNvPr id="109" name="Evidence scope">
            <a:extLst xmlns:a="http://schemas.openxmlformats.org/drawingml/2006/main">
              <a:ext uri="{FF2B5EF4-FFF2-40B4-BE49-F238E27FC236}">
                <a16:creationId xmlns:a16="http://schemas.microsoft.com/office/drawing/2014/main" id="{BCFD44A8-0497-45B7-90FD-F72236F869D1}"/>
              </a:ext>
            </a:extLst>
          </p:cNvPr>
          <p:cNvSpPr>
            <a:spLocks xmlns:a="http://schemas.openxmlformats.org/drawingml/2006/main" noGrp="1"/>
          </p:cNvSpPr>
          <p:nvPr/>
        </p:nvSpPr>
        <p:spPr>
          <a:xfrm xmlns:a="http://schemas.openxmlformats.org/drawingml/2006/main">
            <a:off x="457200" y="621982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Full titles, venues and source links are in the speaker notes.</a:t>
            </a:r>
          </a:p>
        </p:txBody>
      </p:sp>
    </p:spTree>
    <p:extLst>
      <p:ext uri="{BB962C8B-B14F-4D97-AF65-F5344CB8AC3E}">
        <p14:creationId xmlns:p14="http://schemas.microsoft.com/office/powerpoint/2010/main" val="36247737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DBF02997-CE5C-4F7C-AE6F-6B5524F51C23}"/>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D4D15B29-8F78-41F1-868D-82D324A4FA1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Tree>
    <p:extLst>
      <p:ext uri="{BB962C8B-B14F-4D97-AF65-F5344CB8AC3E}">
        <p14:creationId xmlns:p14="http://schemas.microsoft.com/office/powerpoint/2010/main" val="105991082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2026-10-01T15:04:42.8150000Z</dcterms:created>
  <dcterms:modified xsi:type="dcterms:W3CDTF">2026-10-01T15:04:42.8150000Z</dcterms:modified>
</coreProperties>
</file>