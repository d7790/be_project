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9" r:id="rId2"/>
  </p:sldMasterIdLst>
  <p:notesMasterIdLst>
    <p:notesMasterId r:id="rId17"/>
  </p:notesMasterIdLst>
  <p:sldIdLst>
    <p:sldId id="256" r:id="rId3"/>
    <p:sldId id="257" r:id="rId4"/>
    <p:sldId id="258" r:id="rId5"/>
    <p:sldId id="279" r:id="rId6"/>
    <p:sldId id="280" r:id="rId7"/>
    <p:sldId id="281" r:id="rId8"/>
    <p:sldId id="273" r:id="rId9"/>
    <p:sldId id="274" r:id="rId10"/>
    <p:sldId id="259" r:id="rId11"/>
    <p:sldId id="275" r:id="rId12"/>
    <p:sldId id="276" r:id="rId13"/>
    <p:sldId id="277" r:id="rId14"/>
    <p:sldId id="278" r:id="rId15"/>
    <p:sldId id="272" r:id="rId1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udBCnEA64YKkktstCKYYw9Huf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197F5D-6551-475C-A2F8-58654C6B5B28}">
  <a:tblStyle styleId="{EE197F5D-6551-475C-A2F8-58654C6B5B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41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1641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6281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4229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1370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8950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6962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16668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78358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0621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sldNum" idx="12"/>
          </p:nvPr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>
            <a:spLocks noGrp="1"/>
          </p:cNvSpPr>
          <p:nvPr>
            <p:ph type="sldNum" idx="12"/>
          </p:nvPr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2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sldNum" idx="12"/>
          </p:nvPr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sldNum" idx="12"/>
          </p:nvPr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sldNum" idx="12"/>
          </p:nvPr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sldNum" idx="12"/>
          </p:nvPr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sldNum" idx="12"/>
          </p:nvPr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sldNum" idx="12"/>
          </p:nvPr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311150" y="593725"/>
            <a:ext cx="8521700" cy="76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311150" y="1536700"/>
            <a:ext cx="8521700" cy="455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9"/>
          <p:cNvSpPr txBox="1">
            <a:spLocks noGrp="1"/>
          </p:cNvSpPr>
          <p:nvPr>
            <p:ph type="title"/>
          </p:nvPr>
        </p:nvSpPr>
        <p:spPr>
          <a:xfrm>
            <a:off x="311150" y="593725"/>
            <a:ext cx="8521700" cy="76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body" idx="1"/>
          </p:nvPr>
        </p:nvSpPr>
        <p:spPr>
          <a:xfrm>
            <a:off x="311150" y="1536700"/>
            <a:ext cx="8521700" cy="455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sldNum" idx="12"/>
          </p:nvPr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/>
        </p:nvSpPr>
        <p:spPr>
          <a:xfrm>
            <a:off x="0" y="0"/>
            <a:ext cx="9144000" cy="1293812"/>
          </a:xfrm>
          <a:prstGeom prst="rect">
            <a:avLst/>
          </a:prstGeom>
          <a:solidFill>
            <a:srgbClr val="FFEED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4F1B"/>
              </a:buClr>
              <a:buSzPts val="28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rgbClr val="AD4F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KJEI’s, Trinity Academy of Engineering</a:t>
            </a:r>
            <a:endParaRPr sz="2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8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</a:t>
            </a:r>
            <a:r>
              <a:rPr lang="en-US" sz="2800" b="1" i="0" u="none" strike="noStrike" cap="none" dirty="0" smtClean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</a:t>
            </a:r>
            <a:r>
              <a:rPr lang="en-US" sz="2800" b="1" i="0" u="none" strike="noStrike" cap="none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dirty="0"/>
          </a:p>
        </p:txBody>
      </p:sp>
      <p:sp>
        <p:nvSpPr>
          <p:cNvPr id="59" name="Google Shape;59;p1"/>
          <p:cNvSpPr txBox="1"/>
          <p:nvPr/>
        </p:nvSpPr>
        <p:spPr>
          <a:xfrm>
            <a:off x="0" y="1221104"/>
            <a:ext cx="9132887" cy="1463675"/>
          </a:xfrm>
          <a:prstGeom prst="rect">
            <a:avLst/>
          </a:prstGeom>
          <a:noFill/>
          <a:ln>
            <a:noFill/>
          </a:ln>
          <a:effectLst>
            <a:outerShdw blurRad="63500" dist="23000" dir="540000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325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5900"/>
              </a:buClr>
              <a:buSzPts val="3600"/>
              <a:buFont typeface="Times New Roman"/>
              <a:buNone/>
            </a:pPr>
            <a:r>
              <a:rPr lang="en-US" sz="3600" b="1" i="0" u="none" strike="noStrike" cap="none" dirty="0">
                <a:solidFill>
                  <a:srgbClr val="9F5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Year 2026-27 SEM </a:t>
            </a:r>
            <a:r>
              <a:rPr lang="en-US" sz="3600" b="1" i="0" u="none" strike="noStrike" cap="none" dirty="0" smtClean="0">
                <a:solidFill>
                  <a:srgbClr val="9F5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</a:p>
          <a:p>
            <a:pPr marL="60325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5900"/>
              </a:buClr>
              <a:buSzPts val="3600"/>
              <a:buFont typeface="Times New Roman"/>
              <a:buNone/>
            </a:pPr>
            <a:r>
              <a:rPr lang="en-US" sz="3600" b="1" dirty="0" smtClean="0">
                <a:solidFill>
                  <a:srgbClr val="9F5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</a:t>
            </a:r>
            <a:endParaRPr sz="3600" b="1" i="0" u="none" strike="noStrike" cap="none" dirty="0">
              <a:solidFill>
                <a:srgbClr val="9F5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sp>
        <p:nvSpPr>
          <p:cNvPr id="61" name="Google Shape;61;p1"/>
          <p:cNvSpPr txBox="1"/>
          <p:nvPr/>
        </p:nvSpPr>
        <p:spPr>
          <a:xfrm>
            <a:off x="325437" y="4371975"/>
            <a:ext cx="3919537" cy="184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2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Students:</a:t>
            </a:r>
            <a:endParaRPr dirty="0"/>
          </a:p>
          <a:p>
            <a: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1</a:t>
            </a:r>
            <a:endParaRPr dirty="0"/>
          </a:p>
          <a:p>
            <a: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2</a:t>
            </a:r>
            <a:endParaRPr dirty="0"/>
          </a:p>
          <a:p>
            <a: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3</a:t>
            </a:r>
            <a:endParaRPr dirty="0"/>
          </a:p>
        </p:txBody>
      </p:sp>
      <p:sp>
        <p:nvSpPr>
          <p:cNvPr id="62" name="Google Shape;62;p1"/>
          <p:cNvSpPr txBox="1"/>
          <p:nvPr/>
        </p:nvSpPr>
        <p:spPr>
          <a:xfrm>
            <a:off x="4449762" y="4648200"/>
            <a:ext cx="4572000" cy="1293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2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Guidance of 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Trupti G. Thite</a:t>
            </a: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7678737" y="265112"/>
            <a:ext cx="1343032" cy="763581"/>
          </a:xfrm>
          <a:custGeom>
            <a:avLst/>
            <a:gdLst/>
            <a:ahLst/>
            <a:cxnLst/>
            <a:rect l="l" t="t" r="r" b="b"/>
            <a:pathLst>
              <a:path w="2354453" h="1591818" extrusionOk="0">
                <a:moveTo>
                  <a:pt x="0" y="0"/>
                </a:moveTo>
                <a:lnTo>
                  <a:pt x="2354453" y="0"/>
                </a:lnTo>
                <a:lnTo>
                  <a:pt x="2354453" y="1591818"/>
                </a:lnTo>
                <a:lnTo>
                  <a:pt x="0" y="15918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120" b="-4121"/>
            </a:stretch>
          </a:blipFill>
          <a:ln>
            <a:noFill/>
          </a:ln>
        </p:spPr>
      </p:sp>
      <p:sp>
        <p:nvSpPr>
          <p:cNvPr id="64" name="Google Shape;64;p1"/>
          <p:cNvSpPr/>
          <p:nvPr/>
        </p:nvSpPr>
        <p:spPr>
          <a:xfrm>
            <a:off x="136525" y="117475"/>
            <a:ext cx="841375" cy="1163637"/>
          </a:xfrm>
          <a:custGeom>
            <a:avLst/>
            <a:gdLst/>
            <a:ahLst/>
            <a:cxnLst/>
            <a:rect l="l" t="t" r="r" b="b"/>
            <a:pathLst>
              <a:path w="1288321" h="1683367" extrusionOk="0">
                <a:moveTo>
                  <a:pt x="0" y="0"/>
                </a:moveTo>
                <a:lnTo>
                  <a:pt x="1288322" y="0"/>
                </a:lnTo>
                <a:lnTo>
                  <a:pt x="1288322" y="1683367"/>
                </a:lnTo>
                <a:lnTo>
                  <a:pt x="0" y="16833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2813049" y="3449638"/>
            <a:ext cx="2863850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0325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</a:t>
            </a:r>
            <a:r>
              <a:rPr lang="en-US" sz="2400" b="1" i="0" u="none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</p:txBody>
      </p:sp>
      <p:sp>
        <p:nvSpPr>
          <p:cNvPr id="10" name="Google Shape;59;p1"/>
          <p:cNvSpPr txBox="1"/>
          <p:nvPr/>
        </p:nvSpPr>
        <p:spPr>
          <a:xfrm>
            <a:off x="-11113" y="2594890"/>
            <a:ext cx="9132887" cy="816769"/>
          </a:xfrm>
          <a:prstGeom prst="rect">
            <a:avLst/>
          </a:prstGeom>
          <a:noFill/>
          <a:ln>
            <a:noFill/>
          </a:ln>
          <a:effectLst>
            <a:outerShdw blurRad="63500" dist="23000" dir="540000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32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 smtClean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of Project:</a:t>
            </a:r>
            <a:endParaRPr sz="3200" b="1" i="0" u="none" dirty="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/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  <p:sp>
        <p:nvSpPr>
          <p:cNvPr id="71" name="Google Shape;71;p2"/>
          <p:cNvSpPr txBox="1"/>
          <p:nvPr/>
        </p:nvSpPr>
        <p:spPr>
          <a:xfrm>
            <a:off x="1663700" y="204787"/>
            <a:ext cx="6137275" cy="515937"/>
          </a:xfrm>
          <a:prstGeom prst="rect">
            <a:avLst/>
          </a:prstGeom>
          <a:solidFill>
            <a:srgbClr val="FFEED9"/>
          </a:soli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t" anchorCtr="0">
            <a:normAutofit/>
          </a:bodyPr>
          <a:lstStyle/>
          <a:p>
            <a:pPr marL="257175" lvl="0" indent="-257175" algn="ct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</a:t>
            </a:r>
            <a:r>
              <a:rPr lang="en-US" sz="28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Overview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1842653" y="2179529"/>
            <a:ext cx="55149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Students should include: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Brief introduction to the project topic (4–5 lines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Why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is this problem important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Current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scenario/statistics (1–2 points, if available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Real-world applications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Motivation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for selecting this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/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1194232" y="288939"/>
            <a:ext cx="6748030" cy="515937"/>
          </a:xfrm>
          <a:prstGeom prst="rect">
            <a:avLst/>
          </a:prstGeom>
          <a:solidFill>
            <a:srgbClr val="FFEED9"/>
          </a:soli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75" lvl="0" indent="-257175" algn="ct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</a:t>
            </a:r>
            <a:r>
              <a:rPr lang="en-US" sz="28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3396037" y="942609"/>
            <a:ext cx="25458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lvl="0" indent="-257175" algn="ctr">
              <a:buClr>
                <a:schemeClr val="dk1"/>
              </a:buClr>
              <a:buSzPts val="2800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(15–20 recent research papers)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618306"/>
              </p:ext>
            </p:extLst>
          </p:nvPr>
        </p:nvGraphicFramePr>
        <p:xfrm>
          <a:off x="411882" y="1464557"/>
          <a:ext cx="8514197" cy="4753680"/>
        </p:xfrm>
        <a:graphic>
          <a:graphicData uri="http://schemas.openxmlformats.org/drawingml/2006/table">
            <a:tbl>
              <a:tblPr/>
              <a:tblGrid>
                <a:gridCol w="796513">
                  <a:extLst>
                    <a:ext uri="{9D8B030D-6E8A-4147-A177-3AD203B41FA5}">
                      <a16:colId xmlns:a16="http://schemas.microsoft.com/office/drawing/2014/main" val="2188291478"/>
                    </a:ext>
                  </a:extLst>
                </a:gridCol>
                <a:gridCol w="1636115">
                  <a:extLst>
                    <a:ext uri="{9D8B030D-6E8A-4147-A177-3AD203B41FA5}">
                      <a16:colId xmlns:a16="http://schemas.microsoft.com/office/drawing/2014/main" val="728315216"/>
                    </a:ext>
                  </a:extLst>
                </a:gridCol>
                <a:gridCol w="1173880">
                  <a:extLst>
                    <a:ext uri="{9D8B030D-6E8A-4147-A177-3AD203B41FA5}">
                      <a16:colId xmlns:a16="http://schemas.microsoft.com/office/drawing/2014/main" val="3957849682"/>
                    </a:ext>
                  </a:extLst>
                </a:gridCol>
                <a:gridCol w="1258747">
                  <a:extLst>
                    <a:ext uri="{9D8B030D-6E8A-4147-A177-3AD203B41FA5}">
                      <a16:colId xmlns:a16="http://schemas.microsoft.com/office/drawing/2014/main" val="2005527864"/>
                    </a:ext>
                  </a:extLst>
                </a:gridCol>
                <a:gridCol w="1216314">
                  <a:extLst>
                    <a:ext uri="{9D8B030D-6E8A-4147-A177-3AD203B41FA5}">
                      <a16:colId xmlns:a16="http://schemas.microsoft.com/office/drawing/2014/main" val="2646214068"/>
                    </a:ext>
                  </a:extLst>
                </a:gridCol>
                <a:gridCol w="1216314">
                  <a:extLst>
                    <a:ext uri="{9D8B030D-6E8A-4147-A177-3AD203B41FA5}">
                      <a16:colId xmlns:a16="http://schemas.microsoft.com/office/drawing/2014/main" val="2852430307"/>
                    </a:ext>
                  </a:extLst>
                </a:gridCol>
                <a:gridCol w="1216314">
                  <a:extLst>
                    <a:ext uri="{9D8B030D-6E8A-4147-A177-3AD203B41FA5}">
                      <a16:colId xmlns:a16="http://schemas.microsoft.com/office/drawing/2014/main" val="342015606"/>
                    </a:ext>
                  </a:extLst>
                </a:gridCol>
              </a:tblGrid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Sr. 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Reference (Author, Year)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Problem Addressed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Method / 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Key 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236547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 et al., 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Triple Riding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YOLOv7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Custom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Detects multiple riders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Small 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8142217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837490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719716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7508683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7582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/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1170275" y="288939"/>
            <a:ext cx="6748030" cy="515937"/>
          </a:xfrm>
          <a:prstGeom prst="rect">
            <a:avLst/>
          </a:prstGeom>
          <a:solidFill>
            <a:srgbClr val="FFEED9"/>
          </a:soli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75" lvl="0" indent="-257175" algn="ct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</a:t>
            </a:r>
            <a:r>
              <a:rPr lang="en-US" sz="28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340658"/>
              </p:ext>
            </p:extLst>
          </p:nvPr>
        </p:nvGraphicFramePr>
        <p:xfrm>
          <a:off x="287191" y="1464557"/>
          <a:ext cx="8514197" cy="4753680"/>
        </p:xfrm>
        <a:graphic>
          <a:graphicData uri="http://schemas.openxmlformats.org/drawingml/2006/table">
            <a:tbl>
              <a:tblPr/>
              <a:tblGrid>
                <a:gridCol w="796513">
                  <a:extLst>
                    <a:ext uri="{9D8B030D-6E8A-4147-A177-3AD203B41FA5}">
                      <a16:colId xmlns:a16="http://schemas.microsoft.com/office/drawing/2014/main" val="2188291478"/>
                    </a:ext>
                  </a:extLst>
                </a:gridCol>
                <a:gridCol w="1636115">
                  <a:extLst>
                    <a:ext uri="{9D8B030D-6E8A-4147-A177-3AD203B41FA5}">
                      <a16:colId xmlns:a16="http://schemas.microsoft.com/office/drawing/2014/main" val="728315216"/>
                    </a:ext>
                  </a:extLst>
                </a:gridCol>
                <a:gridCol w="1173880">
                  <a:extLst>
                    <a:ext uri="{9D8B030D-6E8A-4147-A177-3AD203B41FA5}">
                      <a16:colId xmlns:a16="http://schemas.microsoft.com/office/drawing/2014/main" val="3957849682"/>
                    </a:ext>
                  </a:extLst>
                </a:gridCol>
                <a:gridCol w="1258747">
                  <a:extLst>
                    <a:ext uri="{9D8B030D-6E8A-4147-A177-3AD203B41FA5}">
                      <a16:colId xmlns:a16="http://schemas.microsoft.com/office/drawing/2014/main" val="2005527864"/>
                    </a:ext>
                  </a:extLst>
                </a:gridCol>
                <a:gridCol w="1216314">
                  <a:extLst>
                    <a:ext uri="{9D8B030D-6E8A-4147-A177-3AD203B41FA5}">
                      <a16:colId xmlns:a16="http://schemas.microsoft.com/office/drawing/2014/main" val="2646214068"/>
                    </a:ext>
                  </a:extLst>
                </a:gridCol>
                <a:gridCol w="1216314">
                  <a:extLst>
                    <a:ext uri="{9D8B030D-6E8A-4147-A177-3AD203B41FA5}">
                      <a16:colId xmlns:a16="http://schemas.microsoft.com/office/drawing/2014/main" val="2852430307"/>
                    </a:ext>
                  </a:extLst>
                </a:gridCol>
                <a:gridCol w="1216314">
                  <a:extLst>
                    <a:ext uri="{9D8B030D-6E8A-4147-A177-3AD203B41FA5}">
                      <a16:colId xmlns:a16="http://schemas.microsoft.com/office/drawing/2014/main" val="342015606"/>
                    </a:ext>
                  </a:extLst>
                </a:gridCol>
              </a:tblGrid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Sr. 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Reference (Author, Year)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Problem Addressed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Method / 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Key 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236547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8142217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837490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719716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</a:t>
                      </a:r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7508683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758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787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/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1039091" y="288939"/>
            <a:ext cx="6748030" cy="515937"/>
          </a:xfrm>
          <a:prstGeom prst="rect">
            <a:avLst/>
          </a:prstGeom>
          <a:solidFill>
            <a:srgbClr val="FFEED9"/>
          </a:soli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75" lvl="0" indent="-257175" algn="ct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</a:t>
            </a:r>
            <a:r>
              <a:rPr lang="en-US" sz="28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146609"/>
              </p:ext>
            </p:extLst>
          </p:nvPr>
        </p:nvGraphicFramePr>
        <p:xfrm>
          <a:off x="287191" y="1591700"/>
          <a:ext cx="8514197" cy="4753680"/>
        </p:xfrm>
        <a:graphic>
          <a:graphicData uri="http://schemas.openxmlformats.org/drawingml/2006/table">
            <a:tbl>
              <a:tblPr/>
              <a:tblGrid>
                <a:gridCol w="796513">
                  <a:extLst>
                    <a:ext uri="{9D8B030D-6E8A-4147-A177-3AD203B41FA5}">
                      <a16:colId xmlns:a16="http://schemas.microsoft.com/office/drawing/2014/main" val="2188291478"/>
                    </a:ext>
                  </a:extLst>
                </a:gridCol>
                <a:gridCol w="1636115">
                  <a:extLst>
                    <a:ext uri="{9D8B030D-6E8A-4147-A177-3AD203B41FA5}">
                      <a16:colId xmlns:a16="http://schemas.microsoft.com/office/drawing/2014/main" val="728315216"/>
                    </a:ext>
                  </a:extLst>
                </a:gridCol>
                <a:gridCol w="1173880">
                  <a:extLst>
                    <a:ext uri="{9D8B030D-6E8A-4147-A177-3AD203B41FA5}">
                      <a16:colId xmlns:a16="http://schemas.microsoft.com/office/drawing/2014/main" val="3957849682"/>
                    </a:ext>
                  </a:extLst>
                </a:gridCol>
                <a:gridCol w="1258747">
                  <a:extLst>
                    <a:ext uri="{9D8B030D-6E8A-4147-A177-3AD203B41FA5}">
                      <a16:colId xmlns:a16="http://schemas.microsoft.com/office/drawing/2014/main" val="2005527864"/>
                    </a:ext>
                  </a:extLst>
                </a:gridCol>
                <a:gridCol w="1216314">
                  <a:extLst>
                    <a:ext uri="{9D8B030D-6E8A-4147-A177-3AD203B41FA5}">
                      <a16:colId xmlns:a16="http://schemas.microsoft.com/office/drawing/2014/main" val="2646214068"/>
                    </a:ext>
                  </a:extLst>
                </a:gridCol>
                <a:gridCol w="1216314">
                  <a:extLst>
                    <a:ext uri="{9D8B030D-6E8A-4147-A177-3AD203B41FA5}">
                      <a16:colId xmlns:a16="http://schemas.microsoft.com/office/drawing/2014/main" val="2852430307"/>
                    </a:ext>
                  </a:extLst>
                </a:gridCol>
                <a:gridCol w="1216314">
                  <a:extLst>
                    <a:ext uri="{9D8B030D-6E8A-4147-A177-3AD203B41FA5}">
                      <a16:colId xmlns:a16="http://schemas.microsoft.com/office/drawing/2014/main" val="342015606"/>
                    </a:ext>
                  </a:extLst>
                </a:gridCol>
              </a:tblGrid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Sr. 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Reference (Author, Year)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Problem Addressed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Method / 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Key 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236547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</a:t>
                      </a:r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8142217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</a:t>
                      </a:r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837490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13</a:t>
                      </a:r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719716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14</a:t>
                      </a:r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7508683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15</a:t>
                      </a:r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758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589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/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983673" y="274060"/>
            <a:ext cx="6748030" cy="515937"/>
          </a:xfrm>
          <a:prstGeom prst="rect">
            <a:avLst/>
          </a:prstGeom>
          <a:solidFill>
            <a:srgbClr val="FFEED9"/>
          </a:soli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75" lvl="0" indent="-257175" algn="ct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</a:t>
            </a:r>
            <a:r>
              <a:rPr lang="en-US" sz="28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3271346" y="973795"/>
            <a:ext cx="2545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7175" lvl="0" indent="-257175" algn="ctr">
              <a:buClr>
                <a:schemeClr val="dk1"/>
              </a:buClr>
              <a:buSzPts val="2800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(15–20 recent research papers)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249965"/>
              </p:ext>
            </p:extLst>
          </p:nvPr>
        </p:nvGraphicFramePr>
        <p:xfrm>
          <a:off x="258962" y="1605554"/>
          <a:ext cx="8514197" cy="4753680"/>
        </p:xfrm>
        <a:graphic>
          <a:graphicData uri="http://schemas.openxmlformats.org/drawingml/2006/table">
            <a:tbl>
              <a:tblPr/>
              <a:tblGrid>
                <a:gridCol w="796513">
                  <a:extLst>
                    <a:ext uri="{9D8B030D-6E8A-4147-A177-3AD203B41FA5}">
                      <a16:colId xmlns:a16="http://schemas.microsoft.com/office/drawing/2014/main" val="2188291478"/>
                    </a:ext>
                  </a:extLst>
                </a:gridCol>
                <a:gridCol w="1636115">
                  <a:extLst>
                    <a:ext uri="{9D8B030D-6E8A-4147-A177-3AD203B41FA5}">
                      <a16:colId xmlns:a16="http://schemas.microsoft.com/office/drawing/2014/main" val="728315216"/>
                    </a:ext>
                  </a:extLst>
                </a:gridCol>
                <a:gridCol w="1173880">
                  <a:extLst>
                    <a:ext uri="{9D8B030D-6E8A-4147-A177-3AD203B41FA5}">
                      <a16:colId xmlns:a16="http://schemas.microsoft.com/office/drawing/2014/main" val="3957849682"/>
                    </a:ext>
                  </a:extLst>
                </a:gridCol>
                <a:gridCol w="1258747">
                  <a:extLst>
                    <a:ext uri="{9D8B030D-6E8A-4147-A177-3AD203B41FA5}">
                      <a16:colId xmlns:a16="http://schemas.microsoft.com/office/drawing/2014/main" val="2005527864"/>
                    </a:ext>
                  </a:extLst>
                </a:gridCol>
                <a:gridCol w="1216314">
                  <a:extLst>
                    <a:ext uri="{9D8B030D-6E8A-4147-A177-3AD203B41FA5}">
                      <a16:colId xmlns:a16="http://schemas.microsoft.com/office/drawing/2014/main" val="2646214068"/>
                    </a:ext>
                  </a:extLst>
                </a:gridCol>
                <a:gridCol w="1216314">
                  <a:extLst>
                    <a:ext uri="{9D8B030D-6E8A-4147-A177-3AD203B41FA5}">
                      <a16:colId xmlns:a16="http://schemas.microsoft.com/office/drawing/2014/main" val="2852430307"/>
                    </a:ext>
                  </a:extLst>
                </a:gridCol>
                <a:gridCol w="1216314">
                  <a:extLst>
                    <a:ext uri="{9D8B030D-6E8A-4147-A177-3AD203B41FA5}">
                      <a16:colId xmlns:a16="http://schemas.microsoft.com/office/drawing/2014/main" val="342015606"/>
                    </a:ext>
                  </a:extLst>
                </a:gridCol>
              </a:tblGrid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Sr. 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Reference (Author, Year)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Problem Addressed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Method / 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Key 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236547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16</a:t>
                      </a:r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8142217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17</a:t>
                      </a:r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837490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18</a:t>
                      </a:r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719716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19</a:t>
                      </a:r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7508683"/>
                  </a:ext>
                </a:extLst>
              </a:tr>
              <a:tr h="79228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</a:t>
                      </a:r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758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772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/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1663700" y="204787"/>
            <a:ext cx="6137275" cy="515937"/>
          </a:xfrm>
          <a:prstGeom prst="rect">
            <a:avLst/>
          </a:prstGeom>
          <a:solidFill>
            <a:srgbClr val="FFEED9"/>
          </a:soli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t" anchorCtr="0">
            <a:normAutofit/>
          </a:bodyPr>
          <a:lstStyle/>
          <a:p>
            <a:pPr marL="257175" lvl="0" indent="-257175" algn="ct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 / Problem Identification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1829953" y="2348576"/>
            <a:ext cx="552680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This slide should answer the following questions: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What are the limitations of the existing research or systems?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What problems are still unsolved?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Why are current solutions insufficient?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How does your proposed project address these gaps?</a:t>
            </a:r>
          </a:p>
        </p:txBody>
      </p:sp>
    </p:spTree>
    <p:extLst>
      <p:ext uri="{BB962C8B-B14F-4D97-AF65-F5344CB8AC3E}">
        <p14:creationId xmlns:p14="http://schemas.microsoft.com/office/powerpoint/2010/main" val="4163415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/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1663700" y="204787"/>
            <a:ext cx="6137275" cy="515937"/>
          </a:xfrm>
          <a:prstGeom prst="rect">
            <a:avLst/>
          </a:prstGeom>
          <a:solidFill>
            <a:srgbClr val="FFEED9"/>
          </a:soli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t" anchorCtr="0">
            <a:normAutofit/>
          </a:bodyPr>
          <a:lstStyle/>
          <a:p>
            <a:pPr marL="257175" lvl="0" indent="-257175" algn="ct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dirty="0"/>
          </a:p>
        </p:txBody>
      </p:sp>
      <p:sp>
        <p:nvSpPr>
          <p:cNvPr id="4" name="Google Shape;80;p3"/>
          <p:cNvSpPr txBox="1"/>
          <p:nvPr/>
        </p:nvSpPr>
        <p:spPr>
          <a:xfrm>
            <a:off x="1552864" y="3183514"/>
            <a:ext cx="6137275" cy="515937"/>
          </a:xfrm>
          <a:prstGeom prst="rect">
            <a:avLst/>
          </a:prstGeom>
          <a:solidFill>
            <a:srgbClr val="FFEED9"/>
          </a:soli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t" anchorCtr="0">
            <a:normAutofit/>
          </a:bodyPr>
          <a:lstStyle/>
          <a:p>
            <a:pPr marL="257175" lvl="0" indent="-257175" algn="ctr">
              <a:buClr>
                <a:schemeClr val="dk1"/>
              </a:buClr>
              <a:buSzPts val="2800"/>
            </a:pPr>
            <a:r>
              <a:rPr lang="en-US" sz="28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1663699" y="965509"/>
            <a:ext cx="613727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Describe the specific problem addressed by your project and its impact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endParaRPr lang="en-US" sz="1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02388" y="4036569"/>
            <a:ext cx="6371937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List 3–5 specific objectives that your project intends to accomplish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To conduct a comprehensive literature survey on the selected project domain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To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identify the research gap and define the problem statement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To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design the proposed system architecture and methodology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To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select suitable datasets, algorithms, and technologies for implementation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To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develop and evaluate the proposed system.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386031" y="1738400"/>
            <a:ext cx="6788294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“To design an AI-based health monitoring system for elderly people that continuously monitors vital signs and provides timely alerts during medical emergencies.”</a:t>
            </a:r>
            <a:endParaRPr kumimoji="0" lang="en-US" alt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5224" y="4581847"/>
            <a:ext cx="8980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5272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/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1371600" y="204787"/>
            <a:ext cx="6429375" cy="806595"/>
          </a:xfrm>
          <a:prstGeom prst="rect">
            <a:avLst/>
          </a:prstGeom>
          <a:solidFill>
            <a:srgbClr val="FFEED9"/>
          </a:soli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75" lvl="0" indent="-257175" algn="ctr">
              <a:buClr>
                <a:schemeClr val="dk1"/>
              </a:buClr>
              <a:buSzPts val="2800"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Solution/Methodology/System Architecture / Block Diagram</a:t>
            </a:r>
            <a:endParaRPr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/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1371600" y="204788"/>
            <a:ext cx="6429375" cy="529504"/>
          </a:xfrm>
          <a:prstGeom prst="rect">
            <a:avLst/>
          </a:prstGeom>
          <a:solidFill>
            <a:srgbClr val="FFEED9"/>
          </a:soli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75" lvl="0" indent="-257175" algn="ctr">
              <a:buClr>
                <a:schemeClr val="dk1"/>
              </a:buClr>
              <a:buSzPts val="2800"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/ Data Collection</a:t>
            </a:r>
            <a:endParaRPr sz="1050" dirty="0"/>
          </a:p>
        </p:txBody>
      </p:sp>
    </p:spTree>
    <p:extLst>
      <p:ext uri="{BB962C8B-B14F-4D97-AF65-F5344CB8AC3E}">
        <p14:creationId xmlns:p14="http://schemas.microsoft.com/office/powerpoint/2010/main" val="2733346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/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1371600" y="204788"/>
            <a:ext cx="6429375" cy="529504"/>
          </a:xfrm>
          <a:prstGeom prst="rect">
            <a:avLst/>
          </a:prstGeom>
          <a:solidFill>
            <a:srgbClr val="FFEED9"/>
          </a:soli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75" lvl="0" indent="-257175" algn="ctr">
              <a:buClr>
                <a:schemeClr val="dk1"/>
              </a:buClr>
              <a:buSzPts val="2800"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Outcomes &amp; Evaluation Metrics</a:t>
            </a:r>
            <a:endParaRPr sz="1050" dirty="0"/>
          </a:p>
        </p:txBody>
      </p:sp>
    </p:spTree>
    <p:extLst>
      <p:ext uri="{BB962C8B-B14F-4D97-AF65-F5344CB8AC3E}">
        <p14:creationId xmlns:p14="http://schemas.microsoft.com/office/powerpoint/2010/main" val="996058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/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1371600" y="684848"/>
            <a:ext cx="6429375" cy="529504"/>
          </a:xfrm>
          <a:prstGeom prst="rect">
            <a:avLst/>
          </a:prstGeom>
          <a:solidFill>
            <a:srgbClr val="FFEED9"/>
          </a:soli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75" lvl="0" indent="-257175" algn="ctr">
              <a:buClr>
                <a:schemeClr val="dk1"/>
              </a:buClr>
              <a:buSzPts val="2800"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Timeline</a:t>
            </a:r>
            <a:endParaRPr sz="105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2434"/>
              </p:ext>
            </p:extLst>
          </p:nvPr>
        </p:nvGraphicFramePr>
        <p:xfrm>
          <a:off x="2167658" y="1791203"/>
          <a:ext cx="5244523" cy="3542796"/>
        </p:xfrm>
        <a:graphic>
          <a:graphicData uri="http://schemas.openxmlformats.org/drawingml/2006/table">
            <a:tbl>
              <a:tblPr/>
              <a:tblGrid>
                <a:gridCol w="1046597">
                  <a:extLst>
                    <a:ext uri="{9D8B030D-6E8A-4147-A177-3AD203B41FA5}">
                      <a16:colId xmlns:a16="http://schemas.microsoft.com/office/drawing/2014/main" val="4166731029"/>
                    </a:ext>
                  </a:extLst>
                </a:gridCol>
                <a:gridCol w="4197926">
                  <a:extLst>
                    <a:ext uri="{9D8B030D-6E8A-4147-A177-3AD203B41FA5}">
                      <a16:colId xmlns:a16="http://schemas.microsoft.com/office/drawing/2014/main" val="2413998899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r>
                        <a:rPr lang="en-IN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Month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Activity</a:t>
                      </a:r>
                      <a:endParaRPr lang="en-IN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4712759"/>
                  </a:ext>
                </a:extLst>
              </a:tr>
              <a:tr h="684404">
                <a:tc>
                  <a:txBody>
                    <a:bodyPr/>
                    <a:lstStyle/>
                    <a:p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August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Literature Survey, Problem Statement, Objectives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8861251"/>
                  </a:ext>
                </a:extLst>
              </a:tr>
              <a:tr h="684404">
                <a:tc>
                  <a:txBody>
                    <a:bodyPr/>
                    <a:lstStyle/>
                    <a:p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September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Methodology, System Design, Dataset Collection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854809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October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Development / Implementation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89632"/>
                  </a:ext>
                </a:extLst>
              </a:tr>
              <a:tr h="684404">
                <a:tc>
                  <a:txBody>
                    <a:bodyPr/>
                    <a:lstStyle/>
                    <a:p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November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Testing, Result Analysis, Documentation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084930"/>
                  </a:ext>
                </a:extLst>
              </a:tr>
              <a:tr h="684404">
                <a:tc>
                  <a:txBody>
                    <a:bodyPr/>
                    <a:lstStyle/>
                    <a:p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December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Final Report Submission &amp; 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2874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5128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/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1371600" y="204788"/>
            <a:ext cx="6429375" cy="529504"/>
          </a:xfrm>
          <a:prstGeom prst="rect">
            <a:avLst/>
          </a:prstGeom>
          <a:solidFill>
            <a:srgbClr val="FFEED9"/>
          </a:soli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75" lvl="0" indent="-257175" algn="ctr">
              <a:buClr>
                <a:schemeClr val="dk1"/>
              </a:buClr>
              <a:buSzPts val="2800"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050" dirty="0"/>
          </a:p>
        </p:txBody>
      </p:sp>
      <p:sp>
        <p:nvSpPr>
          <p:cNvPr id="2" name="Rectangle 1"/>
          <p:cNvSpPr/>
          <p:nvPr/>
        </p:nvSpPr>
        <p:spPr>
          <a:xfrm>
            <a:off x="1149927" y="1407863"/>
            <a:ext cx="694112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Use Below Format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Arial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Bianco, G.M., et al. 2021. “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LoRa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System in Mountain Rescue Scenarios.” * IEEE Internet of Things Journal* 8 ( 3 ): 19851999.</a:t>
            </a:r>
          </a:p>
          <a:p>
            <a:pPr marL="342900" indent="-342900" algn="just">
              <a:buFont typeface="Arial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Zhang, X., et al. 2021. “Transmission Tower Tilt Monitoring via Low-Power Wide-Area Network.” *IEEE Sensors Journal* 21 ( 2 ): 1100–1107.</a:t>
            </a:r>
          </a:p>
          <a:p>
            <a:pPr marL="342900" indent="-342900" algn="just">
              <a:buFont typeface="Arial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Faber, M.J., et al. 2020. “Evaluation of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LoRa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Technology Performance.” *IEEE Sensors Journal* 20 ( 16 ): 9480–9489.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773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>
            <a:spLocks noGrp="1"/>
          </p:cNvSpPr>
          <p:nvPr>
            <p:ph type="title"/>
          </p:nvPr>
        </p:nvSpPr>
        <p:spPr>
          <a:xfrm>
            <a:off x="227012" y="2547937"/>
            <a:ext cx="8520112" cy="112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You!!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8472487" y="6218237"/>
            <a:ext cx="5492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454</Words>
  <Application>Microsoft Office PowerPoint</Application>
  <PresentationFormat>On-screen Show (4:3)</PresentationFormat>
  <Paragraphs>137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</vt:lpstr>
      <vt:lpstr>Times New Roman</vt:lpstr>
      <vt:lpstr>Simple Light</vt:lpstr>
      <vt:lpstr>1_Simple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Admin_7</dc:creator>
  <cp:lastModifiedBy>Trupti Thite</cp:lastModifiedBy>
  <cp:revision>23</cp:revision>
  <dcterms:created xsi:type="dcterms:W3CDTF">2006-08-16T00:00:00Z</dcterms:created>
  <dcterms:modified xsi:type="dcterms:W3CDTF">2026-09-10T11:41:51Z</dcterms:modified>
</cp:coreProperties>
</file>