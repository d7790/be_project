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98a4aaf53c4a23" /><Relationship Type="http://schemas.openxmlformats.org/officeDocument/2006/relationships/extended-properties" Target="/docProps/app.xml" Id="Re4dd0274e59641de" /><Relationship Type="http://schemas.openxmlformats.org/officeDocument/2006/relationships/officeDocument" Target="/ppt/presentation.xml" Id="R731a4568de9d48d8" /></Relationships>
</file>

<file path=ppt/presentation.xml><?xml version="1.0" encoding="utf-8"?>
<p:presentation xmlns:p="http://schemas.openxmlformats.org/presentationml/2006/main">
  <p:sldMasterIdLst>
    <p:sldMasterId xmlns:r="http://schemas.openxmlformats.org/officeDocument/2006/relationships" id="2147483648" r:id="Rd99f3198ca124b7a"/>
    <p:sldMasterId xmlns:r="http://schemas.openxmlformats.org/officeDocument/2006/relationships" id="2147483659" r:id="Rc91cf01f367e48e9"/>
  </p:sldMasterIdLst>
  <p:notesMasterIdLst>
    <p:notesMasterId xmlns:r="http://schemas.openxmlformats.org/officeDocument/2006/relationships" r:id="Rd8905283920848ce"/>
  </p:notesMasterIdLst>
  <p:sldIdLst>
    <p:sldId xmlns:r="http://schemas.openxmlformats.org/officeDocument/2006/relationships" id="256" r:id="R5bdd68a47c67404f"/>
    <p:sldId xmlns:r="http://schemas.openxmlformats.org/officeDocument/2006/relationships" id="257" r:id="R73c97fa046484036"/>
    <p:sldId xmlns:r="http://schemas.openxmlformats.org/officeDocument/2006/relationships" id="258" r:id="R55f15ffbbd784309"/>
    <p:sldId xmlns:r="http://schemas.openxmlformats.org/officeDocument/2006/relationships" id="259" r:id="R84e2b01a762a4881"/>
    <p:sldId xmlns:r="http://schemas.openxmlformats.org/officeDocument/2006/relationships" id="260" r:id="Rad92db8838fd481a"/>
    <p:sldId xmlns:r="http://schemas.openxmlformats.org/officeDocument/2006/relationships" id="261" r:id="R00f30b50391a4985"/>
    <p:sldId xmlns:r="http://schemas.openxmlformats.org/officeDocument/2006/relationships" id="262" r:id="R18dac1ae42704f27"/>
    <p:sldId xmlns:r="http://schemas.openxmlformats.org/officeDocument/2006/relationships" id="263" r:id="Ra859784dd28e4474"/>
    <p:sldId xmlns:r="http://schemas.openxmlformats.org/officeDocument/2006/relationships" id="264" r:id="R009d92183dcc4009"/>
    <p:sldId xmlns:r="http://schemas.openxmlformats.org/officeDocument/2006/relationships" id="265" r:id="Rc5a1f06c737f484a"/>
    <p:sldId xmlns:r="http://schemas.openxmlformats.org/officeDocument/2006/relationships" id="266" r:id="Rbb61887949d944ba"/>
    <p:sldId xmlns:r="http://schemas.openxmlformats.org/officeDocument/2006/relationships" id="267" r:id="R7c70dbd9336e41f9"/>
    <p:sldId xmlns:r="http://schemas.openxmlformats.org/officeDocument/2006/relationships" id="268" r:id="Rb29fd771231e4dd0"/>
    <p:sldId xmlns:r="http://schemas.openxmlformats.org/officeDocument/2006/relationships" id="269" r:id="R85965ca1b59949a1"/>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91c147956164227" /><Relationship Type="http://schemas.openxmlformats.org/officeDocument/2006/relationships/slideMaster" Target="/ppt/slideMasters/slideMaster1.xml" Id="Rd99f3198ca124b7a" /><Relationship Type="http://schemas.openxmlformats.org/officeDocument/2006/relationships/slideMaster" Target="/ppt/slideMasters/slideMaster2.xml" Id="Rc91cf01f367e48e9" /><Relationship Type="http://schemas.openxmlformats.org/officeDocument/2006/relationships/notesMaster" Target="/ppt/notesMasters/notesMaster1.xml" Id="Rd8905283920848ce" /><Relationship Type="http://schemas.openxmlformats.org/officeDocument/2006/relationships/presProps" Target="/ppt/presProps.xml" Id="R059ea048c60846ef" /><Relationship Type="http://schemas.openxmlformats.org/officeDocument/2006/relationships/viewProps" Target="/ppt/viewProps.xml" Id="R5b3805669bce41a1" /><Relationship Type="http://schemas.openxmlformats.org/officeDocument/2006/relationships/tableStyles" Target="/ppt/tableStyles.xml" Id="R70f7c68da332431b" /><Relationship Type="http://schemas.openxmlformats.org/officeDocument/2006/relationships/slide" Target="/ppt/slides/slide1.xml" Id="R5bdd68a47c67404f" /><Relationship Type="http://schemas.openxmlformats.org/officeDocument/2006/relationships/slide" Target="/ppt/slides/slide2.xml" Id="R73c97fa046484036" /><Relationship Type="http://schemas.openxmlformats.org/officeDocument/2006/relationships/slide" Target="/ppt/slides/slide3.xml" Id="R55f15ffbbd784309" /><Relationship Type="http://schemas.openxmlformats.org/officeDocument/2006/relationships/slide" Target="/ppt/slides/slide4.xml" Id="R84e2b01a762a4881" /><Relationship Type="http://schemas.openxmlformats.org/officeDocument/2006/relationships/slide" Target="/ppt/slides/slide5.xml" Id="Rad92db8838fd481a" /><Relationship Type="http://schemas.openxmlformats.org/officeDocument/2006/relationships/slide" Target="/ppt/slides/slide6.xml" Id="R00f30b50391a4985" /><Relationship Type="http://schemas.openxmlformats.org/officeDocument/2006/relationships/slide" Target="/ppt/slides/slide7.xml" Id="R18dac1ae42704f27" /><Relationship Type="http://schemas.openxmlformats.org/officeDocument/2006/relationships/slide" Target="/ppt/slides/slide8.xml" Id="Ra859784dd28e4474" /><Relationship Type="http://schemas.openxmlformats.org/officeDocument/2006/relationships/slide" Target="/ppt/slides/slide9.xml" Id="R009d92183dcc4009" /><Relationship Type="http://schemas.openxmlformats.org/officeDocument/2006/relationships/slide" Target="/ppt/slides/slide10.xml" Id="Rc5a1f06c737f484a" /><Relationship Type="http://schemas.openxmlformats.org/officeDocument/2006/relationships/slide" Target="/ppt/slides/slide11.xml" Id="Rbb61887949d944ba" /><Relationship Type="http://schemas.openxmlformats.org/officeDocument/2006/relationships/slide" Target="/ppt/slides/slide12.xml" Id="R7c70dbd9336e41f9" /><Relationship Type="http://schemas.openxmlformats.org/officeDocument/2006/relationships/slide" Target="/ppt/slides/slide13.xml" Id="Rb29fd771231e4dd0" /><Relationship Type="http://schemas.openxmlformats.org/officeDocument/2006/relationships/slide" Target="/ppt/slides/slide14.xml" Id="R85965ca1b59949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9deb41d908db43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2df2dfb4e74848" /><Relationship Type="http://schemas.openxmlformats.org/officeDocument/2006/relationships/notesMaster" Target="/ppt/notesMasters/notesMaster1.xml" Id="R994983926f444c7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ee26dea75242df" /><Relationship Type="http://schemas.openxmlformats.org/officeDocument/2006/relationships/notesMaster" Target="/ppt/notesMasters/notesMaster1.xml" Id="Rf609d16944d047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8aa7fad0564dd9" /><Relationship Type="http://schemas.openxmlformats.org/officeDocument/2006/relationships/notesMaster" Target="/ppt/notesMasters/notesMaster1.xml" Id="Rc77145035e194f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ad25b7227c48f0" /><Relationship Type="http://schemas.openxmlformats.org/officeDocument/2006/relationships/notesMaster" Target="/ppt/notesMasters/notesMaster1.xml" Id="Raec7f6050b6847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c5a1e7c9b6435e" /><Relationship Type="http://schemas.openxmlformats.org/officeDocument/2006/relationships/notesMaster" Target="/ppt/notesMasters/notesMaster1.xml" Id="R601fdb7ec22a4f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f7c28b70a5454a" /><Relationship Type="http://schemas.openxmlformats.org/officeDocument/2006/relationships/notesMaster" Target="/ppt/notesMasters/notesMaster1.xml" Id="Rc02bb2485c114b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83f7a787e0445d" /><Relationship Type="http://schemas.openxmlformats.org/officeDocument/2006/relationships/notesMaster" Target="/ppt/notesMasters/notesMaster1.xml" Id="Re1e48aedb9a04a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10ee5d7170496d" /><Relationship Type="http://schemas.openxmlformats.org/officeDocument/2006/relationships/notesMaster" Target="/ppt/notesMasters/notesMaster1.xml" Id="Rb34f7384fbd344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c51363200142f2" /><Relationship Type="http://schemas.openxmlformats.org/officeDocument/2006/relationships/notesMaster" Target="/ppt/notesMasters/notesMaster1.xml" Id="Re79f0897e5e34c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4e01656dcb4553" /><Relationship Type="http://schemas.openxmlformats.org/officeDocument/2006/relationships/notesMaster" Target="/ppt/notesMasters/notesMaster1.xml" Id="R6e27cfff84b644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3873c6c662c49b2" /><Relationship Type="http://schemas.openxmlformats.org/officeDocument/2006/relationships/notesMaster" Target="/ppt/notesMasters/notesMaster1.xml" Id="R077e7f87f43f493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dbe8a82e1545b4" /><Relationship Type="http://schemas.openxmlformats.org/officeDocument/2006/relationships/notesMaster" Target="/ppt/notesMasters/notesMaster1.xml" Id="R57daa69308f542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3e98d2836540e8" /><Relationship Type="http://schemas.openxmlformats.org/officeDocument/2006/relationships/notesMaster" Target="/ppt/notesMasters/notesMaster1.xml" Id="R08ecd6354bbc4d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774b340fa7f4325" /><Relationship Type="http://schemas.openxmlformats.org/officeDocument/2006/relationships/notesMaster" Target="/ppt/notesMasters/notesMaster1.xml" Id="R7b8b95b90e4c44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WattSense targets selected household AC appliance signatures and energy estimation, with a separate DC battery/UPS subsystem for backup-time estimation. Group 7: Dhanesh Chaudhari 4114, Yash Ahire 4101, Mrudula Pagar 4212 and Ujjwal Kshirsagar 4154. Guide: Mahesh Sapte. Review 3: 3 October 2026. The present deliverables are monitoring software, synthetic/model records and an unbuilt DC PCB design. AC metering, a measured appliance dataset, classifier training and measured backup validation remain development work.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User-confirmed expanded AC/DC scope and team details, 3 October 2026</a:t>
            </a:r>
            <a:endParaRPr/>
          </a:p>
          <a:p xmlns:a="http://schemas.openxmlformats.org/drawingml/2006/main">
            <a:pPr marL="0" lvl="0" indent="0" algn="l">
              <a:spcBef>
                <a:spcPts val="0"/>
              </a:spcBef>
              <a:spcAft>
                <a:spcPts val="0"/>
              </a:spcAft>
              <a:buNone/>
            </a:pPr>
            <a:r>
              <a:t>sih 2026 shubham.pptx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primary application is household appliance energy estimation. Household sockets provide AC; batteries store DC, so these require different acquisition paths. The main AC experiment first measures one selected appliance per session, then attempts controlled combinations. Recognition after training does not imply universal zero-configuration identification. The existing ESP32 firmware and local dashboard provide a DC monitoring foundation; neither currently acquires household AC data nor outputs trained appliance identities. AC identification/energy measurements can be developed while battery/inverter integration is still pending. The AC frontend must measure real power and energy through a documented protected sensing arrangement and isolated low-voltage data interface. A bare metering IC is not an isolated or enclosed meter.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wattsense/server.py</a:t>
            </a:r>
            <a:endParaRPr/>
          </a:p>
          <a:p xmlns:a="http://schemas.openxmlformats.org/drawingml/2006/main">
            <a:pPr marL="0" lvl="0" indent="0" algn="l">
              <a:spcBef>
                <a:spcPts val="0"/>
              </a:spcBef>
              <a:spcAft>
                <a:spcPts val="0"/>
              </a:spcAft>
              <a:buNone/>
            </a:pPr>
            <a:r>
              <a:t>https://www.analog.com/en/products/ade9153a.html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 et al. use captured AC voltage-current trajectories. A low-rate RMS/real-power meter alone does not provide those waveforms; the planned first classifier uses slow power features appropriate to the selected meter.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expanded scope keeps household AC appliance estimation central and DC battery monitoring as a supporting subsystem. NILM and battery monitoring are established prior work. The academic contribution is a reproducible implementation and independent evaluation of a selected-appliance system, not a claim of a new universal recognition algorithm. Similar power signatures, different operating states and simultaneous transitions can make aggregate attribution non-identifiable. Report UNKNOWN/ambiguous results. A high Random Forest probability alone is not proof that an unseen appliance belongs to a known class. Start with controlled individual recordings before mixtures; report inference uncertainty and reference measurements separately. Slow AC-meter telemetry must not be described as harmonic or V-I waveform sensing.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.analysis/review3-signature/literature.json: Athanasiadis, Mollel, Jaime, Xiang and Li</a:t>
            </a:r>
            <a:endParaRPr/>
          </a:p>
          <a:p xmlns:a="http://schemas.openxmlformats.org/drawingml/2006/main">
            <a:pPr marL="0" lvl="0" indent="0" algn="l">
              <a:spcBef>
                <a:spcPts val="0"/>
              </a:spcBef>
              <a:spcAft>
                <a:spcPts val="0"/>
              </a:spcAft>
              <a:buNone/>
            </a:pPr>
            <a:r>
              <a:t>https://scikit-learn.org/stable/modules/generated/sklearn.ensemble.RandomForestClassifier.html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Recognition is a planned supervised-learning task. Random Forest in local Python is the initial candidate; compare it with a Decision Tree and a transparent profile-matching baseline before choosing on independent data. Labels must be the actual connected appliance and operating state. Training/tuning/test groups are whole recording sessions, not neighbouring windows. The initial 4–6 appliance types must match the selected AC meter and supervised test setup ratings; products are not selected yet. Individual-appliance readings establish profiles and ground truth. Aggregate per-appliance Wh is a later inferred result and must be evaluated against separately metered references. AC energy estimates integrate measured real power, not apparent power. Runtime uses a qualified battery energy basis and appropriate demand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https://scikit-learn.org/stable/modules/generated/sklearn.ensemble.RandomForestClassifier.html</a:t>
            </a:r>
            <a:endParaRPr/>
          </a:p>
          <a:p xmlns:a="http://schemas.openxmlformats.org/drawingml/2006/main">
            <a:pPr marL="0" lvl="0" indent="0" algn="l">
              <a:spcBef>
                <a:spcPts val="0"/>
              </a:spcBef>
              <a:spcAft>
                <a:spcPts val="0"/>
              </a:spcAft>
              <a:buNone/>
            </a:pPr>
            <a:r>
              <a:t>https://scikit-learn.org/stable/modules/generated/sklearn.model_selection.GroupKFold.html</a:t>
            </a:r>
            <a:endParaRPr/>
          </a:p>
          <a:p xmlns:a="http://schemas.openxmlformats.org/drawingml/2006/main">
            <a:pPr marL="0" lvl="0" indent="0" algn="l">
              <a:spcBef>
                <a:spcPts val="0"/>
              </a:spcBef>
              <a:spcAft>
                <a:spcPts val="0"/>
              </a:spcAft>
              <a:buNone/>
            </a:pPr>
            <a:r>
              <a:t>.analysis/review3-signature/literature.json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diagram describes proposed information flow, not a mains wiring diagram. AC source or inverter output feeds an appropriately rated enclosed AC metering arrangement and selected household appliances. Use a documented isolated data interface to the ESP32/USB/local Python system. CT current sensing alone does not measure real power; the meter also needs an appropriate voltage reference. RMS voltage x RMS current is apparent power; active energy requires real power integration or qualified meter Wh registers. Optional PF features depend on the selected meter. ADE9153A is cited only as an example of AC metrology capability, not the chosen component or a claim that a bare chip has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existing Rev B PCB uses non-isolated INA219 channels and is limited to a 2 A battery path and a 1.5 A continuous 5 V rail. It cannot connect to mains or carry a typical household inverter battery current. A final backup experiment needs a separately rated sensor covering the whole battery discharge/charge path, or trustworthy UPS telemetry and independently established usable energy. Bypassing the inverter around Rev B means its U1 does not see whole-pack current and cannot estimate whole-pack SOC. The existing DC board remains a bounded low-power battery bench/firmware foundation; four layers do not increase its current or voltage ratings.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Runtime is approximately usable battery Wh / mean battery-side demand W under a stated load profile and normal reserve/cutoff endpoint. If battery-side demand is measured, inverter loss and idle consumption are already included and must not be added again. If demand is inferred from AC power, use a documented conversion-loss/idle model with clear efficiency definitions. Never assume the proposed LiFePO4 pack is compatible with a lead-acid UPS charger. Use a documented compatible borrowed UPS/inverter system first. Main AC identification works without an available backup battery; backup output remains unavailable until its reference/data are valid. AC acquisition and this combined estimator are not yet implemented.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hardware/PCB_REQUIREMENTS.md</a:t>
            </a:r>
            <a:endParaRPr/>
          </a:p>
          <a:p xmlns:a="http://schemas.openxmlformats.org/drawingml/2006/main">
            <a:pPr marL="0" lvl="0" indent="0" algn="l">
              <a:spcBef>
                <a:spcPts val="0"/>
              </a:spcBef>
              <a:spcAft>
                <a:spcPts val="0"/>
              </a:spcAft>
              <a:buNone/>
            </a:pPr>
            <a:r>
              <a:t>firmware/include/config.h</a:t>
            </a:r>
            <a:endParaRPr/>
          </a:p>
          <a:p xmlns:a="http://schemas.openxmlformats.org/drawingml/2006/main">
            <a:pPr marL="0" lvl="0" indent="0" algn="l">
              <a:spcBef>
                <a:spcPts val="0"/>
              </a:spcBef>
              <a:spcAft>
                <a:spcPts val="0"/>
              </a:spcAft>
              <a:buNone/>
            </a:pPr>
            <a:r>
              <a:t>https://www.ti.com/product/INA219</a:t>
            </a:r>
            <a:endParaRPr/>
          </a:p>
          <a:p xmlns:a="http://schemas.openxmlformats.org/drawingml/2006/main">
            <a:pPr marL="0" lvl="0" indent="0" algn="l">
              <a:spcBef>
                <a:spcPts val="0"/>
              </a:spcBef>
              <a:spcAft>
                <a:spcPts val="0"/>
              </a:spcAft>
              <a:buNone/>
            </a:pPr>
            <a:r>
              <a:t>https://www.analog.com/en/products/ade9153a.html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No physical AC signature dataset has been collected. First qualify a selected meter and its interface: minimum detectable real-power changes, actual update intervals, timestamps, resets, units and reference error. Select 4–6 compatible appliance types and record different operating modes and repeated sessions. The initial recognition target is one known appliance at a time. Ground truth comes from known connections and independent metering. Test unseen appliances and controlled combinations after the individual baseline. Whole sessions must be held out; ensure each known class is represented in suitable training sessions. Meter data at slow update rates cannot validate sub-cycle startup waveforms or harmonic signatures. Record calibration, meter model, sample timing, supply/UPS conditions and whether data are measured, public or synthetic. Published AC datasets may support an explicitly separate algorithm study; they do not validate our meter or hardware. The existing firmware 10 Hz / approximately 1 Hz rates apply only to the current DC path. New AC timing remains unselected and must be measured.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https://scikit-learn.org/stable/modules/generated/sklearn.model_selection.GroupKFold.html</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.analysis/review3-signature/literature.json: Mollel and Xiang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30 September audit checks the DC/software/CAD foundation only. It is not AC metering, a trained classifier, inferred household appliance energy, or a physical UPS runtime result. Report measured aggregate energy separately from inferred appliance attribution. Validate attribution against independent per-appliance references and keep any unattributed residual visible. Use real W or independently checked Wh registers; integral Wh = sum(real W x elapsed seconds)/3600. Report confusion matrices and macro F1, unknown-load false acceptance and calibration error. Similar or overlapping profiles can remain ambiguous; do not claim arbitrary household disaggregation. For backup, qualify usable energy, whole-battery measurement coverage, capacity/reference, normal reserve/cutoff and variable demand. Compare prediction with repeated observed backup runs using the same endpoint and conditions. No accuracy, energy-saving percentage, lifetime extension or universal appliance compatibility is achieved yet.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https://www.analog.com/en/products/ade9153a.html</a:t>
            </a:r>
            <a:endParaRPr/>
          </a:p>
          <a:p xmlns:a="http://schemas.openxmlformats.org/drawingml/2006/main">
            <a:pPr marL="0" lvl="0" indent="0" algn="l">
              <a:spcBef>
                <a:spcPts val="0"/>
              </a:spcBef>
              <a:spcAft>
                <a:spcPts val="0"/>
              </a:spcAft>
              <a:buNone/>
            </a:pPr>
            <a:r>
              <a:t>.analysis/review3-signature/literature.json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expanded household AC scope is the current plan. Start with AC metering and a measured selected-appliance dataset, independently of backup availability. Use the existing DC software/CAD as an engineering foundation, not proof of an AC prototype. Borrow an enclosed meter, reference instrument and documented compatible UPS/inverter where possible. Do not route a high-current inverter through the existing 2 A Rev B battery path. Select separately rated battery sensing or valid telemetry before whole-backup estimates. The budget remains below INR 10,000, but the old INR 9,700 DC allocation did not include AC metering or an inverter and does not establish affordability for this expansion. Exact delivered quotes, ratings and equipment access remain pending. Prioritise the AC energy-signature deliverable, defer solar and avoid unnecessary new custom power PCBs. The months are proposed milestones; final submission follows the department schedule.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User-authorized scope expansion, 3 October 2026</a:t>
            </a:r>
            <a:endParaRPr/>
          </a:p>
          <a:p xmlns:a="http://schemas.openxmlformats.org/drawingml/2006/main">
            <a:pPr marL="0" lvl="0" indent="0" algn="l">
              <a:spcBef>
                <a:spcPts val="0"/>
              </a:spcBef>
              <a:spcAft>
                <a:spcPts val="0"/>
              </a:spcAft>
              <a:buNone/>
            </a:pPr>
            <a:r>
              <a:t>hardware/PCB_REQUIREMENTS.md</a:t>
            </a:r>
            <a:endParaRPr/>
          </a:p>
          <a:p xmlns:a="http://schemas.openxmlformats.org/drawingml/2006/main">
            <a:pPr marL="0" lvl="0" indent="0" algn="l">
              <a:spcBef>
                <a:spcPts val="0"/>
              </a:spcBef>
              <a:spcAft>
                <a:spcPts val="0"/>
              </a:spcAft>
              <a:buNone/>
            </a:pPr>
            <a:r>
              <a:t>hardware/BUYING_PLAN_PUNE.md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primary deliverable is a measured household AC signature library and evaluated load-energy estimation. A separately rated DC battery/UPS subsystem adds backup-time estimates after qualification. The next practical milestone is a validated AC meter/interface and labelled appliance recordings, followed by baseline/model comparisons and uncertainty handling. Current AC hardware, classifier training and physical backup validation are 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3169ab885d41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045ae9ab2c455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17e72fec11247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03c94c707e3442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1c2f66b4adb44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04794dcf1047f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b711012e8ce412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25a8e41a01e45f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92427de5594426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1d233f2e9f54fe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e24182033808481f"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523F81C0-FACC-4CE4-9985-847DB2C54211}"/>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9BB0F678-3725-48CE-A662-88012520A080}"/>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DF8E116F-05BF-4393-B057-4C39EC2DF8B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772481FD-C95C-4E07-95AC-743AE1B4E7DD}"/>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07D356DF-0743-43CE-89E3-F629DDD966B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903DDB67-C972-47F7-BC86-100F862DF7E0}"/>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B96D26BF-6171-400F-8EC7-97CA30416F1C}"/>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037AC9EE-916E-4597-A993-27FBE704E3B2}"/>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1A04E397-50E4-43A2-B348-B5C82A63CF7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F8D27892-4C40-4B6B-9E53-C9412EA1F04F}"/>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5BE2862D-9734-4453-A181-4A6F0CDCA8B2}"/>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60006DDE-A4E5-4CBA-A63A-E6F7BBBC4BFC}"/>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CDB6708E-1319-4DC4-A34A-DA1688FE8A8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6DF6937A-4D48-470E-8D96-9D16779C3A46}"/>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B26558BA-F46E-49F2-8A25-7BD710BA1AF2}"/>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D4486FAE-E36C-483C-939C-54FBCAC7B5A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E2ACF709-6E0B-44DB-8DE1-B6ABE81CDB94}"/>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151F4382-2723-43D2-9A0D-F436CFD967B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94C03FE4-EA33-4D3A-B15F-78263522136E}"/>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A516A97E-4FB1-4783-9992-4D2BC4CFB98D}"/>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3DB6D31A-4BC6-49EE-9A23-89168675C58A}"/>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D2E295CE-5952-44FD-ACBF-24BDA2DE06B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D9887563-64CF-4123-AF09-F4B217377DEC}"/>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70F814D0-F72E-480D-BE2E-FE2E3EB16A90}"/>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F820956B-105E-4054-8C68-0C41410FE0F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2FE12AD0-B76A-4C52-8A71-1617C3C8D846}"/>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BA62FE3D-6FD1-409A-B6A8-BF71EA6D5D13}"/>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F798C3D7-4673-43EF-AEC1-5379DD7DB3F6}"/>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F27FB3B2-40DF-4FFC-B435-4924FB3EE33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494aeaa6e6408e" /><Relationship Type="http://schemas.openxmlformats.org/officeDocument/2006/relationships/slideLayout" Target="/ppt/slideLayouts/slideLayout1.xml" Id="R726df0047701485a" /><Relationship Type="http://schemas.openxmlformats.org/officeDocument/2006/relationships/slideLayout" Target="/ppt/slideLayouts/slideLayout2.xml" Id="Re4ad509ed8994095" /><Relationship Type="http://schemas.openxmlformats.org/officeDocument/2006/relationships/slideLayout" Target="/ppt/slideLayouts/slideLayout3.xml" Id="R895d38a9a6dc441b" /><Relationship Type="http://schemas.openxmlformats.org/officeDocument/2006/relationships/slideLayout" Target="/ppt/slideLayouts/slideLayout4.xml" Id="R7c18adb207174728" /><Relationship Type="http://schemas.openxmlformats.org/officeDocument/2006/relationships/slideLayout" Target="/ppt/slideLayouts/slideLayout5.xml" Id="R76de21fb51464600" /><Relationship Type="http://schemas.openxmlformats.org/officeDocument/2006/relationships/slideLayout" Target="/ppt/slideLayouts/slideLayout6.xml" Id="R373663b95a214936" /><Relationship Type="http://schemas.openxmlformats.org/officeDocument/2006/relationships/slideLayout" Target="/ppt/slideLayouts/slideLayout7.xml" Id="Rd4b20717820a4194" /><Relationship Type="http://schemas.openxmlformats.org/officeDocument/2006/relationships/slideLayout" Target="/ppt/slideLayouts/slideLayout8.xml" Id="R601202a5e00e47b4" /><Relationship Type="http://schemas.openxmlformats.org/officeDocument/2006/relationships/slideLayout" Target="/ppt/slideLayouts/slideLayout9.xml" Id="R580b91f39a044145" /><Relationship Type="http://schemas.openxmlformats.org/officeDocument/2006/relationships/slideLayout" Target="/ppt/slideLayouts/slideLayout10.xml" Id="R81caa30db7cf40fd"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c625cde88e54795" /><Relationship Type="http://schemas.openxmlformats.org/officeDocument/2006/relationships/slideLayout" Target="/ppt/slideLayouts/slideLayout11.xml" Id="Rac31a65b41ec469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18CF8568-4456-499B-B6ED-C829390A30B6}"/>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96E2DB09-594F-48F2-85A9-727B5B47092E}"/>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EC49F0F6-20BF-447F-AE13-DC74D89E015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26df0047701485a"/>
    <p:sldLayoutId xmlns:r="http://schemas.openxmlformats.org/officeDocument/2006/relationships" id="2147483650" r:id="Re4ad509ed8994095"/>
    <p:sldLayoutId xmlns:r="http://schemas.openxmlformats.org/officeDocument/2006/relationships" id="2147483651" r:id="R895d38a9a6dc441b"/>
    <p:sldLayoutId xmlns:r="http://schemas.openxmlformats.org/officeDocument/2006/relationships" id="2147483652" r:id="R7c18adb207174728"/>
    <p:sldLayoutId xmlns:r="http://schemas.openxmlformats.org/officeDocument/2006/relationships" id="2147483653" r:id="R76de21fb51464600"/>
    <p:sldLayoutId xmlns:r="http://schemas.openxmlformats.org/officeDocument/2006/relationships" id="2147483654" r:id="R373663b95a214936"/>
    <p:sldLayoutId xmlns:r="http://schemas.openxmlformats.org/officeDocument/2006/relationships" id="2147483655" r:id="Rd4b20717820a4194"/>
    <p:sldLayoutId xmlns:r="http://schemas.openxmlformats.org/officeDocument/2006/relationships" id="2147483656" r:id="R601202a5e00e47b4"/>
    <p:sldLayoutId xmlns:r="http://schemas.openxmlformats.org/officeDocument/2006/relationships" id="2147483657" r:id="R580b91f39a044145"/>
    <p:sldLayoutId xmlns:r="http://schemas.openxmlformats.org/officeDocument/2006/relationships" id="2147483658" r:id="R81caa30db7cf40fd"/>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229040EF-3E2B-470A-A02F-B53CE217223B}"/>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3EFEF65C-2C57-4898-8AF0-1BD983BE87E2}"/>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408B09C0-7478-4D11-A0D9-86151EBCE355}"/>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E79233F5-8B5E-4059-BF9C-6FCA5FEF96E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ac31a65b41ec4691"/>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eab2f7a08145d0" /><Relationship Type="http://schemas.openxmlformats.org/officeDocument/2006/relationships/image" Target="/ppt/media/image.png" Id="Ref644f1537434cc3" /><Relationship Type="http://schemas.openxmlformats.org/officeDocument/2006/relationships/image" Target="/ppt/media/image2.png" Id="R3d486e42e59d4414" /><Relationship Type="http://schemas.openxmlformats.org/officeDocument/2006/relationships/notesSlide" Target="/ppt/notesSlides/notesSlide1.xml" Id="R068454f9908d40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6572dc8e40344d73" /><Relationship Type="http://schemas.openxmlformats.org/officeDocument/2006/relationships/notesSlide" Target="/ppt/notesSlides/notesSlide2.xml" Id="R5732af50d12546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afa5f482fd24d31" /><Relationship Type="http://schemas.openxmlformats.org/officeDocument/2006/relationships/notesSlide" Target="/ppt/notesSlides/notesSlide3.xml" Id="Rb8cab1610c7c47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21fa0b6c183469b" /><Relationship Type="http://schemas.openxmlformats.org/officeDocument/2006/relationships/notesSlide" Target="/ppt/notesSlides/notesSlide4.xml" Id="R98575472ba4643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da485b36f3a4dc4" /><Relationship Type="http://schemas.openxmlformats.org/officeDocument/2006/relationships/notesSlide" Target="/ppt/notesSlides/notesSlide5.xml" Id="R4f3b91df22194c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e1242bea1e949d1" /><Relationship Type="http://schemas.openxmlformats.org/officeDocument/2006/relationships/notesSlide" Target="/ppt/notesSlides/notesSlide6.xml" Id="Rc0b12b5cff774b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a037839972544d7" /><Relationship Type="http://schemas.openxmlformats.org/officeDocument/2006/relationships/notesSlide" Target="/ppt/notesSlides/notesSlide7.xml" Id="Rc9454fd183394b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1f570db7cb244a9" /><Relationship Type="http://schemas.openxmlformats.org/officeDocument/2006/relationships/notesSlide" Target="/ppt/notesSlides/notesSlide8.xml" Id="R5afc049e28f745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f4dc8cbd1e84aee" /><Relationship Type="http://schemas.openxmlformats.org/officeDocument/2006/relationships/notesSlide" Target="/ppt/notesSlides/notesSlide9.xml" Id="Re3f86fc6e8af48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515d07569c44929" /><Relationship Type="http://schemas.openxmlformats.org/officeDocument/2006/relationships/notesSlide" Target="/ppt/notesSlides/notesSlide10.xml" Id="R354d20b1d2f14d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2dacff7b33a4637" /><Relationship Type="http://schemas.openxmlformats.org/officeDocument/2006/relationships/notesSlide" Target="/ppt/notesSlides/notesSlide11.xml" Id="R30b30d9ee4c74d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3e0b187b8cd4232" /><Relationship Type="http://schemas.openxmlformats.org/officeDocument/2006/relationships/notesSlide" Target="/ppt/notesSlides/notesSlide12.xml" Id="R5830455633824a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2b4cc6256c640ee" /><Relationship Type="http://schemas.openxmlformats.org/officeDocument/2006/relationships/hyperlink" Target="https://doi.org/10.3390/en14030767" TargetMode="External" Id="Rf681f893afb54a2e" /><Relationship Type="http://schemas.openxmlformats.org/officeDocument/2006/relationships/hyperlink" Target="https://doi.org/10.3390/s23104845" TargetMode="External" Id="Ree22ec8d87884337" /><Relationship Type="http://schemas.openxmlformats.org/officeDocument/2006/relationships/hyperlink" Target="https://doi.org/10.3390/inventions11020029" TargetMode="External" Id="Rf0f90ff905f0459a" /><Relationship Type="http://schemas.openxmlformats.org/officeDocument/2006/relationships/hyperlink" Target="https://doi.org/10.3390/en19081883" TargetMode="External" Id="Rfab579b1d53e4272" /><Relationship Type="http://schemas.openxmlformats.org/officeDocument/2006/relationships/hyperlink" Target="https://doi.org/10.3390/en19133131" TargetMode="External" Id="R10e4ba20c65149e2" /><Relationship Type="http://schemas.openxmlformats.org/officeDocument/2006/relationships/hyperlink" Target="https://doi.org/10.3390/en14144074" TargetMode="External" Id="R182beefead7c47ad" /><Relationship Type="http://schemas.openxmlformats.org/officeDocument/2006/relationships/hyperlink" Target="https://doi.org/10.1016/j.energy.2017.10.043" TargetMode="External" Id="R415d4558b3154d8c" /><Relationship Type="http://schemas.openxmlformats.org/officeDocument/2006/relationships/hyperlink" Target="https://doi.org/10.3390/en13071811" TargetMode="External" Id="R7524034f171b4ebe" /><Relationship Type="http://schemas.openxmlformats.org/officeDocument/2006/relationships/hyperlink" Target="https://doi.org/10.3390/en14041054" TargetMode="External" Id="R4af346844cfd4d5d" /><Relationship Type="http://schemas.openxmlformats.org/officeDocument/2006/relationships/hyperlink" Target="https://doi.org/10.3390/en14133733" TargetMode="External" Id="R527272df638b476b" /><Relationship Type="http://schemas.openxmlformats.org/officeDocument/2006/relationships/hyperlink" Target="https://doi.org/10.3390/en15218172" TargetMode="External" Id="R63ad9a840f76474a" /><Relationship Type="http://schemas.openxmlformats.org/officeDocument/2006/relationships/hyperlink" Target="https://doi.org/10.3390/en16145558" TargetMode="External" Id="R49d9205b91b34ed0" /><Relationship Type="http://schemas.openxmlformats.org/officeDocument/2006/relationships/hyperlink" Target="https://doi.org/10.3390/batteries9010043" TargetMode="External" Id="Rb9f7b43d4ffa4e9a" /><Relationship Type="http://schemas.openxmlformats.org/officeDocument/2006/relationships/hyperlink" Target="https://doi.org/10.3390/electronics13214256" TargetMode="External" Id="Rff130e2a90b64c79" /><Relationship Type="http://schemas.openxmlformats.org/officeDocument/2006/relationships/hyperlink" Target="https://doi.org/10.18618/REP.e202521" TargetMode="External" Id="R41ea359a8f844f92" /><Relationship Type="http://schemas.openxmlformats.org/officeDocument/2006/relationships/hyperlink" Target="https://doi.org/10.1016/j.egyr.2020.11.030" TargetMode="External" Id="Rdb16e23b4bb24685" /><Relationship Type="http://schemas.openxmlformats.org/officeDocument/2006/relationships/hyperlink" Target="https://doi.org/10.1049/stg2.12151" TargetMode="External" Id="R3373ba4f0b84458f" /><Relationship Type="http://schemas.openxmlformats.org/officeDocument/2006/relationships/hyperlink" Target="https://doi.org/10.3390/electronics10131562" TargetMode="External" Id="R8f2b39c72a244b50" /><Relationship Type="http://schemas.openxmlformats.org/officeDocument/2006/relationships/hyperlink" Target="https://doi.org/10.35784/iapgos.5320" TargetMode="External" Id="R24fe2ddaa3e04299" /><Relationship Type="http://schemas.openxmlformats.org/officeDocument/2006/relationships/hyperlink" Target="https://doi.org/10.3390/en16062912" TargetMode="External" Id="R447cbd32436744f1" /><Relationship Type="http://schemas.openxmlformats.org/officeDocument/2006/relationships/notesSlide" Target="/ppt/notesSlides/notesSlide13.xml" Id="R8012de58302d4c6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aa81b3ff32e4964" /><Relationship Type="http://schemas.openxmlformats.org/officeDocument/2006/relationships/notesSlide" Target="/ppt/notesSlides/notesSlide14.xml" Id="R6ad181d1a8fc4624"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217E15F9-B27B-4093-8A1C-8AF1B7B5CFE5}"/>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11B71EAD-05C4-475D-8F42-605147331B54}"/>
              </a:ext>
            </a:extLst>
          </p:cNvPr>
          <p:cNvSpPr>
            <a:spLocks xmlns:a="http://schemas.openxmlformats.org/drawingml/2006/main" noGrp="1"/>
          </p:cNvSpPr>
          <p:nvPr/>
        </p:nvSpPr>
        <p:spPr>
          <a:xfrm xmlns:a="http://schemas.openxmlformats.org/drawingml/2006/main">
            <a:off x="190500" y="1438275"/>
            <a:ext cx="8763000" cy="93345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3908B0E1-532D-4DD0-9358-3E8B37F247F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1" name="Google Shape;61;p1">
            <a:extLst xmlns:a="http://schemas.openxmlformats.org/drawingml/2006/main">
              <a:ext uri="{FF2B5EF4-FFF2-40B4-BE49-F238E27FC236}">
                <a16:creationId xmlns:a16="http://schemas.microsoft.com/office/drawing/2014/main" id="{A1FD0763-03D3-4EBA-9B89-80CF78E810D8}"/>
              </a:ext>
            </a:extLst>
          </p:cNvPr>
          <p:cNvSpPr>
            <a:spLocks xmlns:a="http://schemas.openxmlformats.org/drawingml/2006/main" noGrp="1"/>
          </p:cNvSpPr>
          <p:nvPr/>
        </p:nvSpPr>
        <p:spPr>
          <a:xfrm xmlns:a="http://schemas.openxmlformats.org/drawingml/2006/main">
            <a:off x="552450" y="4362450"/>
            <a:ext cx="4857750" cy="219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l">
              <a:lnSpc>
                <a:spcPct val="150000"/>
              </a:lnSpc>
              <a:spcBef>
                <a:spcPts val="0"/>
              </a:spcBef>
              <a:spcAft>
                <a:spcPts val="0"/>
              </a:spcAft>
              <a:buClr>
                <a:schemeClr val="dk1"/>
              </a:buClr>
              <a:buSzPts val="28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Name of Students</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Dhanesh Chaudhari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Yash Ahire (4101)</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Mrudula Pagar (4212)</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Ujjwal Kshirsagar (4154)</a:t>
            </a:r>
            <a:endParaRPr/>
          </a:p>
        </p:txBody>
      </p:sp>
      <p:sp>
        <p:nvSpPr>
          <p:cNvPr id="63" name="Google Shape;63;p1">
            <a:extLst xmlns:a="http://schemas.openxmlformats.org/drawingml/2006/main">
              <a:ext uri="{FF2B5EF4-FFF2-40B4-BE49-F238E27FC236}">
                <a16:creationId xmlns:a16="http://schemas.microsoft.com/office/drawing/2014/main" id="{F6286B5F-7E03-4A6A-BACF-D1A8B8BAC78C}"/>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ef644f1537434cc3">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CDE922C4-AA11-43D1-A28B-B0BDB387A5B3}"/>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3d486e42e59d4414">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F27CF449-21D3-4F8F-9E6C-5A81DCF7D8D5}"/>
              </a:ext>
            </a:extLst>
          </p:cNvPr>
          <p:cNvSpPr>
            <a:spLocks xmlns:a="http://schemas.openxmlformats.org/drawingml/2006/main" noGrp="1"/>
          </p:cNvSpPr>
          <p:nvPr/>
        </p:nvSpPr>
        <p:spPr>
          <a:xfrm xmlns:a="http://schemas.openxmlformats.org/drawingml/2006/main">
            <a:off x="2333625" y="3695700"/>
            <a:ext cx="447675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F9B3BC0D-86F5-4F0F-8296-0CE4859069C0}"/>
              </a:ext>
            </a:extLst>
          </p:cNvPr>
          <p:cNvSpPr>
            <a:spLocks xmlns:a="http://schemas.openxmlformats.org/drawingml/2006/main" noGrp="1"/>
          </p:cNvSpPr>
          <p:nvPr/>
        </p:nvSpPr>
        <p:spPr>
          <a:xfrm xmlns:a="http://schemas.openxmlformats.org/drawingml/2006/main">
            <a:off x="285750" y="2571750"/>
            <a:ext cx="8572500" cy="10668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Household Energy Signatures and Backup Runtime Estimation</a:t>
            </a:r>
            <a:endParaRPr sz="3200" b="1" i="0" u="none">
              <a:solidFill>
                <a:srgbClr val="7030A0"/>
              </a:solidFill>
              <a:latin typeface="Times New Roman"/>
              <a:ea typeface="Times New Roman"/>
              <a:cs typeface="Times New Roman"/>
            </a:endParaRPr>
          </a:p>
        </p:txBody>
      </p:sp>
      <p:sp>
        <p:nvSpPr>
          <p:cNvPr id="66" name="Guide and group">
            <a:extLst xmlns:a="http://schemas.openxmlformats.org/drawingml/2006/main">
              <a:ext uri="{FF2B5EF4-FFF2-40B4-BE49-F238E27FC236}">
                <a16:creationId xmlns:a16="http://schemas.microsoft.com/office/drawing/2014/main" id="{4CACEAC9-2FFC-4108-ADA0-71ACD46960F9}"/>
              </a:ext>
            </a:extLst>
          </p:cNvPr>
          <p:cNvSpPr>
            <a:spLocks xmlns:a="http://schemas.openxmlformats.org/drawingml/2006/main" noGrp="1"/>
          </p:cNvSpPr>
          <p:nvPr/>
        </p:nvSpPr>
        <p:spPr>
          <a:xfrm xmlns:a="http://schemas.openxmlformats.org/drawingml/2006/main">
            <a:off x="5572125" y="451485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Under the guidance of</a:t>
            </a:r>
          </a:p>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Mahesh Sapte</a:t>
            </a:r>
          </a:p>
          <a:p xmlns:a="http://schemas.openxmlformats.org/drawingml/2006/main">
            <a:r>
              <a:t/>
            </a:r>
          </a:p>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Group 7</a:t>
            </a:r>
          </a:p>
        </p:txBody>
      </p:sp>
    </p:spTree>
    <p:extLst>
      <p:ext uri="{BB962C8B-B14F-4D97-AF65-F5344CB8AC3E}">
        <p14:creationId xmlns:p14="http://schemas.microsoft.com/office/powerpoint/2010/main" val="7392187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EA4B0F39-ED2E-49AC-82C5-BB97DBFD48C9}"/>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8BB2C4F1-BBF5-4AAC-8028-F3A9089EE53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Signature definition">
            <a:extLst xmlns:a="http://schemas.openxmlformats.org/drawingml/2006/main">
              <a:ext uri="{FF2B5EF4-FFF2-40B4-BE49-F238E27FC236}">
                <a16:creationId xmlns:a16="http://schemas.microsoft.com/office/drawing/2014/main" id="{78095421-50F8-4176-A6BE-953C3D3886F7}"/>
              </a:ext>
            </a:extLst>
          </p:cNvPr>
          <p:cNvSpPr>
            <a:spLocks xmlns:a="http://schemas.openxmlformats.org/drawingml/2006/main" noGrp="1"/>
          </p:cNvSpPr>
          <p:nvPr/>
        </p:nvSpPr>
        <p:spPr>
          <a:xfrm xmlns:a="http://schemas.openxmlformats.org/drawingml/2006/main">
            <a:off x="762000" y="1219200"/>
            <a:ext cx="7677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An energy signature is an appliance’s electrical power pattern over time.</a:t>
            </a:r>
          </a:p>
        </p:txBody>
      </p:sp>
      <p:sp>
        <p:nvSpPr>
          <p:cNvPr id="74" name="Review status">
            <a:extLst xmlns:a="http://schemas.openxmlformats.org/drawingml/2006/main">
              <a:ext uri="{FF2B5EF4-FFF2-40B4-BE49-F238E27FC236}">
                <a16:creationId xmlns:a16="http://schemas.microsoft.com/office/drawing/2014/main" id="{9D0F5FE8-6B5E-4EE7-9C98-B865F6CA342F}"/>
              </a:ext>
            </a:extLst>
          </p:cNvPr>
          <p:cNvSpPr>
            <a:spLocks xmlns:a="http://schemas.openxmlformats.org/drawingml/2006/main" noGrp="1"/>
          </p:cNvSpPr>
          <p:nvPr/>
        </p:nvSpPr>
        <p:spPr>
          <a:xfrm xmlns:a="http://schemas.openxmlformats.org/drawingml/2006/main">
            <a:off x="876300" y="5676900"/>
            <a:ext cx="7610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Review 3: DC monitoring software and PCB design prepared.</a:t>
            </a:r>
          </a:p>
        </p:txBody>
      </p:sp>
      <p:sp>
        <p:nvSpPr>
          <p:cNvPr id="75" name="Next stage">
            <a:extLst xmlns:a="http://schemas.openxmlformats.org/drawingml/2006/main">
              <a:ext uri="{FF2B5EF4-FFF2-40B4-BE49-F238E27FC236}">
                <a16:creationId xmlns:a16="http://schemas.microsoft.com/office/drawing/2014/main" id="{555B1B32-D0AD-43D1-9DDE-E25050C8678B}"/>
              </a:ext>
            </a:extLst>
          </p:cNvPr>
          <p:cNvSpPr>
            <a:spLocks xmlns:a="http://schemas.openxmlformats.org/drawingml/2006/main" noGrp="1"/>
          </p:cNvSpPr>
          <p:nvPr/>
        </p:nvSpPr>
        <p:spPr>
          <a:xfrm xmlns:a="http://schemas.openxmlformats.org/drawingml/2006/main">
            <a:off x="876300" y="6029325"/>
            <a:ext cx="7610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Next stage: AC metering, signature training and measured validation.</a:t>
            </a:r>
          </a:p>
        </p:txBody>
      </p:sp>
      <p:sp>
        <p:nvSpPr>
          <p:cNvPr id="76" name="Project motivation">
            <a:extLst xmlns:a="http://schemas.openxmlformats.org/drawingml/2006/main">
              <a:ext uri="{FF2B5EF4-FFF2-40B4-BE49-F238E27FC236}">
                <a16:creationId xmlns:a16="http://schemas.microsoft.com/office/drawing/2014/main" id="{E3B87AE6-F9ED-4A23-A20B-6666D4AC0FCC}"/>
              </a:ext>
            </a:extLst>
          </p:cNvPr>
          <p:cNvSpPr>
            <a:spLocks xmlns:a="http://schemas.openxmlformats.org/drawingml/2006/main" noGrp="1"/>
          </p:cNvSpPr>
          <p:nvPr/>
        </p:nvSpPr>
        <p:spPr>
          <a:xfrm xmlns:a="http://schemas.openxmlformats.org/drawingml/2006/main">
            <a:off x="895350" y="2371725"/>
            <a:ext cx="74390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Household sockets supply AC; a backup battery supplies DC.</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Learn selected appliance signatures and estimate their energy use.</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Combine battery energy and demand to estimate available backup time.</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Connect AC metering and DC battery data through a local dashboard.</a:t>
            </a:r>
          </a:p>
        </p:txBody>
      </p:sp>
    </p:spTree>
    <p:extLst>
      <p:ext uri="{BB962C8B-B14F-4D97-AF65-F5344CB8AC3E}">
        <p14:creationId xmlns:p14="http://schemas.microsoft.com/office/powerpoint/2010/main" val="16785817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7726AD8F-1C64-44B6-A073-A502B738CBF4}"/>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39D07638-6598-4F28-B6C3-AB0D2E3CA86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Scalable Real-Time Non-Intrusive Load Monitoring System for the Estimation of Household Appliance Power Consumption</a:t>
                      </a:r>
                    </a:p>
                    <a:p>
                      <a:pPr algn="l">
                        <a:lnSpc>
                          <a:spcPct val="100000"/>
                        </a:lnSpc>
                        <a:buNone/>
                      </a:pPr>
                      <a:r>
                        <a:rPr sz="1275" b="0">
                          <a:solidFill>
                            <a:srgbClr val="000000"/>
                          </a:solidFill>
                          <a:latin typeface="Times New Roman"/>
                          <a:ea typeface="Times New Roman"/>
                          <a:cs typeface="Times New Roman"/>
                        </a:rPr>
                        <a:t>Athanasiadis et al., 2021</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Load energy estimation</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Events + CNN + power estimate</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Reported experimental evaluation</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Real-time consumption estimates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Transient data needed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2</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Explainability-Informed Feature Selection and Performance Prediction for Nonintrusive Load Monitoring</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Mollel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Unclear load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Decision trees + explanations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REFIT to UK-DALE transfer tests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Feature selection improves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Cross-house transfer needs testing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3</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Machine Learning Models for Non-Intrusive Load Monitoring: A Systematic Review and Meta-Analysis</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Jaime et al., 2026</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evaluation methods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PRISMA + meta-analysis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30 studies; 2017-2024 publications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Performance varies across study settings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Heterogeneous study methods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4</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Non-Intrusive Load Monitoring: A Systematic Review of Methods, Scenario-Specific Challenges, and Pathways to Practical Deployment</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Xiang et al., 2026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Practical deployment barriers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Event/state methods; scenario review</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Review of published NILM studies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Maps deployment needs and trade-offs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Unknown loads and transfer limits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5</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Non-Intrusive Load Identification Method Based on the Fusion of Steady-State Features and Lightweight Network</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Li et al., 2026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Similar load signatures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AC V-I + dual-branch network</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PLAID AC appliance recordings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Feature fusion aids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Requires AC waveforms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20494820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E1D03D9-3E46-4A47-AB8C-DD8942DF7326}"/>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1322C00D-8D2C-48BD-84F4-3F48F061C0A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Critical Look at Coulomb Counting Approach for State of Charge Estimation in Batteries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Movassagh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error build-up</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Quantifies four SOC error sources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7</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Online estimation of battery equivalent circuit model parameters and state of charge using decoupled least squares technique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Zhang et al., 2018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Actual pack data needed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Recursive State of Charge and State of Health Estimation Method for Lithium-Ion Batteries Based on Coulomb Counting and Open Circuit Voltage</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Gismero et al., 2020</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9</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Parameter Identification and State-of-Charge Estimation for Lithium-Ion Batteries Using Separated Time Scales and Extended Kalman Filter</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Yang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Separated RLS + EKF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10</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Implementing an Extended Kalman Filter for SoC Estimation of a Li-Ion Battery with Hysteresis: A Step-by-Step Guide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Rzepka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Circuit + hysteresis + EKF tuning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328325AA-EED6-41F3-BF9C-FD81795E0781}"/>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7CCA9B0D-2A40-4B37-BBC9-7750106A213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Experimentally Validated Coulomb Counting Method for Battery State-of-Charge Estimation under Variable Current Profiles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Zine et al., 2022</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Bench SOC workflow</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12</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Hybrid State of Charge Estimation of Lithium-Ion Battery Using the Coulomb Counting Method and an Adaptive Unscented Kalman Filter</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Fahmy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with changing conditions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State of Charge Estimation of LiFePO4 in Various Temperature Scenarios</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Wang et al., 2023</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plateau and temperature</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chamber / load tests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Includes temperature</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pack-specific data</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Toward Energy Efficient Battery State of Charge Estimation on Embedded Platforms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Turkmanović et al., 2024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15</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Electronic Load for Parameter Characterization in Equivalent Circuit Models of Lithium-Ion Batteries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Bampi et al., 2025</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Different test rig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C890AF60-8B19-4F47-B234-5CAB1E850CAB}"/>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3F6602DC-A04C-47BB-B34A-82D6108D83A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Priority-based low voltage DC microgrid system for rural electrification</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Marahatta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Limited rural energy supply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Priority switching + SCADA</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Laboratory solar-battery microgrid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Maintains essential-load service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Three-level solar system</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17</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Enhanced demand side management for solar-based isolated microgrid system: Load prioritisation and energy optimisation</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Rajbhandari et al., 2024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solar supply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Generation / load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Design of a Laboratory Scale Solar Microgrid Cyber-Physical System for Education</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Guo &amp; Kors, 2021</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Renewable energy teaching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Sensors, Raspberry Pi, SCADA</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Outdoor rig + student tests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Integrated educational platform</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 signature matching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19</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standalone DC microgrid energy management strategy using the battery state of charge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Yusubov &amp; Bekirova,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20</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Energy Management System (EMS) Based on Model Predictive Control (MPC) for an Isolated DC Microgrid</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Basantes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Hierarchical control + MPC</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14953708-870D-42D0-8B19-82C38E9446F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23ABCAA9-61FE-4B40-9920-495B859A6715}"/>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Research Gap / Problem Identification</a:t>
            </a:r>
            <a:endParaRPr/>
          </a:p>
        </p:txBody>
      </p:sp>
      <p:sp>
        <p:nvSpPr>
          <p:cNvPr id="82" name="Project contribution">
            <a:extLst xmlns:a="http://schemas.openxmlformats.org/drawingml/2006/main">
              <a:ext uri="{FF2B5EF4-FFF2-40B4-BE49-F238E27FC236}">
                <a16:creationId xmlns:a16="http://schemas.microsoft.com/office/drawing/2014/main" id="{E5DDE454-5C64-468D-BDC9-085AAA0AF3AE}"/>
              </a:ext>
            </a:extLst>
          </p:cNvPr>
          <p:cNvSpPr>
            <a:spLocks xmlns:a="http://schemas.openxmlformats.org/drawingml/2006/main" noGrp="1"/>
          </p:cNvSpPr>
          <p:nvPr/>
        </p:nvSpPr>
        <p:spPr>
          <a:xfrm xmlns:a="http://schemas.openxmlformats.org/drawingml/2006/main">
            <a:off x="876300" y="5629275"/>
            <a:ext cx="75914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Proposed contribution: link household appliance signatures, energy use and available backup.</a:t>
            </a:r>
          </a:p>
        </p:txBody>
      </p:sp>
      <p:sp>
        <p:nvSpPr>
          <p:cNvPr id="83" name="Research gap">
            <a:extLst xmlns:a="http://schemas.openxmlformats.org/drawingml/2006/main">
              <a:ext uri="{FF2B5EF4-FFF2-40B4-BE49-F238E27FC236}">
                <a16:creationId xmlns:a16="http://schemas.microsoft.com/office/drawing/2014/main" id="{3DD7E8C5-8B1A-4B12-82DB-4A7F662210F8}"/>
              </a:ext>
            </a:extLst>
          </p:cNvPr>
          <p:cNvSpPr>
            <a:spLocks xmlns:a="http://schemas.openxmlformats.org/drawingml/2006/main" noGrp="1"/>
          </p:cNvSpPr>
          <p:nvPr/>
        </p:nvSpPr>
        <p:spPr>
          <a:xfrm xmlns:a="http://schemas.openxmlformats.org/drawingml/2006/main">
            <a:off x="876300" y="1323975"/>
            <a:ext cx="75914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Published recognition results depend on sensors, sampling rate and dataset.</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Household appliance profiles can overlap or change across operating states.</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Unseen appliances and ambiguous combinations require an UNKNOWN response.</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Backup estimates depend on usable battery energy and inverter losses.</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Evaluate the complete AC/DC measurement chain and estimation errors.</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6BAFA4E9-41FA-453E-93F9-2467BAC9ECA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A2DE42AB-A3DA-4463-9222-CE3CC85B82B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A47311C3-303B-4002-92D3-EBD858D74BA5}"/>
              </a:ext>
            </a:extLst>
          </p:cNvPr>
          <p:cNvSpPr>
            <a:spLocks xmlns:a="http://schemas.openxmlformats.org/drawingml/2006/main" noGrp="1"/>
          </p:cNvSpPr>
          <p:nvPr/>
        </p:nvSpPr>
        <p:spPr>
          <a:xfrm xmlns:a="http://schemas.openxmlformats.org/drawingml/2006/main">
            <a:off x="1562100" y="2952750"/>
            <a:ext cx="6134100" cy="52387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81" name="Problem statement">
            <a:extLst xmlns:a="http://schemas.openxmlformats.org/drawingml/2006/main">
              <a:ext uri="{FF2B5EF4-FFF2-40B4-BE49-F238E27FC236}">
                <a16:creationId xmlns:a16="http://schemas.microsoft.com/office/drawing/2014/main" id="{E3BF1702-63FF-4CF6-B780-0151FA8464F7}"/>
              </a:ext>
            </a:extLst>
          </p:cNvPr>
          <p:cNvSpPr>
            <a:spLocks xmlns:a="http://schemas.openxmlformats.org/drawingml/2006/main" noGrp="1"/>
          </p:cNvSpPr>
          <p:nvPr/>
        </p:nvSpPr>
        <p:spPr>
          <a:xfrm xmlns:a="http://schemas.openxmlformats.org/drawingml/2006/main">
            <a:off x="800100" y="1133475"/>
            <a:ext cx="7667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Develop a system that learns household AC appliance signatures, estimates their energy consumption, and combines DC battery data with demand to estimate backup runtime.</a:t>
            </a:r>
          </a:p>
        </p:txBody>
      </p:sp>
      <p:sp>
        <p:nvSpPr>
          <p:cNvPr id="82" name="Objectives">
            <a:extLst xmlns:a="http://schemas.openxmlformats.org/drawingml/2006/main">
              <a:ext uri="{FF2B5EF4-FFF2-40B4-BE49-F238E27FC236}">
                <a16:creationId xmlns:a16="http://schemas.microsoft.com/office/drawing/2014/main" id="{1410965D-2773-46F1-9631-084198DF54E9}"/>
              </a:ext>
            </a:extLst>
          </p:cNvPr>
          <p:cNvSpPr>
            <a:spLocks xmlns:a="http://schemas.openxmlformats.org/drawingml/2006/main" noGrp="1"/>
          </p:cNvSpPr>
          <p:nvPr/>
        </p:nvSpPr>
        <p:spPr>
          <a:xfrm xmlns:a="http://schemas.openxmlformats.org/drawingml/2006/main">
            <a:off x="895350" y="3714750"/>
            <a:ext cx="758190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Measure AC real power and suitable DC battery signals.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Build labelled profiles for 4–6 selected household appliances.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Compare Random Forest, Decision Tree and profile matching.</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Estimate appliance energy and backup runtime, with uncertainty.</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Test unseen loads and errors on independent recording sessions.</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B7AA39D-A40A-44AE-ABAF-889A848DB83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05BCA293-2FF2-4BBF-9806-B1C8B954F2C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System Architecture</a:t>
            </a:r>
            <a:endParaRPr sz="1050"/>
          </a:p>
        </p:txBody>
      </p:sp>
      <p:sp>
        <p:nvSpPr>
          <p:cNvPr id="89" name="Expanded measurement scope">
            <a:extLst xmlns:a="http://schemas.openxmlformats.org/drawingml/2006/main">
              <a:ext uri="{FF2B5EF4-FFF2-40B4-BE49-F238E27FC236}">
                <a16:creationId xmlns:a16="http://schemas.microsoft.com/office/drawing/2014/main" id="{6A235953-8C7B-493F-A64C-9775ED168528}"/>
              </a:ext>
            </a:extLst>
          </p:cNvPr>
          <p:cNvSpPr>
            <a:spLocks xmlns:a="http://schemas.openxmlformats.org/drawingml/2006/main" noGrp="1"/>
          </p:cNvSpPr>
          <p:nvPr/>
        </p:nvSpPr>
        <p:spPr>
          <a:xfrm xmlns:a="http://schemas.openxmlformats.org/drawingml/2006/main">
            <a:off x="476250" y="1162050"/>
            <a:ext cx="8201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Household AC metering and a separately rated DC battery path</a:t>
            </a:r>
          </a:p>
        </p:txBody>
      </p:sp>
      <p:sp>
        <p:nvSpPr>
          <p:cNvPr id="90" name="AC metering">
            <a:extLst xmlns:a="http://schemas.openxmlformats.org/drawingml/2006/main">
              <a:ext uri="{FF2B5EF4-FFF2-40B4-BE49-F238E27FC236}">
                <a16:creationId xmlns:a16="http://schemas.microsoft.com/office/drawing/2014/main" id="{B9389A0E-817D-4729-ABD7-C345881547CA}"/>
              </a:ext>
            </a:extLst>
          </p:cNvPr>
          <p:cNvSpPr>
            <a:spLocks xmlns:a="http://schemas.openxmlformats.org/drawingml/2006/main" noGrp="1"/>
          </p:cNvSpPr>
          <p:nvPr/>
        </p:nvSpPr>
        <p:spPr>
          <a:xfrm xmlns:a="http://schemas.openxmlformats.org/drawingml/2006/main">
            <a:off x="457200" y="1990725"/>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AC meter</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Real W / Wh</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RMS voltage / current</a:t>
            </a:r>
          </a:p>
        </p:txBody>
      </p:sp>
      <p:sp>
        <p:nvSpPr>
          <p:cNvPr id="91" name="Signature engine">
            <a:extLst xmlns:a="http://schemas.openxmlformats.org/drawingml/2006/main">
              <a:ext uri="{FF2B5EF4-FFF2-40B4-BE49-F238E27FC236}">
                <a16:creationId xmlns:a16="http://schemas.microsoft.com/office/drawing/2014/main" id="{9EFFD7F6-4697-4991-939B-01D9E55D065C}"/>
              </a:ext>
            </a:extLst>
          </p:cNvPr>
          <p:cNvSpPr>
            <a:spLocks xmlns:a="http://schemas.openxmlformats.org/drawingml/2006/main" noGrp="1"/>
          </p:cNvSpPr>
          <p:nvPr/>
        </p:nvSpPr>
        <p:spPr>
          <a:xfrm xmlns:a="http://schemas.openxmlformats.org/drawingml/2006/main">
            <a:off x="3419475" y="1990725"/>
            <a:ext cx="2305050"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ESP32 / local Python</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Features + RF candidate</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Known / UNKNOWN</a:t>
            </a:r>
          </a:p>
        </p:txBody>
      </p:sp>
      <p:sp>
        <p:nvSpPr>
          <p:cNvPr id="92" name="Appliance energy">
            <a:extLst xmlns:a="http://schemas.openxmlformats.org/drawingml/2006/main">
              <a:ext uri="{FF2B5EF4-FFF2-40B4-BE49-F238E27FC236}">
                <a16:creationId xmlns:a16="http://schemas.microsoft.com/office/drawing/2014/main" id="{F416C6DA-4477-4C31-BD8B-C5F585621ECD}"/>
              </a:ext>
            </a:extLst>
          </p:cNvPr>
          <p:cNvSpPr>
            <a:spLocks xmlns:a="http://schemas.openxmlformats.org/drawingml/2006/main" noGrp="1"/>
          </p:cNvSpPr>
          <p:nvPr/>
        </p:nvSpPr>
        <p:spPr>
          <a:xfrm xmlns:a="http://schemas.openxmlformats.org/drawingml/2006/main">
            <a:off x="6381750" y="1990725"/>
            <a:ext cx="2305050"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Load-energy estimate</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Measured total +</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inferred appliance Wh</a:t>
            </a:r>
          </a:p>
        </p:txBody>
      </p:sp>
      <p:cxnSp>
        <p:nvCxnSpPr>
          <p:cNvPr id="111" name=""/>
          <p:cNvCxnSpPr>
            <a:stCxn xmlns:a="http://schemas.openxmlformats.org/drawingml/2006/main" id="90" idx="3"/>
            <a:endCxn xmlns:a="http://schemas.openxmlformats.org/drawingml/2006/main" id="91" idx="1"/>
          </p:cNvCxnSpPr>
          <p:nvPr/>
        </p:nvCxnSpPr>
        <p:spPr>
          <a:xfrm xmlns:a="http://schemas.openxmlformats.org/drawingml/2006/main">
            <a:off x="2762250" y="2547938"/>
            <a:ext cx="657225" cy="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12" name=""/>
          <p:cNvCxnSpPr>
            <a:stCxn xmlns:a="http://schemas.openxmlformats.org/drawingml/2006/main" id="91" idx="3"/>
            <a:endCxn xmlns:a="http://schemas.openxmlformats.org/drawingml/2006/main" id="92" idx="1"/>
          </p:cNvCxnSpPr>
          <p:nvPr/>
        </p:nvCxnSpPr>
        <p:spPr>
          <a:xfrm xmlns:a="http://schemas.openxmlformats.org/drawingml/2006/main">
            <a:off x="5724525" y="2547938"/>
            <a:ext cx="657225" cy="0"/>
          </a:xfrm>
          <a:prstGeom xmlns:a="http://schemas.openxmlformats.org/drawingml/2006/main" prst="straightConnector1">
            <a:avLst/>
          </a:prstGeom>
          <a:ln xmlns:a="http://schemas.openxmlformats.org/drawingml/2006/main" w="19050">
            <a:solidFill>
              <a:srgbClr val="333333"/>
            </a:solidFill>
            <a:tailEnd type="triangle" w="med" len="med"/>
          </a:ln>
        </p:spPr>
      </p:cxnSp>
      <p:sp>
        <p:nvSpPr>
          <p:cNvPr id="95" name="AC data interface">
            <a:extLst xmlns:a="http://schemas.openxmlformats.org/drawingml/2006/main">
              <a:ext uri="{FF2B5EF4-FFF2-40B4-BE49-F238E27FC236}">
                <a16:creationId xmlns:a16="http://schemas.microsoft.com/office/drawing/2014/main" id="{63B13928-F33D-48B3-BA21-05FD4097D698}"/>
              </a:ext>
            </a:extLst>
          </p:cNvPr>
          <p:cNvSpPr>
            <a:spLocks xmlns:a="http://schemas.openxmlformats.org/drawingml/2006/main" noGrp="1"/>
          </p:cNvSpPr>
          <p:nvPr/>
        </p:nvSpPr>
        <p:spPr>
          <a:xfrm xmlns:a="http://schemas.openxmlformats.org/drawingml/2006/main">
            <a:off x="2752725" y="1657350"/>
            <a:ext cx="771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275" b="0">
                <a:solidFill>
                  <a:srgbClr val="000000"/>
                </a:solidFill>
                <a:latin typeface="Times New Roman"/>
                <a:ea typeface="Times New Roman"/>
                <a:cs typeface="Times New Roman"/>
              </a:defRPr>
            </a:pPr>
            <a:r>
              <a:rPr sz="1275" b="0">
                <a:solidFill>
                  <a:srgbClr val="000000"/>
                </a:solidFill>
                <a:latin typeface="Times New Roman"/>
                <a:ea typeface="Times New Roman"/>
                <a:cs typeface="Times New Roman"/>
              </a:rPr>
              <a:t>Isolated data</a:t>
            </a:r>
          </a:p>
        </p:txBody>
      </p:sp>
      <p:sp>
        <p:nvSpPr>
          <p:cNvPr id="96" name="Battery monitor">
            <a:extLst xmlns:a="http://schemas.openxmlformats.org/drawingml/2006/main">
              <a:ext uri="{FF2B5EF4-FFF2-40B4-BE49-F238E27FC236}">
                <a16:creationId xmlns:a16="http://schemas.microsoft.com/office/drawing/2014/main" id="{DCAE28DA-4591-4BA6-9788-D65B32C6F0A8}"/>
              </a:ext>
            </a:extLst>
          </p:cNvPr>
          <p:cNvSpPr>
            <a:spLocks xmlns:a="http://schemas.openxmlformats.org/drawingml/2006/main" noGrp="1"/>
          </p:cNvSpPr>
          <p:nvPr/>
        </p:nvSpPr>
        <p:spPr>
          <a:xfrm xmlns:a="http://schemas.openxmlformats.org/drawingml/2006/main">
            <a:off x="457200" y="4019550"/>
            <a:ext cx="24193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Battery / UPS monitor</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Rated sensor / telemetry</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Usable Wh + DC demand</a:t>
            </a:r>
          </a:p>
        </p:txBody>
      </p:sp>
      <p:sp>
        <p:nvSpPr>
          <p:cNvPr id="97" name="Backup runtime">
            <a:extLst xmlns:a="http://schemas.openxmlformats.org/drawingml/2006/main">
              <a:ext uri="{FF2B5EF4-FFF2-40B4-BE49-F238E27FC236}">
                <a16:creationId xmlns:a16="http://schemas.microsoft.com/office/drawing/2014/main" id="{D28BF140-FBB0-4F7F-BEA1-A10FBF12F95D}"/>
              </a:ext>
            </a:extLst>
          </p:cNvPr>
          <p:cNvSpPr>
            <a:spLocks xmlns:a="http://schemas.openxmlformats.org/drawingml/2006/main" noGrp="1"/>
          </p:cNvSpPr>
          <p:nvPr/>
        </p:nvSpPr>
        <p:spPr>
          <a:xfrm xmlns:a="http://schemas.openxmlformats.org/drawingml/2006/main">
            <a:off x="3419475" y="4019550"/>
            <a:ext cx="2428875" cy="1114425"/>
          </a:xfrm>
          <a:prstGeom xmlns:a="http://schemas.openxmlformats.org/drawingml/2006/main" prst="rect">
            <a:avLst/>
          </a:prstGeom>
          <a:solidFill xmlns:a="http://schemas.openxmlformats.org/drawingml/2006/main">
            <a:srgbClr val="F0E7F8"/>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Backup estimator</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Battery-side demand</a:t>
            </a:r>
          </a:p>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or inverter-loss model</a:t>
            </a:r>
          </a:p>
        </p:txBody>
      </p:sp>
      <p:sp>
        <p:nvSpPr>
          <p:cNvPr id="98" name="Dashboard">
            <a:extLst xmlns:a="http://schemas.openxmlformats.org/drawingml/2006/main">
              <a:ext uri="{FF2B5EF4-FFF2-40B4-BE49-F238E27FC236}">
                <a16:creationId xmlns:a16="http://schemas.microsoft.com/office/drawing/2014/main" id="{AD8CA072-950B-4E83-AB6A-2C3600611CCB}"/>
              </a:ext>
            </a:extLst>
          </p:cNvPr>
          <p:cNvSpPr>
            <a:spLocks xmlns:a="http://schemas.openxmlformats.org/drawingml/2006/main" noGrp="1"/>
          </p:cNvSpPr>
          <p:nvPr/>
        </p:nvSpPr>
        <p:spPr>
          <a:xfrm xmlns:a="http://schemas.openxmlformats.org/drawingml/2006/main">
            <a:off x="6381750" y="4019550"/>
            <a:ext cx="2305050" cy="1114425"/>
          </a:xfrm>
          <a:prstGeom xmlns:a="http://schemas.openxmlformats.org/drawingml/2006/main" prst="rect">
            <a:avLst/>
          </a:prstGeom>
          <a:solidFill xmlns:a="http://schemas.openxmlformats.org/drawingml/2006/main">
            <a:srgbClr val="FFF0DD"/>
          </a:solidFill>
          <a:ln xmlns:a="http://schemas.openxmlformats.org/drawingml/2006/main" w="12383">
            <a:solidFill>
              <a:srgbClr val="333333"/>
            </a:solid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Local dashboard</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Appliance, energy</a:t>
            </a:r>
          </a:p>
          <a:p xmlns:a="http://schemas.openxmlformats.org/drawingml/2006/main">
            <a:pPr algn="ctr">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and backup estimates</a:t>
            </a:r>
          </a:p>
        </p:txBody>
      </p:sp>
      <p:cxnSp>
        <p:nvCxnSpPr>
          <p:cNvPr id="117" name=""/>
          <p:cNvCxnSpPr>
            <a:stCxn xmlns:a="http://schemas.openxmlformats.org/drawingml/2006/main" id="96" idx="3"/>
            <a:endCxn xmlns:a="http://schemas.openxmlformats.org/drawingml/2006/main" id="97" idx="1"/>
          </p:cNvCxnSpPr>
          <p:nvPr/>
        </p:nvCxnSpPr>
        <p:spPr>
          <a:xfrm xmlns:a="http://schemas.openxmlformats.org/drawingml/2006/main">
            <a:off x="2876550" y="4576763"/>
            <a:ext cx="542925" cy="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18" name=""/>
          <p:cNvCxnSpPr>
            <a:stCxn xmlns:a="http://schemas.openxmlformats.org/drawingml/2006/main" id="97" idx="3"/>
            <a:endCxn xmlns:a="http://schemas.openxmlformats.org/drawingml/2006/main" id="98" idx="1"/>
          </p:cNvCxnSpPr>
          <p:nvPr/>
        </p:nvCxnSpPr>
        <p:spPr>
          <a:xfrm xmlns:a="http://schemas.openxmlformats.org/drawingml/2006/main">
            <a:off x="5848350" y="4576763"/>
            <a:ext cx="533400" cy="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19" name=""/>
          <p:cNvCxnSpPr>
            <a:stCxn xmlns:a="http://schemas.openxmlformats.org/drawingml/2006/main" id="92" idx="2"/>
            <a:endCxn xmlns:a="http://schemas.openxmlformats.org/drawingml/2006/main" id="98" idx="0"/>
          </p:cNvCxnSpPr>
          <p:nvPr/>
        </p:nvCxnSpPr>
        <p:spPr>
          <a:xfrm xmlns:a="http://schemas.openxmlformats.org/drawingml/2006/main">
            <a:off x="7534275" y="3105150"/>
            <a:ext cx="0" cy="914400"/>
          </a:xfrm>
          <a:prstGeom xmlns:a="http://schemas.openxmlformats.org/drawingml/2006/main" prst="straightConnector1">
            <a:avLst/>
          </a:prstGeom>
          <a:ln xmlns:a="http://schemas.openxmlformats.org/drawingml/2006/main" w="19050">
            <a:solidFill>
              <a:srgbClr val="333333"/>
            </a:solidFill>
            <a:tailEnd type="triangle" w="med" len="med"/>
          </a:ln>
        </p:spPr>
      </p:cxnSp>
      <p:cxnSp>
        <p:nvCxnSpPr>
          <p:cNvPr id="120" name=""/>
          <p:cNvCxnSpPr>
            <a:stCxn xmlns:a="http://schemas.openxmlformats.org/drawingml/2006/main" id="90" idx="2"/>
            <a:endCxn xmlns:a="http://schemas.openxmlformats.org/drawingml/2006/main" id="97" idx="0"/>
          </p:cNvCxnSpPr>
          <p:nvPr/>
        </p:nvCxnSpPr>
        <p:spPr>
          <a:xfrm xmlns:a="http://schemas.openxmlformats.org/drawingml/2006/main">
            <a:off x="1609725" y="3105150"/>
            <a:ext cx="3024188" cy="914400"/>
          </a:xfrm>
          <a:prstGeom xmlns:a="http://schemas.openxmlformats.org/drawingml/2006/main" prst="bentConnector4">
            <a:avLst/>
          </a:prstGeom>
          <a:ln xmlns:a="http://schemas.openxmlformats.org/drawingml/2006/main" w="19050">
            <a:solidFill>
              <a:srgbClr val="333333"/>
            </a:solidFill>
            <a:tailEnd type="triangle" w="med" len="med"/>
          </a:ln>
        </p:spPr>
      </p:cxnSp>
      <p:sp>
        <p:nvSpPr>
          <p:cNvPr id="103" name="AC demand link">
            <a:extLst xmlns:a="http://schemas.openxmlformats.org/drawingml/2006/main">
              <a:ext uri="{FF2B5EF4-FFF2-40B4-BE49-F238E27FC236}">
                <a16:creationId xmlns:a16="http://schemas.microsoft.com/office/drawing/2014/main" id="{43C767B4-8921-4AC0-8474-A7AB78AD8268}"/>
              </a:ext>
            </a:extLst>
          </p:cNvPr>
          <p:cNvSpPr>
            <a:spLocks xmlns:a="http://schemas.openxmlformats.org/drawingml/2006/main" noGrp="1"/>
          </p:cNvSpPr>
          <p:nvPr/>
        </p:nvSpPr>
        <p:spPr>
          <a:xfrm xmlns:a="http://schemas.openxmlformats.org/drawingml/2006/main">
            <a:off x="2686050" y="3409950"/>
            <a:ext cx="10572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AC demand</a:t>
            </a:r>
          </a:p>
        </p:txBody>
      </p:sp>
      <p:sp>
        <p:nvSpPr>
          <p:cNvPr id="104" name="Expanded implementation status">
            <a:extLst xmlns:a="http://schemas.openxmlformats.org/drawingml/2006/main">
              <a:ext uri="{FF2B5EF4-FFF2-40B4-BE49-F238E27FC236}">
                <a16:creationId xmlns:a16="http://schemas.microsoft.com/office/drawing/2014/main" id="{A934D094-8561-473C-82A6-D289E53FBDA9}"/>
              </a:ext>
            </a:extLst>
          </p:cNvPr>
          <p:cNvSpPr>
            <a:spLocks xmlns:a="http://schemas.openxmlformats.org/drawingml/2006/main" noGrp="1"/>
          </p:cNvSpPr>
          <p:nvPr/>
        </p:nvSpPr>
        <p:spPr>
          <a:xfrm xmlns:a="http://schemas.openxmlformats.org/drawingml/2006/main">
            <a:off x="523875" y="5514975"/>
            <a:ext cx="81343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Prepared: DC sensing firmware, local dashboard and unbuilt Rev B CAD.</a:t>
            </a:r>
          </a:p>
          <a:p xmlns:a="http://schemas.openxmlformats.org/drawingml/2006/main">
            <a:pPr algn="l">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Proposed: AC meter/interface, signature model and rated backup integration.</a:t>
            </a:r>
          </a:p>
        </p:txBody>
      </p:sp>
    </p:spTree>
    <p:extLst>
      <p:ext uri="{BB962C8B-B14F-4D97-AF65-F5344CB8AC3E}">
        <p14:creationId xmlns:p14="http://schemas.microsoft.com/office/powerpoint/2010/main" val="9739856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2B0933CA-7526-4108-BF35-0DF97EE85242}"/>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30934795-354A-40AC-91FF-38AB74A3F90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Dataset / Data Collection</a:t>
            </a:r>
            <a:endParaRPr sz="1050"/>
          </a:p>
        </p:txBody>
      </p:sp>
      <p:graphicFrame>
        <p:nvGraphicFramePr>
          <p:cNvPr id="95" name=""/>
          <p:cNvGraphicFramePr/>
          <p:nvPr/>
        </p:nvGraphicFramePr>
        <p:xfrm>
          <a:off xmlns:a="http://schemas.openxmlformats.org/drawingml/2006/main" x="457200" y="1162050"/>
          <a:ext xmlns:a="http://schemas.openxmlformats.org/drawingml/2006/main" cx="8229600" cy="3790950"/>
        </p:xfrm>
        <a:graphic xmlns:a="http://schemas.openxmlformats.org/drawingml/2006/main">
          <a:graphicData uri="http://schemas.openxmlformats.org/drawingml/2006/table">
            <a:tbl>
              <a:tblPr/>
              <a:tblGrid>
                <a:gridCol w="2286000"/>
                <a:gridCol w="5943600"/>
              </a:tblGrid>
              <a:tr h="457200">
                <a:tc>
                  <a:txBody>
                    <a:bodyPr>
                      <a:noAutofit/>
                    </a:bodyPr>
                    <a:lstStyle/>
                    <a:p>
                      <a:pPr algn="l">
                        <a:lnSpc>
                          <a:spcPct val="100000"/>
                        </a:lnSpc>
                        <a:buNone/>
                      </a:pPr>
                      <a:r>
                        <a:rPr sz="1725" b="1">
                          <a:solidFill>
                            <a:srgbClr val="000000"/>
                          </a:solidFill>
                          <a:latin typeface="Times New Roman"/>
                          <a:ea typeface="Times New Roman"/>
                          <a:cs typeface="Times New Roman"/>
                        </a:rPr>
                        <a:t>Data item</a:t>
                      </a:r>
                    </a:p>
                  </a:txBody>
                  <a:tcPr marL="95250" marR="95250" marT="57150" marB="57150" anchor="ctr">
                    <a:solidFill>
                      <a:srgbClr val="F2F2F2"/>
                    </a:solidFill>
                  </a:tcPr>
                </a:tc>
                <a:tc>
                  <a:txBody>
                    <a:bodyPr>
                      <a:noAutofit/>
                    </a:bodyPr>
                    <a:lstStyle/>
                    <a:p>
                      <a:pPr algn="l">
                        <a:lnSpc>
                          <a:spcPct val="100000"/>
                        </a:lnSpc>
                        <a:buNone/>
                      </a:pPr>
                      <a:r>
                        <a:rPr sz="1725" b="1">
                          <a:solidFill>
                            <a:srgbClr val="000000"/>
                          </a:solidFill>
                          <a:latin typeface="Times New Roman"/>
                          <a:ea typeface="Times New Roman"/>
                          <a:cs typeface="Times New Roman"/>
                        </a:rPr>
                        <a:t>Collection plan</a:t>
                      </a:r>
                    </a:p>
                  </a:txBody>
                  <a:tcPr marL="95250" marR="95250" marT="57150" marB="57150" anchor="ctr">
                    <a:solidFill>
                      <a:srgbClr val="F2F2F2"/>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Initial dataset</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4–6 known household AC appliance types, one per run</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Recorded fields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Time, RMS V/I, real W, Wh, labels; PF if provided</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Conditions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Repeated modes and sessions; controlled combinations later</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Features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Real-power steps, mean, variation and operating duration</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Train / test split</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Separate sessions for training, tuning and final testing</a:t>
                      </a:r>
                    </a:p>
                  </a:txBody>
                  <a:tcPr marL="95250" marR="95250" marT="57150" marB="57150" anchor="ctr">
                    <a:solidFill>
                      <a:srgbClr val="FFFFFF"/>
                    </a:solidFill>
                  </a:tcPr>
                </a:tc>
              </a:tr>
            </a:tbl>
          </a:graphicData>
        </a:graphic>
      </p:graphicFrame>
      <p:sp>
        <p:nvSpPr>
          <p:cNvPr id="90" name="Sampling plan">
            <a:extLst xmlns:a="http://schemas.openxmlformats.org/drawingml/2006/main">
              <a:ext uri="{FF2B5EF4-FFF2-40B4-BE49-F238E27FC236}">
                <a16:creationId xmlns:a16="http://schemas.microsoft.com/office/drawing/2014/main" id="{C794FE62-2B73-4989-B15B-1291F5804B0C}"/>
              </a:ext>
            </a:extLst>
          </p:cNvPr>
          <p:cNvSpPr>
            <a:spLocks xmlns:a="http://schemas.openxmlformats.org/drawingml/2006/main" noGrp="1"/>
          </p:cNvSpPr>
          <p:nvPr/>
        </p:nvSpPr>
        <p:spPr>
          <a:xfrm xmlns:a="http://schemas.openxmlformats.org/drawingml/2006/main">
            <a:off x="523875" y="5114925"/>
            <a:ext cx="8115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AC features follow the selected meter’s verified update rate.</a:t>
            </a:r>
          </a:p>
          <a:p xmlns:a="http://schemas.openxmlformats.org/drawingml/2006/main">
            <a:pPr algn="l">
              <a:buNone/>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Existing DC acquisition: nominal 10 Hz; telemetry: approximately 1 Hz.</a:t>
            </a:r>
          </a:p>
        </p:txBody>
      </p:sp>
      <p:sp>
        <p:nvSpPr>
          <p:cNvPr id="91" name="Dataset status">
            <a:extLst xmlns:a="http://schemas.openxmlformats.org/drawingml/2006/main">
              <a:ext uri="{FF2B5EF4-FFF2-40B4-BE49-F238E27FC236}">
                <a16:creationId xmlns:a16="http://schemas.microsoft.com/office/drawing/2014/main" id="{ABBEF73D-75EC-4311-A3AF-F090E1E96109}"/>
              </a:ext>
            </a:extLst>
          </p:cNvPr>
          <p:cNvSpPr>
            <a:spLocks xmlns:a="http://schemas.openxmlformats.org/drawingml/2006/main" noGrp="1"/>
          </p:cNvSpPr>
          <p:nvPr/>
        </p:nvSpPr>
        <p:spPr>
          <a:xfrm xmlns:a="http://schemas.openxmlformats.org/drawingml/2006/main">
            <a:off x="523875" y="6000750"/>
            <a:ext cx="8115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725" b="1">
                <a:solidFill>
                  <a:srgbClr val="7030A0"/>
                </a:solidFill>
                <a:latin typeface="Times New Roman"/>
                <a:ea typeface="Times New Roman"/>
                <a:cs typeface="Times New Roman"/>
              </a:defRPr>
            </a:pPr>
            <a:r>
              <a:rPr sz="1725" b="1">
                <a:solidFill>
                  <a:srgbClr val="7030A0"/>
                </a:solidFill>
                <a:latin typeface="Times New Roman"/>
                <a:ea typeface="Times New Roman"/>
                <a:cs typeface="Times New Roman"/>
              </a:rPr>
              <a:t>AC data and classification accuracy remain to be measured.</a:t>
            </a:r>
          </a:p>
          <a:p xmlns:a="http://schemas.openxmlformats.org/drawingml/2006/main">
            <a:pPr algn="l">
              <a:buNone/>
              <a:defRPr sz="1725" b="1">
                <a:solidFill>
                  <a:srgbClr val="7030A0"/>
                </a:solidFill>
                <a:latin typeface="Times New Roman"/>
                <a:ea typeface="Times New Roman"/>
                <a:cs typeface="Times New Roman"/>
              </a:defRPr>
            </a:pPr>
            <a:r>
              <a:rPr sz="1725" b="1">
                <a:solidFill>
                  <a:srgbClr val="7030A0"/>
                </a:solidFill>
                <a:latin typeface="Times New Roman"/>
                <a:ea typeface="Times New Roman"/>
                <a:cs typeface="Times New Roman"/>
              </a:rPr>
              <a:t>Existing records demonstrate the DC monitoring foundation.</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93BA2D16-3C40-489F-BA96-67F96B185E7D}"/>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AA87530C-BB85-4CC7-A36D-74DC62135DB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Expected Outcomes and Evaluation</a:t>
            </a:r>
            <a:endParaRPr sz="1050"/>
          </a:p>
        </p:txBody>
      </p:sp>
      <p:graphicFrame>
        <p:nvGraphicFramePr>
          <p:cNvPr id="95" name=""/>
          <p:cNvGraphicFramePr/>
          <p:nvPr/>
        </p:nvGraphicFramePr>
        <p:xfrm>
          <a:off xmlns:a="http://schemas.openxmlformats.org/drawingml/2006/main" x="457200" y="1162050"/>
          <a:ext xmlns:a="http://schemas.openxmlformats.org/drawingml/2006/main" cx="8229600" cy="3790950"/>
        </p:xfrm>
        <a:graphic xmlns:a="http://schemas.openxmlformats.org/drawingml/2006/main">
          <a:graphicData uri="http://schemas.openxmlformats.org/drawingml/2006/table">
            <a:tbl>
              <a:tblPr/>
              <a:tblGrid>
                <a:gridCol w="2724150"/>
                <a:gridCol w="5505450"/>
              </a:tblGrid>
              <a:tr h="457200">
                <a:tc>
                  <a:txBody>
                    <a:bodyPr>
                      <a:noAutofit/>
                    </a:bodyPr>
                    <a:lstStyle/>
                    <a:p>
                      <a:pPr algn="l">
                        <a:lnSpc>
                          <a:spcPct val="100000"/>
                        </a:lnSpc>
                        <a:buNone/>
                      </a:pPr>
                      <a:r>
                        <a:rPr sz="1725" b="1">
                          <a:solidFill>
                            <a:srgbClr val="000000"/>
                          </a:solidFill>
                          <a:latin typeface="Times New Roman"/>
                          <a:ea typeface="Times New Roman"/>
                          <a:cs typeface="Times New Roman"/>
                        </a:rPr>
                        <a:t>Expected output</a:t>
                      </a:r>
                    </a:p>
                  </a:txBody>
                  <a:tcPr marL="95250" marR="95250" marT="57150" marB="57150" anchor="ctr">
                    <a:solidFill>
                      <a:srgbClr val="F2F2F2"/>
                    </a:solidFill>
                  </a:tcPr>
                </a:tc>
                <a:tc>
                  <a:txBody>
                    <a:bodyPr>
                      <a:noAutofit/>
                    </a:bodyPr>
                    <a:lstStyle/>
                    <a:p>
                      <a:pPr algn="l">
                        <a:lnSpc>
                          <a:spcPct val="100000"/>
                        </a:lnSpc>
                        <a:buNone/>
                      </a:pPr>
                      <a:r>
                        <a:rPr sz="1725" b="1">
                          <a:solidFill>
                            <a:srgbClr val="000000"/>
                          </a:solidFill>
                          <a:latin typeface="Times New Roman"/>
                          <a:ea typeface="Times New Roman"/>
                          <a:cs typeface="Times New Roman"/>
                        </a:rPr>
                        <a:t>Evaluation method</a:t>
                      </a:r>
                    </a:p>
                  </a:txBody>
                  <a:tcPr marL="95250" marR="95250" marT="57150" marB="57150" anchor="ctr">
                    <a:solidFill>
                      <a:srgbClr val="F2F2F2"/>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Appliance recognition</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Confusion matrix and macro F1 on held-out sessions</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Unknown / ambiguous output</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Unseen-load rejection and false acceptance</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Total and inferred energy</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Wh error against independent matched references</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Backup-runtime estimate</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Observed discharge endpoint and runtime error</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AC/DC measurement quality</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Calibration, update timing and missing-data checks</a:t>
                      </a:r>
                    </a:p>
                  </a:txBody>
                  <a:tcPr marL="95250" marR="95250" marT="57150" marB="57150" anchor="ctr">
                    <a:solidFill>
                      <a:srgbClr val="FFFFFF"/>
                    </a:solidFill>
                  </a:tcPr>
                </a:tc>
              </a:tr>
            </a:tbl>
          </a:graphicData>
        </a:graphic>
      </p:graphicFrame>
      <p:sp>
        <p:nvSpPr>
          <p:cNvPr id="90" name="Recorded foundation evidence">
            <a:extLst xmlns:a="http://schemas.openxmlformats.org/drawingml/2006/main">
              <a:ext uri="{FF2B5EF4-FFF2-40B4-BE49-F238E27FC236}">
                <a16:creationId xmlns:a16="http://schemas.microsoft.com/office/drawing/2014/main" id="{4BCD3E3F-2635-4F72-96DB-9A42CA3A0C1E}"/>
              </a:ext>
            </a:extLst>
          </p:cNvPr>
          <p:cNvSpPr>
            <a:spLocks xmlns:a="http://schemas.openxmlformats.org/drawingml/2006/main" noGrp="1"/>
          </p:cNvSpPr>
          <p:nvPr/>
        </p:nvSpPr>
        <p:spPr>
          <a:xfrm xmlns:a="http://schemas.openxmlformats.org/drawingml/2006/main">
            <a:off x="533400" y="5114925"/>
            <a:ext cx="8105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DC audit (30 Sep): 45 Python tests and 67 C++ assertions.</a:t>
            </a:r>
          </a:p>
          <a:p xmlns:a="http://schemas.openxmlformats.org/drawingml/2006/main">
            <a:pPr algn="l">
              <a:buNone/>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Both existing ESP32 firmware targets compiled.</a:t>
            </a:r>
          </a:p>
        </p:txBody>
      </p:sp>
      <p:sp>
        <p:nvSpPr>
          <p:cNvPr id="91" name="Estimation validation">
            <a:extLst xmlns:a="http://schemas.openxmlformats.org/drawingml/2006/main">
              <a:ext uri="{FF2B5EF4-FFF2-40B4-BE49-F238E27FC236}">
                <a16:creationId xmlns:a16="http://schemas.microsoft.com/office/drawing/2014/main" id="{AFCED23E-C10A-430E-87F1-27BCBCA02010}"/>
              </a:ext>
            </a:extLst>
          </p:cNvPr>
          <p:cNvSpPr>
            <a:spLocks xmlns:a="http://schemas.openxmlformats.org/drawingml/2006/main" noGrp="1"/>
          </p:cNvSpPr>
          <p:nvPr/>
        </p:nvSpPr>
        <p:spPr>
          <a:xfrm xmlns:a="http://schemas.openxmlformats.org/drawingml/2006/main">
            <a:off x="533400" y="599122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AC metering, signature accuracy and backup performance</a:t>
            </a:r>
          </a:p>
          <a:p xmlns:a="http://schemas.openxmlformats.org/drawingml/2006/main">
            <a:pPr algn="l">
              <a:buNone/>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require measured validation.</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7C882726-E374-4F85-B65C-0A748256C93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A36F839B-DD58-4B81-A184-5DD6C1A1F83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4" name="Table 1"/>
          <p:cNvGraphicFramePr/>
          <p:nvPr/>
        </p:nvGraphicFramePr>
        <p:xfrm>
          <a:off xmlns:a="http://schemas.openxmlformats.org/drawingml/2006/main" x="619125" y="1238250"/>
          <a:ext xmlns:a="http://schemas.openxmlformats.org/drawingml/2006/main" cx="7905750" cy="4133850"/>
        </p:xfrm>
        <a:graphic xmlns:a="http://schemas.openxmlformats.org/drawingml/2006/main">
          <a:graphicData uri="http://schemas.openxmlformats.org/drawingml/2006/table">
            <a:tbl>
              <a:tblPr/>
              <a:tblGrid>
                <a:gridCol w="2219325"/>
                <a:gridCol w="5686425"/>
              </a:tblGrid>
              <a:tr h="402590">
                <a:tc>
                  <a:txBody>
                    <a:bodyPr>
                      <a:noAutofit/>
                    </a:bodyPr>
                    <a:lstStyle/>
                    <a:p>
                      <a:r>
                        <a:rPr sz="1875" b="1">
                          <a:solidFill>
                            <a:srgbClr val="000000"/>
                          </a:solidFill>
                          <a:latin typeface="Times New Roman"/>
                          <a:ea typeface="Times New Roman"/>
                          <a:cs typeface="Times New Roman"/>
                        </a:rPr>
                        <a:t>Period</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1">
                          <a:solidFill>
                            <a:srgbClr val="000000"/>
                          </a:solidFill>
                          <a:latin typeface="Times New Roman"/>
                          <a:ea typeface="Times New Roman"/>
                          <a:cs typeface="Times New Roman"/>
                        </a:rPr>
                        <a:t>Work and milestone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September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DC foundation: software, dashboard, PCB design and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Qualify AC meter/interface; arrange compatible backup equipment</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75" b="0">
                          <a:solidFill>
                            <a:srgbClr val="000000"/>
                          </a:solidFill>
                          <a:latin typeface="Times New Roman"/>
                          <a:ea typeface="Times New Roman"/>
                          <a:cs typeface="Times New Roman"/>
                        </a:rPr>
                        <a:t>November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Record appliance sessions and compare signature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Dec 2026–Jan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Validate inferred energy and battery/inverter runtime</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Feb–Mar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Repeat experiments, analyse errors and final demonstration</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Review milestone">
            <a:extLst xmlns:a="http://schemas.openxmlformats.org/drawingml/2006/main">
              <a:ext uri="{FF2B5EF4-FFF2-40B4-BE49-F238E27FC236}">
                <a16:creationId xmlns:a16="http://schemas.microsoft.com/office/drawing/2014/main" id="{10B4A6CB-BB56-42B1-B695-403823751054}"/>
              </a:ext>
            </a:extLst>
          </p:cNvPr>
          <p:cNvSpPr>
            <a:spLocks xmlns:a="http://schemas.openxmlformats.org/drawingml/2006/main" noGrp="1"/>
          </p:cNvSpPr>
          <p:nvPr/>
        </p:nvSpPr>
        <p:spPr>
          <a:xfrm xmlns:a="http://schemas.openxmlformats.org/drawingml/2006/main">
            <a:off x="819150" y="5715000"/>
            <a:ext cx="7648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Review 3: 3 October 2026</a:t>
            </a:r>
          </a:p>
          <a:p xmlns:a="http://schemas.openxmlformats.org/drawingml/2006/main">
            <a:pPr algn="l">
              <a:buNone/>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Final submission: the department’s next-semester schedule</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8EBC6717-4689-45A9-9FAB-BEB4313F734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D09861B1-C161-4DCA-ABC0-1C8FD23DAEEA}"/>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79EA5E28-DDBD-41AD-B93A-82B88391E1DB}"/>
              </a:ext>
            </a:extLst>
          </p:cNvPr>
          <p:cNvSpPr>
            <a:spLocks xmlns:a="http://schemas.openxmlformats.org/drawingml/2006/main" noGrp="1"/>
          </p:cNvSpPr>
          <p:nvPr/>
        </p:nvSpPr>
        <p:spPr>
          <a:xfrm xmlns:a="http://schemas.openxmlformats.org/drawingml/2006/main">
            <a:off x="352425"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Athanasiadis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681f893afb54a2e"/>
              </a:rPr>
              <a:t>10.3390/en14030767</a:t>
            </a:r>
          </a:p>
        </p:txBody>
      </p:sp>
      <p:sp>
        <p:nvSpPr>
          <p:cNvPr id="90" name="Reference 2">
            <a:extLst xmlns:a="http://schemas.openxmlformats.org/drawingml/2006/main">
              <a:ext uri="{FF2B5EF4-FFF2-40B4-BE49-F238E27FC236}">
                <a16:creationId xmlns:a16="http://schemas.microsoft.com/office/drawing/2014/main" id="{EDB083C4-99C3-4382-B5B7-6D8BCBD175B9}"/>
              </a:ext>
            </a:extLst>
          </p:cNvPr>
          <p:cNvSpPr>
            <a:spLocks xmlns:a="http://schemas.openxmlformats.org/drawingml/2006/main" noGrp="1"/>
          </p:cNvSpPr>
          <p:nvPr/>
        </p:nvSpPr>
        <p:spPr>
          <a:xfrm xmlns:a="http://schemas.openxmlformats.org/drawingml/2006/main">
            <a:off x="352425"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Mollel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e22ec8d87884337"/>
              </a:rPr>
              <a:t>10.3390/s23104845</a:t>
            </a:r>
          </a:p>
        </p:txBody>
      </p:sp>
      <p:sp>
        <p:nvSpPr>
          <p:cNvPr id="91" name="Reference 3">
            <a:extLst xmlns:a="http://schemas.openxmlformats.org/drawingml/2006/main">
              <a:ext uri="{FF2B5EF4-FFF2-40B4-BE49-F238E27FC236}">
                <a16:creationId xmlns:a16="http://schemas.microsoft.com/office/drawing/2014/main" id="{6D87C724-4978-44B7-B97E-A1613F6D5F11}"/>
              </a:ext>
            </a:extLst>
          </p:cNvPr>
          <p:cNvSpPr>
            <a:spLocks xmlns:a="http://schemas.openxmlformats.org/drawingml/2006/main" noGrp="1"/>
          </p:cNvSpPr>
          <p:nvPr/>
        </p:nvSpPr>
        <p:spPr>
          <a:xfrm xmlns:a="http://schemas.openxmlformats.org/drawingml/2006/main">
            <a:off x="352425"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Jaime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0f90ff905f0459a"/>
              </a:rPr>
              <a:t>10.3390/inventions11020029</a:t>
            </a:r>
          </a:p>
        </p:txBody>
      </p:sp>
      <p:sp>
        <p:nvSpPr>
          <p:cNvPr id="92" name="Reference 4">
            <a:extLst xmlns:a="http://schemas.openxmlformats.org/drawingml/2006/main">
              <a:ext uri="{FF2B5EF4-FFF2-40B4-BE49-F238E27FC236}">
                <a16:creationId xmlns:a16="http://schemas.microsoft.com/office/drawing/2014/main" id="{08AF50BB-589A-41B6-920A-73FED7B134D8}"/>
              </a:ext>
            </a:extLst>
          </p:cNvPr>
          <p:cNvSpPr>
            <a:spLocks xmlns:a="http://schemas.openxmlformats.org/drawingml/2006/main" noGrp="1"/>
          </p:cNvSpPr>
          <p:nvPr/>
        </p:nvSpPr>
        <p:spPr>
          <a:xfrm xmlns:a="http://schemas.openxmlformats.org/drawingml/2006/main">
            <a:off x="352425"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Xiang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ab579b1d53e4272"/>
              </a:rPr>
              <a:t>10.3390/en19081883</a:t>
            </a:r>
          </a:p>
        </p:txBody>
      </p:sp>
      <p:sp>
        <p:nvSpPr>
          <p:cNvPr id="93" name="Reference 5">
            <a:extLst xmlns:a="http://schemas.openxmlformats.org/drawingml/2006/main">
              <a:ext uri="{FF2B5EF4-FFF2-40B4-BE49-F238E27FC236}">
                <a16:creationId xmlns:a16="http://schemas.microsoft.com/office/drawing/2014/main" id="{FDF73B99-5922-48A1-9687-BF1D61A2A88A}"/>
              </a:ext>
            </a:extLst>
          </p:cNvPr>
          <p:cNvSpPr>
            <a:spLocks xmlns:a="http://schemas.openxmlformats.org/drawingml/2006/main" noGrp="1"/>
          </p:cNvSpPr>
          <p:nvPr/>
        </p:nvSpPr>
        <p:spPr>
          <a:xfrm xmlns:a="http://schemas.openxmlformats.org/drawingml/2006/main">
            <a:off x="352425"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Li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0e4ba20c65149e2"/>
              </a:rPr>
              <a:t>10.3390/en19133131</a:t>
            </a:r>
          </a:p>
        </p:txBody>
      </p:sp>
      <p:sp>
        <p:nvSpPr>
          <p:cNvPr id="94" name="Reference 6">
            <a:extLst xmlns:a="http://schemas.openxmlformats.org/drawingml/2006/main">
              <a:ext uri="{FF2B5EF4-FFF2-40B4-BE49-F238E27FC236}">
                <a16:creationId xmlns:a16="http://schemas.microsoft.com/office/drawing/2014/main" id="{5C6E5854-03D3-45B4-9EEC-32FC087E04F0}"/>
              </a:ext>
            </a:extLst>
          </p:cNvPr>
          <p:cNvSpPr>
            <a:spLocks xmlns:a="http://schemas.openxmlformats.org/drawingml/2006/main" noGrp="1"/>
          </p:cNvSpPr>
          <p:nvPr/>
        </p:nvSpPr>
        <p:spPr>
          <a:xfrm xmlns:a="http://schemas.openxmlformats.org/drawingml/2006/main">
            <a:off x="352425"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Movassagh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82beefead7c47ad"/>
              </a:rPr>
              <a:t>10.3390/en14144074</a:t>
            </a:r>
          </a:p>
        </p:txBody>
      </p:sp>
      <p:sp>
        <p:nvSpPr>
          <p:cNvPr id="95" name="Reference 7">
            <a:extLst xmlns:a="http://schemas.openxmlformats.org/drawingml/2006/main">
              <a:ext uri="{FF2B5EF4-FFF2-40B4-BE49-F238E27FC236}">
                <a16:creationId xmlns:a16="http://schemas.microsoft.com/office/drawing/2014/main" id="{A8A9FE84-C3DC-4C29-829D-6F2789F82906}"/>
              </a:ext>
            </a:extLst>
          </p:cNvPr>
          <p:cNvSpPr>
            <a:spLocks xmlns:a="http://schemas.openxmlformats.org/drawingml/2006/main" noGrp="1"/>
          </p:cNvSpPr>
          <p:nvPr/>
        </p:nvSpPr>
        <p:spPr>
          <a:xfrm xmlns:a="http://schemas.openxmlformats.org/drawingml/2006/main">
            <a:off x="352425"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Zhang et al., 2018</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15d4558b3154d8c"/>
              </a:rPr>
              <a:t>10.1016/j.energy.2017.10.043</a:t>
            </a:r>
          </a:p>
        </p:txBody>
      </p:sp>
      <p:sp>
        <p:nvSpPr>
          <p:cNvPr id="96" name="Reference 8">
            <a:extLst xmlns:a="http://schemas.openxmlformats.org/drawingml/2006/main">
              <a:ext uri="{FF2B5EF4-FFF2-40B4-BE49-F238E27FC236}">
                <a16:creationId xmlns:a16="http://schemas.microsoft.com/office/drawing/2014/main" id="{1CCC8EA4-D27D-4F78-B435-EC3E6FB0034C}"/>
              </a:ext>
            </a:extLst>
          </p:cNvPr>
          <p:cNvSpPr>
            <a:spLocks xmlns:a="http://schemas.openxmlformats.org/drawingml/2006/main" noGrp="1"/>
          </p:cNvSpPr>
          <p:nvPr/>
        </p:nvSpPr>
        <p:spPr>
          <a:xfrm xmlns:a="http://schemas.openxmlformats.org/drawingml/2006/main">
            <a:off x="352425"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Gismero et al., 2020</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524034f171b4ebe"/>
              </a:rPr>
              <a:t>10.3390/en13071811</a:t>
            </a:r>
          </a:p>
        </p:txBody>
      </p:sp>
      <p:sp>
        <p:nvSpPr>
          <p:cNvPr id="97" name="Reference 9">
            <a:extLst xmlns:a="http://schemas.openxmlformats.org/drawingml/2006/main">
              <a:ext uri="{FF2B5EF4-FFF2-40B4-BE49-F238E27FC236}">
                <a16:creationId xmlns:a16="http://schemas.microsoft.com/office/drawing/2014/main" id="{8D2376E1-4AD3-4E4D-9E17-100C34FD8EBB}"/>
              </a:ext>
            </a:extLst>
          </p:cNvPr>
          <p:cNvSpPr>
            <a:spLocks xmlns:a="http://schemas.openxmlformats.org/drawingml/2006/main" noGrp="1"/>
          </p:cNvSpPr>
          <p:nvPr/>
        </p:nvSpPr>
        <p:spPr>
          <a:xfrm xmlns:a="http://schemas.openxmlformats.org/drawingml/2006/main">
            <a:off x="352425"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Yang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af346844cfd4d5d"/>
              </a:rPr>
              <a:t>10.3390/en14041054</a:t>
            </a:r>
          </a:p>
        </p:txBody>
      </p:sp>
      <p:sp>
        <p:nvSpPr>
          <p:cNvPr id="98" name="Reference 10">
            <a:extLst xmlns:a="http://schemas.openxmlformats.org/drawingml/2006/main">
              <a:ext uri="{FF2B5EF4-FFF2-40B4-BE49-F238E27FC236}">
                <a16:creationId xmlns:a16="http://schemas.microsoft.com/office/drawing/2014/main" id="{8ABE25F2-A646-44B8-86D1-484FC5C22EA2}"/>
              </a:ext>
            </a:extLst>
          </p:cNvPr>
          <p:cNvSpPr>
            <a:spLocks xmlns:a="http://schemas.openxmlformats.org/drawingml/2006/main" noGrp="1"/>
          </p:cNvSpPr>
          <p:nvPr/>
        </p:nvSpPr>
        <p:spPr>
          <a:xfrm xmlns:a="http://schemas.openxmlformats.org/drawingml/2006/main">
            <a:off x="352425"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Rzepka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27272df638b476b"/>
              </a:rPr>
              <a:t>10.3390/en14133733</a:t>
            </a:r>
          </a:p>
        </p:txBody>
      </p:sp>
      <p:sp>
        <p:nvSpPr>
          <p:cNvPr id="99" name="Reference 11">
            <a:extLst xmlns:a="http://schemas.openxmlformats.org/drawingml/2006/main">
              <a:ext uri="{FF2B5EF4-FFF2-40B4-BE49-F238E27FC236}">
                <a16:creationId xmlns:a16="http://schemas.microsoft.com/office/drawing/2014/main" id="{FBFCB2CA-2A2F-415F-A5A0-A09270C74E75}"/>
              </a:ext>
            </a:extLst>
          </p:cNvPr>
          <p:cNvSpPr>
            <a:spLocks xmlns:a="http://schemas.openxmlformats.org/drawingml/2006/main" noGrp="1"/>
          </p:cNvSpPr>
          <p:nvPr/>
        </p:nvSpPr>
        <p:spPr>
          <a:xfrm xmlns:a="http://schemas.openxmlformats.org/drawingml/2006/main">
            <a:off x="4686300"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Zine et al., 2022</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63ad9a840f76474a"/>
              </a:rPr>
              <a:t>10.3390/en15218172</a:t>
            </a:r>
          </a:p>
        </p:txBody>
      </p:sp>
      <p:sp>
        <p:nvSpPr>
          <p:cNvPr id="100" name="Reference 12">
            <a:extLst xmlns:a="http://schemas.openxmlformats.org/drawingml/2006/main">
              <a:ext uri="{FF2B5EF4-FFF2-40B4-BE49-F238E27FC236}">
                <a16:creationId xmlns:a16="http://schemas.microsoft.com/office/drawing/2014/main" id="{6CAB54E3-C76E-4743-93FC-9E76610533DE}"/>
              </a:ext>
            </a:extLst>
          </p:cNvPr>
          <p:cNvSpPr>
            <a:spLocks xmlns:a="http://schemas.openxmlformats.org/drawingml/2006/main" noGrp="1"/>
          </p:cNvSpPr>
          <p:nvPr/>
        </p:nvSpPr>
        <p:spPr>
          <a:xfrm xmlns:a="http://schemas.openxmlformats.org/drawingml/2006/main">
            <a:off x="4686300"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Fahmy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9d9205b91b34ed0"/>
              </a:rPr>
              <a:t>10.3390/en16145558</a:t>
            </a:r>
          </a:p>
        </p:txBody>
      </p:sp>
      <p:sp>
        <p:nvSpPr>
          <p:cNvPr id="101" name="Reference 13">
            <a:extLst xmlns:a="http://schemas.openxmlformats.org/drawingml/2006/main">
              <a:ext uri="{FF2B5EF4-FFF2-40B4-BE49-F238E27FC236}">
                <a16:creationId xmlns:a16="http://schemas.microsoft.com/office/drawing/2014/main" id="{DBFBD2C3-D0B8-40D6-9C08-E3B07D717AE9}"/>
              </a:ext>
            </a:extLst>
          </p:cNvPr>
          <p:cNvSpPr>
            <a:spLocks xmlns:a="http://schemas.openxmlformats.org/drawingml/2006/main" noGrp="1"/>
          </p:cNvSpPr>
          <p:nvPr/>
        </p:nvSpPr>
        <p:spPr>
          <a:xfrm xmlns:a="http://schemas.openxmlformats.org/drawingml/2006/main">
            <a:off x="4686300"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Wang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9f7b43d4ffa4e9a"/>
              </a:rPr>
              <a:t>10.3390/batteries9010043</a:t>
            </a:r>
          </a:p>
        </p:txBody>
      </p:sp>
      <p:sp>
        <p:nvSpPr>
          <p:cNvPr id="102" name="Reference 14">
            <a:extLst xmlns:a="http://schemas.openxmlformats.org/drawingml/2006/main">
              <a:ext uri="{FF2B5EF4-FFF2-40B4-BE49-F238E27FC236}">
                <a16:creationId xmlns:a16="http://schemas.microsoft.com/office/drawing/2014/main" id="{1D39D883-E0BB-4B1F-9687-592663C22A39}"/>
              </a:ext>
            </a:extLst>
          </p:cNvPr>
          <p:cNvSpPr>
            <a:spLocks xmlns:a="http://schemas.openxmlformats.org/drawingml/2006/main" noGrp="1"/>
          </p:cNvSpPr>
          <p:nvPr/>
        </p:nvSpPr>
        <p:spPr>
          <a:xfrm xmlns:a="http://schemas.openxmlformats.org/drawingml/2006/main">
            <a:off x="4686300"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Turkmanović et al., 2024</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f130e2a90b64c79"/>
              </a:rPr>
              <a:t>10.3390/electronics13214256</a:t>
            </a:r>
          </a:p>
        </p:txBody>
      </p:sp>
      <p:sp>
        <p:nvSpPr>
          <p:cNvPr id="103" name="Reference 15">
            <a:extLst xmlns:a="http://schemas.openxmlformats.org/drawingml/2006/main">
              <a:ext uri="{FF2B5EF4-FFF2-40B4-BE49-F238E27FC236}">
                <a16:creationId xmlns:a16="http://schemas.microsoft.com/office/drawing/2014/main" id="{3B6175D7-8C07-4338-BC75-4B5424FA6C19}"/>
              </a:ext>
            </a:extLst>
          </p:cNvPr>
          <p:cNvSpPr>
            <a:spLocks xmlns:a="http://schemas.openxmlformats.org/drawingml/2006/main" noGrp="1"/>
          </p:cNvSpPr>
          <p:nvPr/>
        </p:nvSpPr>
        <p:spPr>
          <a:xfrm xmlns:a="http://schemas.openxmlformats.org/drawingml/2006/main">
            <a:off x="4686300"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Bampi et al., 2025</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1ea359a8f844f92"/>
              </a:rPr>
              <a:t>10.18618/REP.e202521</a:t>
            </a:r>
          </a:p>
        </p:txBody>
      </p:sp>
      <p:sp>
        <p:nvSpPr>
          <p:cNvPr id="104" name="Reference 16">
            <a:extLst xmlns:a="http://schemas.openxmlformats.org/drawingml/2006/main">
              <a:ext uri="{FF2B5EF4-FFF2-40B4-BE49-F238E27FC236}">
                <a16:creationId xmlns:a16="http://schemas.microsoft.com/office/drawing/2014/main" id="{E427CBAA-09F9-4423-B098-C3A39C76B974}"/>
              </a:ext>
            </a:extLst>
          </p:cNvPr>
          <p:cNvSpPr>
            <a:spLocks xmlns:a="http://schemas.openxmlformats.org/drawingml/2006/main" noGrp="1"/>
          </p:cNvSpPr>
          <p:nvPr/>
        </p:nvSpPr>
        <p:spPr>
          <a:xfrm xmlns:a="http://schemas.openxmlformats.org/drawingml/2006/main">
            <a:off x="4686300"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Marahatta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db16e23b4bb24685"/>
              </a:rPr>
              <a:t>10.1016/j.egyr.2020.11.030</a:t>
            </a:r>
          </a:p>
        </p:txBody>
      </p:sp>
      <p:sp>
        <p:nvSpPr>
          <p:cNvPr id="105" name="Reference 17">
            <a:extLst xmlns:a="http://schemas.openxmlformats.org/drawingml/2006/main">
              <a:ext uri="{FF2B5EF4-FFF2-40B4-BE49-F238E27FC236}">
                <a16:creationId xmlns:a16="http://schemas.microsoft.com/office/drawing/2014/main" id="{E104B42C-79E9-400F-A4D7-EF63EDD38774}"/>
              </a:ext>
            </a:extLst>
          </p:cNvPr>
          <p:cNvSpPr>
            <a:spLocks xmlns:a="http://schemas.openxmlformats.org/drawingml/2006/main" noGrp="1"/>
          </p:cNvSpPr>
          <p:nvPr/>
        </p:nvSpPr>
        <p:spPr>
          <a:xfrm xmlns:a="http://schemas.openxmlformats.org/drawingml/2006/main">
            <a:off x="4686300"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Rajbhandari et al., 2024</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3373ba4f0b84458f"/>
              </a:rPr>
              <a:t>10.1049/stg2.12151</a:t>
            </a:r>
          </a:p>
        </p:txBody>
      </p:sp>
      <p:sp>
        <p:nvSpPr>
          <p:cNvPr id="106" name="Reference 18">
            <a:extLst xmlns:a="http://schemas.openxmlformats.org/drawingml/2006/main">
              <a:ext uri="{FF2B5EF4-FFF2-40B4-BE49-F238E27FC236}">
                <a16:creationId xmlns:a16="http://schemas.microsoft.com/office/drawing/2014/main" id="{7D3BA3F6-0E24-4BAE-BB6C-A6E62C400083}"/>
              </a:ext>
            </a:extLst>
          </p:cNvPr>
          <p:cNvSpPr>
            <a:spLocks xmlns:a="http://schemas.openxmlformats.org/drawingml/2006/main" noGrp="1"/>
          </p:cNvSpPr>
          <p:nvPr/>
        </p:nvSpPr>
        <p:spPr>
          <a:xfrm xmlns:a="http://schemas.openxmlformats.org/drawingml/2006/main">
            <a:off x="4686300"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Guo &amp; Kors,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8f2b39c72a244b50"/>
              </a:rPr>
              <a:t>10.3390/electronics10131562</a:t>
            </a:r>
          </a:p>
        </p:txBody>
      </p:sp>
      <p:sp>
        <p:nvSpPr>
          <p:cNvPr id="107" name="Reference 19">
            <a:extLst xmlns:a="http://schemas.openxmlformats.org/drawingml/2006/main">
              <a:ext uri="{FF2B5EF4-FFF2-40B4-BE49-F238E27FC236}">
                <a16:creationId xmlns:a16="http://schemas.microsoft.com/office/drawing/2014/main" id="{656E455E-077A-41DB-A2C3-CCE7B2BDD8BF}"/>
              </a:ext>
            </a:extLst>
          </p:cNvPr>
          <p:cNvSpPr>
            <a:spLocks xmlns:a="http://schemas.openxmlformats.org/drawingml/2006/main" noGrp="1"/>
          </p:cNvSpPr>
          <p:nvPr/>
        </p:nvSpPr>
        <p:spPr>
          <a:xfrm xmlns:a="http://schemas.openxmlformats.org/drawingml/2006/main">
            <a:off x="4686300"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Yusubov &amp; Bekirova,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4fe2ddaa3e04299"/>
              </a:rPr>
              <a:t>10.35784/iapgos.5320</a:t>
            </a:r>
          </a:p>
        </p:txBody>
      </p:sp>
      <p:sp>
        <p:nvSpPr>
          <p:cNvPr id="108" name="Reference 20">
            <a:extLst xmlns:a="http://schemas.openxmlformats.org/drawingml/2006/main">
              <a:ext uri="{FF2B5EF4-FFF2-40B4-BE49-F238E27FC236}">
                <a16:creationId xmlns:a16="http://schemas.microsoft.com/office/drawing/2014/main" id="{F8060993-CE44-4905-9BE6-7D7AFBA8CC11}"/>
              </a:ext>
            </a:extLst>
          </p:cNvPr>
          <p:cNvSpPr>
            <a:spLocks xmlns:a="http://schemas.openxmlformats.org/drawingml/2006/main" noGrp="1"/>
          </p:cNvSpPr>
          <p:nvPr/>
        </p:nvSpPr>
        <p:spPr>
          <a:xfrm xmlns:a="http://schemas.openxmlformats.org/drawingml/2006/main">
            <a:off x="4686300"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Basantes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47cbd32436744f1"/>
              </a:rPr>
              <a:t>10.3390/en16062912</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C7F07772-F161-470E-B8EC-CD5DA282A380}"/>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ACCAE5F9-D482-4F71-9E72-63FD2FEBFCE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
        <p:nvSpPr>
          <p:cNvPr id="181" name="Closing focus">
            <a:extLst xmlns:a="http://schemas.openxmlformats.org/drawingml/2006/main">
              <a:ext uri="{FF2B5EF4-FFF2-40B4-BE49-F238E27FC236}">
                <a16:creationId xmlns:a16="http://schemas.microsoft.com/office/drawing/2014/main" id="{3BE619B4-C0BA-4EA1-9690-FADCA0C6DCFB}"/>
              </a:ext>
            </a:extLst>
          </p:cNvPr>
          <p:cNvSpPr>
            <a:spLocks xmlns:a="http://schemas.openxmlformats.org/drawingml/2006/main" noGrp="1"/>
          </p:cNvSpPr>
          <p:nvPr/>
        </p:nvSpPr>
        <p:spPr>
          <a:xfrm xmlns:a="http://schemas.openxmlformats.org/drawingml/2006/main">
            <a:off x="809625" y="4314825"/>
            <a:ext cx="7534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WattSense</a:t>
            </a:r>
          </a:p>
          <a:p xmlns:a="http://schemas.openxmlformats.org/drawingml/2006/main">
            <a:pPr algn="ctr">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Household Energy Signatures and Backup Runtime Estimation</a:t>
            </a:r>
          </a:p>
        </p:txBody>
      </p:sp>
    </p:spTree>
    <p:extLst>
      <p:ext uri="{BB962C8B-B14F-4D97-AF65-F5344CB8AC3E}">
        <p14:creationId xmlns:p14="http://schemas.microsoft.com/office/powerpoint/2010/main" val="18882293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2026-10-03T06:30:04.6250000Z</dcterms:created>
  <dcterms:modified xsi:type="dcterms:W3CDTF">2026-10-03T06:30:04.6250000Z</dcterms:modified>
</coreProperties>
</file>