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Both loads retained</c:f>
              <c:strCache>
                <c:ptCount val="1"/>
                <c:pt idx="0">
                  <c:v>Both loads retained</c:v>
                </c:pt>
              </c:strCache>
            </c:strRef>
          </c:tx>
          <c:spPr>
            <a:solidFill>
              <a:srgbClr val="8A8A8A"/>
            </a:solidFill>
          </c:spPr>
          <c:invertIfNegative val="0"/>
          <c:dLbls>
            <c:numFmt formatCode="General" sourceLinked="1"/>
            <c:spPr>
              <a:noFill/>
              <a:ln>
                <a:noFill/>
              </a:ln>
              <a:effectLst/>
            </c:spPr>
            <c:txPr>
              <a:bodyPr rot="0" spcFirstLastPara="0" vertOverflow="ellipsis" vert="horz" wrap="square" lIns="38100" tIns="19050" rIns="38100" bIns="19050" anchor="ctr" anchorCtr="1"/>
              <a:lstStyle/>
              <a:p>
                <a:pPr>
                  <a:defRPr lang="en-GB"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Data'!$A$2:$A$3</c:f>
              <c:strCache>
                <c:ptCount val="2"/>
                <c:pt idx="0">
                  <c:v>Lamp service</c:v>
                </c:pt>
                <c:pt idx="1">
                  <c:v>Fan service</c:v>
                </c:pt>
              </c:strCache>
            </c:strRef>
          </c:cat>
          <c:val>
            <c:numRef>
              <c:f>'Chart Data'!$B$2:$B$3</c:f>
              <c:numCache>
                <c:formatCode>0.00</c:formatCode>
                <c:ptCount val="2"/>
                <c:pt idx="0">
                  <c:v>5.476389</c:v>
                </c:pt>
                <c:pt idx="1">
                  <c:v>5.476389</c:v>
                </c:pt>
              </c:numCache>
            </c:numRef>
          </c:val>
        </c:ser>
        <c:ser>
          <c:idx val="1"/>
          <c:order val="1"/>
          <c:tx>
            <c:strRef>
              <c:f>Priority control</c:f>
              <c:strCache>
                <c:ptCount val="1"/>
                <c:pt idx="0">
                  <c:v>Priority control</c:v>
                </c:pt>
              </c:strCache>
            </c:strRef>
          </c:tx>
          <c:spPr>
            <a:solidFill>
              <a:srgbClr val="7030A0"/>
            </a:solidFill>
          </c:spPr>
          <c:invertIfNegative val="0"/>
          <c:dLbls>
            <c:numFmt formatCode="General" sourceLinked="1"/>
            <c:spPr>
              <a:noFill/>
              <a:ln>
                <a:noFill/>
              </a:ln>
              <a:effectLst/>
            </c:spPr>
            <c:txPr>
              <a:bodyPr rot="0" spcFirstLastPara="0" vertOverflow="ellipsis" vert="horz" wrap="square" lIns="38100" tIns="19050" rIns="38100" bIns="19050" anchor="ctr" anchorCtr="1"/>
              <a:lstStyle/>
              <a:p>
                <a:pPr>
                  <a:defRPr lang="en-GB"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Data'!$C$2:$C$3</c:f>
              <c:strCache>
                <c:ptCount val="2"/>
                <c:pt idx="0">
                  <c:v>Lamp service</c:v>
                </c:pt>
                <c:pt idx="1">
                  <c:v>Fan service</c:v>
                </c:pt>
              </c:strCache>
            </c:strRef>
          </c:cat>
          <c:val>
            <c:numRef>
              <c:f>'Chart Data'!$D$2:$D$3</c:f>
              <c:numCache>
                <c:formatCode>0.00</c:formatCode>
                <c:ptCount val="2"/>
                <c:pt idx="0">
                  <c:v>7.883611</c:v>
                </c:pt>
                <c:pt idx="1">
                  <c:v>2.493611</c:v>
                </c:pt>
              </c:numCache>
            </c:numRef>
          </c:val>
        </c:ser>
        <c:dLbls>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en-GB" sz="1650" b="0" i="0" u="none" strike="noStrike" kern="1200" baseline="0">
                <a:solidFill>
                  <a:srgbClr val="666666"/>
                </a:solidFill>
                <a:latin typeface="Times New Roman" panose="02020603050405020304"/>
                <a:ea typeface="Times New Roman" panose="02020603050405020304"/>
                <a:cs typeface="Times New Roman" panose="02020603050405020304"/>
              </a:defRPr>
            </a:pPr>
          </a:p>
        </c:txPr>
        <c:crossAx val="48672768"/>
        <c:crosses val="autoZero"/>
        <c:auto val="1"/>
        <c:lblAlgn val="ctr"/>
        <c:lblOffset val="100"/>
        <c:noMultiLvlLbl val="0"/>
      </c:catAx>
      <c:valAx>
        <c:axId val="48672768"/>
        <c:scaling>
          <c:orientation val="minMax"/>
          <c:max val="9"/>
          <c:min val="0"/>
        </c:scaling>
        <c:delete val="0"/>
        <c:axPos val="l"/>
        <c:majorGridlines>
          <c:spPr>
            <a:ln w="9525">
              <a:solidFill>
                <a:srgbClr val="DDDDDD"/>
              </a:solidFill>
              <a:prstDash val="solid"/>
              <a:round/>
            </a:ln>
          </c:spPr>
        </c:majorGridlines>
        <c:title>
          <c:tx>
            <c:rich>
              <a:bodyPr rot="-5400000" spcFirstLastPara="0" vertOverflow="ellipsis" vert="horz" wrap="square" anchor="ctr" anchorCtr="1"/>
              <a:lstStyle/>
              <a:p>
                <a:pPr>
                  <a:defRPr lang="en-GB" sz="1000" b="1" i="0" u="none" strike="noStrike" kern="1200" baseline="0">
                    <a:solidFill>
                      <a:schemeClr val="tx1"/>
                    </a:solidFill>
                    <a:latin typeface="+mn-lt"/>
                    <a:ea typeface="+mn-ea"/>
                    <a:cs typeface="+mn-cs"/>
                  </a:defRPr>
                </a:pPr>
                <a:r>
                  <a:rPr sz="1575">
                    <a:latin typeface="Times New Roman" panose="02020603050405020304"/>
                    <a:ea typeface="Times New Roman" panose="02020603050405020304"/>
                    <a:cs typeface="Times New Roman" panose="02020603050405020304"/>
                  </a:rPr>
                  <a:t>Simulated service (h)</a:t>
                </a:r>
                <a:endParaRPr sz="1575">
                  <a:latin typeface="Times New Roman" panose="02020603050405020304"/>
                  <a:ea typeface="Times New Roman" panose="02020603050405020304"/>
                  <a:cs typeface="Times New Roman" panose="02020603050405020304"/>
                </a:endParaRPr>
              </a:p>
            </c:rich>
          </c:tx>
          <c:layout/>
          <c:overlay val="0"/>
        </c:title>
        <c:numFmt formatCode="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en-GB" sz="1425" b="0" i="0" u="none" strike="noStrike" kern="1200" baseline="0">
                <a:solidFill>
                  <a:srgbClr val="666666"/>
                </a:solidFill>
                <a:latin typeface="Times New Roman" panose="02020603050405020304"/>
                <a:ea typeface="Times New Roman" panose="02020603050405020304"/>
                <a:cs typeface="Times New Roman" panose="02020603050405020304"/>
              </a:defRPr>
            </a:pPr>
          </a:p>
        </c:txPr>
        <c:crossAx val="48650112"/>
        <c:crosses val="autoZero"/>
        <c:crossBetween val="between"/>
        <c:majorUnit val="1"/>
      </c:valAx>
    </c:plotArea>
    <c:legend>
      <c:legendPos val="b"/>
      <c:layout/>
      <c:overlay val="0"/>
      <c:txPr>
        <a:bodyPr rot="0" spcFirstLastPara="0" vertOverflow="ellipsis" vert="horz" wrap="square" anchor="ctr" anchorCtr="1"/>
        <a:lstStyle/>
        <a:p>
          <a:pPr>
            <a:defRPr lang="en-GB" sz="1500" b="0" i="0" u="none" strike="noStrike" kern="1200" baseline="0">
              <a:solidFill>
                <a:schemeClr val="tx1"/>
              </a:solidFill>
              <a:latin typeface="Times New Roman" panose="02020603050405020304"/>
              <a:ea typeface="Times New Roman" panose="02020603050405020304"/>
              <a:cs typeface="Times New Roman" panose="02020603050405020304"/>
            </a:defRPr>
          </a:pPr>
        </a:p>
      </c:txPr>
    </c:legend>
    <c:plotVisOnly val="1"/>
    <c:dispBlanksAs val="gap"/>
    <c:showDLblsOverMax val="0"/>
    <c:extLst>
      <c:ext uri="{0b15fc19-7d7d-44ad-8c2d-2c3a37ce22c3}">
        <chartProps xmlns="https://web.wps.cn/et/2018/main" chartId="{064015ed-92f0-493f-834e-4ce5f7d93011}"/>
      </c:ext>
    </c:extLst>
  </c:chart>
  <c:spPr>
    <a:solidFill>
      <a:srgbClr val="FFFFFF"/>
    </a:solidFill>
    <a:ln w="0">
      <a:noFill/>
    </a:ln>
  </c:spPr>
  <c:txPr>
    <a:bodyPr/>
    <a:lstStyle/>
    <a:p>
      <a:pPr>
        <a:defRPr lang="en-GB"/>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WattSense studies battery monitoring and priority control for a small DC system. The Review 3 evidence covers a software prototype, a routed PCB and simulations. Physical assembly is the next stage.</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r>
              <a:t>User-supplied author/department/date details, 1 October 2026. College identity and logos retained from supplied template.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 design uses a protected 4S LiFePO4 pack, a matched charger, an external converter and an ESP32. Only the fan return is switched. Solar hardware is an extension after the battery-only demonstration. Do not describe the dashboard as a measured prototype.</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r>
              <a:t>hardware/REFERENCE_WIRING.md</a:t>
            </a:r>
          </a:p>
          <a:p>
            <a:pPr marL="0" lvl="0" indent="0" algn="l">
              <a:spcBef>
                <a:spcPts val="0"/>
              </a:spcBef>
              <a:spcAft>
                <a:spcPts val="0"/>
              </a:spcAft>
              <a:buNone/>
            </a:pPr>
            <a:r>
              <a:t>docs/PROJECT_FLOW.md</a:t>
            </a:r>
          </a:p>
          <a:p>
            <a:pPr marL="0" lvl="0" indent="0" algn="l">
              <a:spcBef>
                <a:spcPts val="0"/>
              </a:spcBef>
              <a:spcAft>
                <a:spcPts val="0"/>
              </a:spcAft>
              <a:buNone/>
            </a:pPr>
            <a:r>
              <a:t>docs/RECHECK_2026-09-30.md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p>
          <a:p>
            <a:pPr marL="0" lvl="0" indent="0" algn="l">
              <a:spcBef>
                <a:spcPts val="0"/>
              </a:spcBef>
              <a:spcAft>
                <a:spcPts val="0"/>
              </a:spcAft>
              <a:buNone/>
            </a:pPr>
          </a:p>
          <a:p>
            <a:pPr marL="0" lvl="0" indent="0" algn="l">
              <a:spcBef>
                <a:spcPts val="0"/>
              </a:spcBef>
              <a:spcAft>
                <a:spcPts val="0"/>
              </a:spcAft>
              <a:buNone/>
            </a:pPr>
            <a:r>
              <a:t>[1] A. Marahatta, Y. Rajbhandari, A. Shrestha, A. Singh, A. Gachhadar, and A. Thapa, 'Priority-based low voltage DC microgrid system for rural electrification,' Energy Reports, vol. 7, pp. 43-51, 2021, doi: 10.1016/j.egyr.2020.11.030.</a:t>
            </a:r>
          </a:p>
          <a:p>
            <a:pPr marL="0" lvl="0" indent="0" algn="l">
              <a:spcBef>
                <a:spcPts val="0"/>
              </a:spcBef>
              <a:spcAft>
                <a:spcPts val="0"/>
              </a:spcAft>
              <a:buNone/>
            </a:pPr>
            <a:r>
              <a:t>https://www.sciencedirect.com/science/article/pii/S2352484720314554</a:t>
            </a:r>
          </a:p>
          <a:p>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p>
          <a:p>
            <a:pPr marL="0" lvl="0" indent="0" algn="l">
              <a:spcBef>
                <a:spcPts val="0"/>
              </a:spcBef>
              <a:spcAft>
                <a:spcPts val="0"/>
              </a:spcAft>
              <a:buNone/>
            </a:pPr>
          </a:p>
          <a:p>
            <a:pPr marL="0" lvl="0" indent="0" algn="l">
              <a:spcBef>
                <a:spcPts val="0"/>
              </a:spcBef>
              <a:spcAft>
                <a:spcPts val="0"/>
              </a:spcAft>
              <a:buNone/>
            </a:pPr>
            <a:r>
              <a:t>[2] Y. Rajbhandari, A. Marahatta, A. Shrestha, A. Gachhadar, A. Thapa, F. Gonzalez-Longatt, and P. Korba, 'Enhanced demand side management for solar-based isolated microgrid system: Load prioritisation and energy optimisation,' IET Smart Grid, vol. 7, no. 3, pp. 294-313, 2024, doi: 10.1049/stg2.12151.</a:t>
            </a:r>
          </a:p>
          <a:p>
            <a:pPr marL="0" lvl="0" indent="0" algn="l">
              <a:spcBef>
                <a:spcPts val="0"/>
              </a:spcBef>
              <a:spcAft>
                <a:spcPts val="0"/>
              </a:spcAft>
              <a:buNone/>
            </a:pPr>
            <a:r>
              <a:t>https://ietresearch.onlinelibrary.wiley.com/doi/10.1049/stg2.12151</a:t>
            </a:r>
          </a:p>
          <a:p>
            <a:pPr marL="0" lvl="0" indent="0" algn="l">
              <a:spcBef>
                <a:spcPts val="0"/>
              </a:spcBef>
              <a:spcAft>
                <a:spcPts val="0"/>
              </a:spcAft>
              <a:buNone/>
            </a:pPr>
            <a:r>
              <a:t>Evidence: Section 4 explicitly identifies simulation of stochastic load/generation conditions and three priority levels. The mechanism optimises battery SOC shedding points with PSO and forecasts. Cite issue year 2024, not online-first date December 2023. WattSense implements neither forecasting nor PSO; the comparison is scope, not superiority.</a:t>
            </a:r>
          </a:p>
          <a:p>
            <a:pPr marL="0" lvl="0" indent="0" algn="l">
              <a:spcBef>
                <a:spcPts val="0"/>
              </a:spcBef>
              <a:spcAft>
                <a:spcPts val="0"/>
              </a:spcAft>
              <a:buNone/>
            </a:pPr>
          </a:p>
          <a:p>
            <a:pPr marL="0" lvl="0" indent="0" algn="l">
              <a:spcBef>
                <a:spcPts val="0"/>
              </a:spcBef>
              <a:spcAft>
                <a:spcPts val="0"/>
              </a:spcAft>
              <a:buNone/>
            </a:pPr>
            <a:r>
              <a:t>[3] W. Bai, M. Sechilariu, and F. Locment, 'DC Microgrid System Modeling and Simulation Based on a Specific Algorithm for Grid-Connected and Islanded Modes with Real-Time Demand-Side Management Optimization,' Applied Sciences, vol. 10, no. 7, Art. 2544, 2020, doi: 10.3390/app10072544.</a:t>
            </a:r>
          </a:p>
          <a:p>
            <a:pPr marL="0" lvl="0" indent="0" algn="l">
              <a:spcBef>
                <a:spcPts val="0"/>
              </a:spcBef>
              <a:spcAft>
                <a:spcPts val="0"/>
              </a:spcAft>
              <a:buNone/>
            </a:pPr>
            <a:r>
              <a:t>https://www.mdpi.com/2076-3417/10/7/2544</a:t>
            </a:r>
          </a:p>
          <a:p>
            <a:pPr marL="0" lvl="0" indent="0" algn="l">
              <a:spcBef>
                <a:spcPts val="0"/>
              </a:spcBef>
              <a:spcAft>
                <a:spcPts val="0"/>
              </a:spcAft>
              <a:buNone/>
            </a:pPr>
            <a:r>
              <a:t>Evidence: The full PDF was opened. The model includes PV, battery, supercapacitor, diesel and grid connection. Section 2.6 names knapsack/MILP with IBM CPLEX; section 2 explicitly omits converter efficiency. Results are simulation, not a laboratory trial. That omission is a stated author modeling choice rather than our invented criticism.</a:t>
            </a:r>
          </a:p>
          <a:p>
            <a:pPr marL="0" lvl="0" indent="0" algn="l">
              <a:spcBef>
                <a:spcPts val="0"/>
              </a:spcBef>
              <a:spcAft>
                <a:spcPts val="0"/>
              </a:spcAft>
              <a:buNone/>
            </a:pPr>
          </a:p>
          <a:p>
            <a:pPr marL="0" lvl="0" indent="0" algn="l">
              <a:spcBef>
                <a:spcPts val="0"/>
              </a:spcBef>
              <a:spcAft>
                <a:spcPts val="0"/>
              </a:spcAft>
              <a:buNone/>
            </a:pPr>
            <a:r>
              <a:t>[4] J. Lv, X. Wang, G. Wang, and Y. Song, 'Research on Control Strategy of Isolated DC Microgrid Based on SOC of Energy Storage System,' Electronics, vol. 10, no. 7, Art. 834, 2021, doi: 10.3390/electronics10070834.</a:t>
            </a:r>
          </a:p>
          <a:p>
            <a:pPr marL="0" lvl="0" indent="0" algn="l">
              <a:spcBef>
                <a:spcPts val="0"/>
              </a:spcBef>
              <a:spcAft>
                <a:spcPts val="0"/>
              </a:spcAft>
              <a:buNone/>
            </a:pPr>
            <a:r>
              <a:t>https://www.mdpi.com/2079-9292/10/7/834</a:t>
            </a:r>
          </a:p>
          <a:p>
            <a:pPr marL="0" lvl="0" indent="0" algn="l">
              <a:spcBef>
                <a:spcPts val="0"/>
              </a:spcBef>
              <a:spcAft>
                <a:spcPts val="0"/>
              </a:spcAft>
              <a:buNone/>
            </a:pPr>
            <a:r>
              <a:t>Evidence: The publisher page direct open returned 429 but primary full text was retrieved through search, including tables and result sections. The paper uses two energy-storage units, SOC-dependent droop, and secondary-load shedding when SOC is low and generation insufficient. Its Table 2 has a 450 V bus. The simulation scope differs from the 12.8 V one-pack WattSense demonstrator.</a:t>
            </a:r>
          </a:p>
          <a:p>
            <a:pPr marL="0" lvl="0" indent="0" algn="l">
              <a:spcBef>
                <a:spcPts val="0"/>
              </a:spcBef>
              <a:spcAft>
                <a:spcPts val="0"/>
              </a:spcAft>
              <a:buNone/>
            </a:pPr>
          </a:p>
          <a:p>
            <a:pPr marL="0" lvl="0" indent="0" algn="l">
              <a:spcBef>
                <a:spcPts val="0"/>
              </a:spcBef>
              <a:spcAft>
                <a:spcPts val="0"/>
              </a:spcAft>
              <a:buNone/>
            </a:pPr>
            <a:r>
              <a:t>[5] L. Guo and J. Kors, Jr., 'Design of a Laboratory Scale Solar Microgrid Cyber-Physical System for Education,' Electronics, vol. 10, no. 13, Art. 1562, 2021, doi: 10.3390/electronics10131562.</a:t>
            </a:r>
          </a:p>
          <a:p>
            <a:pPr marL="0" lvl="0" indent="0" algn="l">
              <a:spcBef>
                <a:spcPts val="0"/>
              </a:spcBef>
              <a:spcAft>
                <a:spcPts val="0"/>
              </a:spcAft>
              <a:buNone/>
            </a:pPr>
            <a:r>
              <a:t>https://www.mdpi.com/2079-9292/10/13/1562</a:t>
            </a:r>
          </a:p>
          <a:p>
            <a:pPr marL="0" lvl="0" indent="0" algn="l">
              <a:spcBef>
                <a:spcPts val="0"/>
              </a:spcBef>
              <a:spcAft>
                <a:spcPts val="0"/>
              </a:spcAft>
              <a:buNone/>
            </a:pPr>
            <a:r>
              <a:t>Evidence: The reported platform has a solar panel, purchased MPPT controller, rechargeable battery, relay-controlled LEDs and a toy-car charger. Hardware data were sampled every ten minutes during the reported outdoor run; do not imply WattSense data exist. The applicability limit is our scope comparison: its focus is education and integration rather than WattSense's battery-only retained-lamp comparison.</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p>
          <a:p>
            <a:pPr marL="0" lvl="0" indent="0" algn="l">
              <a:spcBef>
                <a:spcPts val="0"/>
              </a:spcBef>
              <a:spcAft>
                <a:spcPts val="0"/>
              </a:spcAft>
              <a:buNone/>
            </a:pPr>
          </a:p>
          <a:p>
            <a:pPr marL="0" lvl="0" indent="0" algn="l">
              <a:spcBef>
                <a:spcPts val="0"/>
              </a:spcBef>
              <a:spcAft>
                <a:spcPts val="0"/>
              </a:spcAft>
              <a:buNone/>
            </a:pPr>
            <a:r>
              <a:t>[6] E. Yusubov and L. Bekirova, 'A standalone DC microgrid energy management strategy using the battery state of charge,' Informatyka, Automatyka, Pomiary w Gospodarce i Ochronie Środowiska, vol. 13, no. 3, pp. 75-78, 2023, doi: 10.35784/iapgos.5320.</a:t>
            </a:r>
          </a:p>
          <a:p>
            <a:pPr marL="0" lvl="0" indent="0" algn="l">
              <a:spcBef>
                <a:spcPts val="0"/>
              </a:spcBef>
              <a:spcAft>
                <a:spcPts val="0"/>
              </a:spcAft>
              <a:buNone/>
            </a:pPr>
            <a:r>
              <a:t>https://ph.pollub.pl/index.php/iapgos/en/article/view/5320</a:t>
            </a:r>
          </a:p>
          <a:p>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p>
          <a:p>
            <a:pPr marL="0" lvl="0" indent="0" algn="l">
              <a:spcBef>
                <a:spcPts val="0"/>
              </a:spcBef>
              <a:spcAft>
                <a:spcPts val="0"/>
              </a:spcAft>
              <a:buNone/>
            </a:pPr>
          </a:p>
          <a:p>
            <a:pPr marL="0" lvl="0" indent="0" algn="l">
              <a:spcBef>
                <a:spcPts val="0"/>
              </a:spcBef>
              <a:spcAft>
                <a:spcPts val="0"/>
              </a:spcAft>
              <a:buNone/>
            </a:pPr>
            <a:r>
              <a:t>[7] J. A. Basantes, D. E. Paredes, J. R. Llanos, D. E. Ortiz, and C. D. Burgos, 'Energy Management System (EMS) Based on Model Predictive Control (MPC) for an Isolated DC Microgrid,' Energies, vol. 16, no. 6, Art. 2912, 2023, doi: 10.3390/en16062912.</a:t>
            </a:r>
          </a:p>
          <a:p>
            <a:pPr marL="0" lvl="0" indent="0" algn="l">
              <a:spcBef>
                <a:spcPts val="0"/>
              </a:spcBef>
              <a:spcAft>
                <a:spcPts val="0"/>
              </a:spcAft>
              <a:buNone/>
            </a:pPr>
            <a:r>
              <a:t>https://www.mdpi.com/1996-1073/16/6/2912</a:t>
            </a:r>
          </a:p>
          <a:p>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p>
          <a:p>
            <a:pPr marL="0" lvl="0" indent="0" algn="l">
              <a:spcBef>
                <a:spcPts val="0"/>
              </a:spcBef>
              <a:spcAft>
                <a:spcPts val="0"/>
              </a:spcAft>
              <a:buNone/>
            </a:pPr>
          </a:p>
          <a:p>
            <a:pPr marL="0" lvl="0" indent="0" algn="l">
              <a:spcBef>
                <a:spcPts val="0"/>
              </a:spcBef>
              <a:spcAft>
                <a:spcPts val="0"/>
              </a:spcAft>
              <a:buNone/>
            </a:pPr>
            <a:r>
              <a:t>[8] R. Sepehrzad, J. Ghafourian, A. Hedayatnia, A. Al-Durrad, and M. H. Khooban, 'Experimental and developed DC microgrid energy management integrated with battery energy storage based on multiple dynamic matrix model predictive control,' Journal of Energy Storage, vol. 74, Part A, Art. 109282, 2023, doi: 10.1016/j.est.2023.109282.</a:t>
            </a:r>
          </a:p>
          <a:p>
            <a:pPr marL="0" lvl="0" indent="0" algn="l">
              <a:spcBef>
                <a:spcPts val="0"/>
              </a:spcBef>
              <a:spcAft>
                <a:spcPts val="0"/>
              </a:spcAft>
              <a:buNone/>
            </a:pPr>
            <a:r>
              <a:t>https://www.sciencedirect.com/science/article/pii/S2352152X23026804</a:t>
            </a:r>
          </a:p>
          <a:p>
            <a:pPr marL="0" lvl="0" indent="0" algn="l">
              <a:spcBef>
                <a:spcPts val="0"/>
              </a:spcBef>
              <a:spcAft>
                <a:spcPts val="0"/>
              </a:spcAft>
              <a:buNone/>
            </a:pPr>
            <a:r>
              <a:t>Evidence: Both institutional and publisher abstracts describe an HIL environment plus a Micro Lab Box/dSPACE DS1202 experimental setup. The row does not invent sample sizes or transfer their transient results to WattSense. WattSense is a supervisory fan switch; it does not implement converter-level distributed predictive control.</a:t>
            </a:r>
          </a:p>
          <a:p>
            <a:pPr marL="0" lvl="0" indent="0" algn="l">
              <a:spcBef>
                <a:spcPts val="0"/>
              </a:spcBef>
              <a:spcAft>
                <a:spcPts val="0"/>
              </a:spcAft>
              <a:buNone/>
            </a:pPr>
          </a:p>
          <a:p>
            <a:pPr marL="0" lvl="0" indent="0" algn="l">
              <a:spcBef>
                <a:spcPts val="0"/>
              </a:spcBef>
              <a:spcAft>
                <a:spcPts val="0"/>
              </a:spcAft>
              <a:buNone/>
            </a:pPr>
            <a:r>
              <a:t>[9] Y. Khawaja, I. Qiqieh, J. Alzubi, O. Alzubi, A. Allahham, and D. Giaouris, 'Design of cost-based sizing and energy management framework for standalone microgrid using reinforcement learning,' Solar Energy, vol. 251, pp. 249-260, 2023, doi: 10.1016/j.solener.2023.01.027.</a:t>
            </a:r>
          </a:p>
          <a:p>
            <a:pPr marL="0" lvl="0" indent="0" algn="l">
              <a:spcBef>
                <a:spcPts val="0"/>
              </a:spcBef>
              <a:spcAft>
                <a:spcPts val="0"/>
              </a:spcAft>
              <a:buNone/>
            </a:pPr>
            <a:r>
              <a:t>https://www.sciencedirect.com/science/article/pii/S0038092X23000336</a:t>
            </a:r>
          </a:p>
          <a:p>
            <a:pPr marL="0" lvl="0" indent="0" algn="l">
              <a:spcBef>
                <a:spcPts val="0"/>
              </a:spcBef>
              <a:spcAft>
                <a:spcPts val="0"/>
              </a:spcAft>
              <a:buNone/>
            </a:pPr>
            <a:r>
              <a:t>Evidence: Publisher methods text explicitly says MATLAB R2021a simulations, hourly PV profiles for Amman based on NREL and forecast-based rural load profiles. Therefore the row does not call these measured hardware results. The limitation is applicability: this optimisation workflow requires input profiles/training beyond WattSense's deterministic two-load policy.</a:t>
            </a:r>
          </a:p>
          <a:p>
            <a:pPr marL="0" lvl="0" indent="0" algn="l">
              <a:spcBef>
                <a:spcPts val="0"/>
              </a:spcBef>
              <a:spcAft>
                <a:spcPts val="0"/>
              </a:spcAft>
              <a:buNone/>
            </a:pPr>
          </a:p>
          <a:p>
            <a:pPr marL="0" lvl="0" indent="0" algn="l">
              <a:spcBef>
                <a:spcPts val="0"/>
              </a:spcBef>
              <a:spcAft>
                <a:spcPts val="0"/>
              </a:spcAft>
              <a:buNone/>
            </a:pPr>
            <a:r>
              <a:t>[10] A. Singh and A. Maulik, 'DC Microgrid energy management with correlated uncertainties,' Sustainable Energy, Grids and Networks, vol. 35, Art. 101137, 2023, doi: 10.1016/j.segan.2023.101137.</a:t>
            </a:r>
          </a:p>
          <a:p>
            <a:pPr marL="0" lvl="0" indent="0" algn="l">
              <a:spcBef>
                <a:spcPts val="0"/>
              </a:spcBef>
              <a:spcAft>
                <a:spcPts val="0"/>
              </a:spcAft>
              <a:buNone/>
            </a:pPr>
            <a:r>
              <a:t>https://www.sciencedirect.com/science/article/pii/S2352467723001455</a:t>
            </a:r>
          </a:p>
          <a:p>
            <a:pPr marL="0" lvl="0" indent="0" algn="l">
              <a:spcBef>
                <a:spcPts val="0"/>
              </a:spcBef>
              <a:spcAft>
                <a:spcPts val="0"/>
              </a:spcAft>
              <a:buNone/>
            </a:pPr>
            <a:r>
              <a:t>Evidence: The primary page explicitly states a ten-bus simulated test network, probabilistic point estimates with correlation handling, and sufficient historical input data assumed. Its conclusion says grid-connected. This is contextual prior art for uncertainty handling, not a direct small standalone prototype baseline. Do not claim WattSense implements its optimisation or uncertainty model.</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p>
          <a:p>
            <a:pPr marL="0" lvl="0" indent="0" algn="l">
              <a:spcBef>
                <a:spcPts val="0"/>
              </a:spcBef>
              <a:spcAft>
                <a:spcPts val="0"/>
              </a:spcAft>
              <a:buNone/>
            </a:pPr>
          </a:p>
          <a:p>
            <a:pPr marL="0" lvl="0" indent="0" algn="l">
              <a:spcBef>
                <a:spcPts val="0"/>
              </a:spcBef>
              <a:spcAft>
                <a:spcPts val="0"/>
              </a:spcAft>
              <a:buNone/>
            </a:pPr>
            <a:r>
              <a:t>[11] K. Movassagh, A. Raihan, B. Balasingam, and K. Pattipati, "A Critical Look at Coulomb Counting Approach for State of Charge Estimation in Batteries," Energies, vol. 14, no. 14, Art. 4074, 2021, doi: 10.3390/en14144074.</a:t>
            </a:r>
          </a:p>
          <a:p>
            <a:pPr marL="0" lvl="0" indent="0" algn="l">
              <a:spcBef>
                <a:spcPts val="0"/>
              </a:spcBef>
              <a:spcAft>
                <a:spcPts val="0"/>
              </a:spcAft>
              <a:buNone/>
            </a:pPr>
            <a:r>
              <a:t>https://doi.org/10.3390/en14144074</a:t>
            </a:r>
          </a:p>
          <a:p>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p>
          <a:p>
            <a:pPr marL="0" lvl="0" indent="0" algn="l">
              <a:spcBef>
                <a:spcPts val="0"/>
              </a:spcBef>
              <a:spcAft>
                <a:spcPts val="0"/>
              </a:spcAft>
              <a:buNone/>
            </a:pPr>
          </a:p>
          <a:p>
            <a:pPr marL="0" lvl="0" indent="0" algn="l">
              <a:spcBef>
                <a:spcPts val="0"/>
              </a:spcBef>
              <a:spcAft>
                <a:spcPts val="0"/>
              </a:spcAft>
              <a:buNone/>
            </a:pPr>
            <a:r>
              <a:t>[12] C. Zhang, W. Allafi, Q. Dinh, P. Ascencio, and J. Marco, "Online estimation of battery equivalent circuit model parameters and state of charge using decoupled least squares technique," Energy, vol. 142, pp. 678–688, 2018, doi: 10.1016/j.energy.2017.10.043.</a:t>
            </a:r>
          </a:p>
          <a:p>
            <a:pPr marL="0" lvl="0" indent="0" algn="l">
              <a:spcBef>
                <a:spcPts val="0"/>
              </a:spcBef>
              <a:spcAft>
                <a:spcPts val="0"/>
              </a:spcAft>
              <a:buNone/>
            </a:pPr>
            <a:r>
              <a:t>https://doi.org/10.1016/j.energy.2017.10.043</a:t>
            </a:r>
          </a:p>
          <a:p>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p>
          <a:p>
            <a:pPr marL="0" lvl="0" indent="0" algn="l">
              <a:spcBef>
                <a:spcPts val="0"/>
              </a:spcBef>
              <a:spcAft>
                <a:spcPts val="0"/>
              </a:spcAft>
              <a:buNone/>
            </a:pPr>
          </a:p>
          <a:p>
            <a:pPr marL="0" lvl="0" indent="0" algn="l">
              <a:spcBef>
                <a:spcPts val="0"/>
              </a:spcBef>
              <a:spcAft>
                <a:spcPts val="0"/>
              </a:spcAft>
              <a:buNone/>
            </a:pPr>
            <a:r>
              <a:t>[13] A. Gismero, E. Schaltz, and D.-I. Stroe, "Recursive State of Charge and State of Health Estimation Method for Lithium-Ion Batteries Based on Coulomb Counting and Open Circuit Voltage," Energies, vol. 13, no. 7, Art. 1811, 2020, doi: 10.3390/en13071811.</a:t>
            </a:r>
          </a:p>
          <a:p>
            <a:pPr marL="0" lvl="0" indent="0" algn="l">
              <a:spcBef>
                <a:spcPts val="0"/>
              </a:spcBef>
              <a:spcAft>
                <a:spcPts val="0"/>
              </a:spcAft>
              <a:buNone/>
            </a:pPr>
            <a:r>
              <a:t>https://doi.org/10.3390/en13071811</a:t>
            </a:r>
          </a:p>
          <a:p>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p>
          <a:p>
            <a:pPr marL="0" lvl="0" indent="0" algn="l">
              <a:spcBef>
                <a:spcPts val="0"/>
              </a:spcBef>
              <a:spcAft>
                <a:spcPts val="0"/>
              </a:spcAft>
              <a:buNone/>
            </a:pPr>
          </a:p>
          <a:p>
            <a:pPr marL="0" lvl="0" indent="0" algn="l">
              <a:spcBef>
                <a:spcPts val="0"/>
              </a:spcBef>
              <a:spcAft>
                <a:spcPts val="0"/>
              </a:spcAft>
              <a:buNone/>
            </a:pPr>
            <a:r>
              <a:t>[14] K. Yang, Y. Tang, and Z. Zhang, "Parameter Identification and State-of-Charge Estimation for Lithium-Ion Batteries Using Separated Time Scales and Extended Kalman Filter," Energies, vol. 14, no. 4, Art. 1054, 2021, doi: 10.3390/en14041054.</a:t>
            </a:r>
          </a:p>
          <a:p>
            <a:pPr marL="0" lvl="0" indent="0" algn="l">
              <a:spcBef>
                <a:spcPts val="0"/>
              </a:spcBef>
              <a:spcAft>
                <a:spcPts val="0"/>
              </a:spcAft>
              <a:buNone/>
            </a:pPr>
            <a:r>
              <a:t>https://doi.org/10.3390/en14041054</a:t>
            </a:r>
          </a:p>
          <a:p>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p>
          <a:p>
            <a:pPr marL="0" lvl="0" indent="0" algn="l">
              <a:spcBef>
                <a:spcPts val="0"/>
              </a:spcBef>
              <a:spcAft>
                <a:spcPts val="0"/>
              </a:spcAft>
              <a:buNone/>
            </a:pPr>
          </a:p>
          <a:p>
            <a:pPr marL="0" lvl="0" indent="0" algn="l">
              <a:spcBef>
                <a:spcPts val="0"/>
              </a:spcBef>
              <a:spcAft>
                <a:spcPts val="0"/>
              </a:spcAft>
              <a:buNone/>
            </a:pPr>
            <a:r>
              <a:t>[15] B. Rzepka, S. Bischof, and T. Blank, "Implementing an Extended Kalman Filter for SoC Estimation of a Li-Ion Battery with Hysteresis: A Step-by-Step Guide," Energies, vol. 14, no. 13, Art. 3733, 2021, doi: 10.3390/en14133733.</a:t>
            </a:r>
          </a:p>
          <a:p>
            <a:pPr marL="0" lvl="0" indent="0" algn="l">
              <a:spcBef>
                <a:spcPts val="0"/>
              </a:spcBef>
              <a:spcAft>
                <a:spcPts val="0"/>
              </a:spcAft>
              <a:buNone/>
            </a:pPr>
            <a:r>
              <a:t>https://doi.org/10.3390/en14133733</a:t>
            </a:r>
          </a:p>
          <a:p>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p>
          <a:p>
            <a:pPr marL="0" lvl="0" indent="0" algn="l">
              <a:spcBef>
                <a:spcPts val="0"/>
              </a:spcBef>
              <a:spcAft>
                <a:spcPts val="0"/>
              </a:spcAft>
              <a:buNone/>
            </a:pPr>
          </a:p>
          <a:p>
            <a:pPr marL="0" lvl="0" indent="0" algn="l">
              <a:spcBef>
                <a:spcPts val="0"/>
              </a:spcBef>
              <a:spcAft>
                <a:spcPts val="0"/>
              </a:spcAft>
              <a:buNone/>
            </a:pPr>
            <a:r>
              <a:t>[16] B. Zine, H. Bia, A. Benmouna, M. Becherif, and M. Iqbal, "Experimentally Validated Coulomb Counting Method for Battery State-of-Charge Estimation under Variable Current Profiles," Energies, vol. 15, no. 21, Art. 8172, 2022, doi: 10.3390/en15218172.</a:t>
            </a:r>
          </a:p>
          <a:p>
            <a:pPr marL="0" lvl="0" indent="0" algn="l">
              <a:spcBef>
                <a:spcPts val="0"/>
              </a:spcBef>
              <a:spcAft>
                <a:spcPts val="0"/>
              </a:spcAft>
              <a:buNone/>
            </a:pPr>
            <a:r>
              <a:t>https://doi.org/10.3390/en15218172</a:t>
            </a:r>
          </a:p>
          <a:p>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p>
          <a:p>
            <a:pPr marL="0" lvl="0" indent="0" algn="l">
              <a:spcBef>
                <a:spcPts val="0"/>
              </a:spcBef>
              <a:spcAft>
                <a:spcPts val="0"/>
              </a:spcAft>
              <a:buNone/>
            </a:pPr>
          </a:p>
          <a:p>
            <a:pPr marL="0" lvl="0" indent="0" algn="l">
              <a:spcBef>
                <a:spcPts val="0"/>
              </a:spcBef>
              <a:spcAft>
                <a:spcPts val="0"/>
              </a:spcAft>
              <a:buNone/>
            </a:pPr>
            <a:r>
              <a:t>[17] H. M. Fahmy et al., "Hybrid State of Charge Estimation of Lithium-Ion Battery Using the Coulomb Counting Method and an Adaptive Unscented Kalman Filter," Energies, vol. 16, no. 14, Art. 5558, 2023, doi: 10.3390/en16145558.</a:t>
            </a:r>
          </a:p>
          <a:p>
            <a:pPr marL="0" lvl="0" indent="0" algn="l">
              <a:spcBef>
                <a:spcPts val="0"/>
              </a:spcBef>
              <a:spcAft>
                <a:spcPts val="0"/>
              </a:spcAft>
              <a:buNone/>
            </a:pPr>
            <a:r>
              <a:t>https://doi.org/10.3390/en16145558</a:t>
            </a:r>
          </a:p>
          <a:p>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p>
          <a:p>
            <a:pPr marL="0" lvl="0" indent="0" algn="l">
              <a:spcBef>
                <a:spcPts val="0"/>
              </a:spcBef>
              <a:spcAft>
                <a:spcPts val="0"/>
              </a:spcAft>
              <a:buNone/>
            </a:pPr>
          </a:p>
          <a:p>
            <a:pPr marL="0" lvl="0" indent="0" algn="l">
              <a:spcBef>
                <a:spcPts val="0"/>
              </a:spcBef>
              <a:spcAft>
                <a:spcPts val="0"/>
              </a:spcAft>
              <a:buNone/>
            </a:pPr>
            <a:r>
              <a:t>[18] M. Wang, G. Wang, Z. Xiao, Y. Sun, and Y. Zheng, "State of Charge Estimation of LiFePO4 in Various Temperature Scenarios," Batteries, vol. 9, no. 1, Art. 43, 2023, doi: 10.3390/batteries9010043.</a:t>
            </a:r>
          </a:p>
          <a:p>
            <a:pPr marL="0" lvl="0" indent="0" algn="l">
              <a:spcBef>
                <a:spcPts val="0"/>
              </a:spcBef>
              <a:spcAft>
                <a:spcPts val="0"/>
              </a:spcAft>
              <a:buNone/>
            </a:pPr>
            <a:r>
              <a:t>https://doi.org/10.3390/batteries9010043</a:t>
            </a:r>
          </a:p>
          <a:p>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p>
          <a:p>
            <a:pPr marL="0" lvl="0" indent="0" algn="l">
              <a:spcBef>
                <a:spcPts val="0"/>
              </a:spcBef>
              <a:spcAft>
                <a:spcPts val="0"/>
              </a:spcAft>
              <a:buNone/>
            </a:pPr>
          </a:p>
          <a:p>
            <a:pPr marL="0" lvl="0" indent="0" algn="l">
              <a:spcBef>
                <a:spcPts val="0"/>
              </a:spcBef>
              <a:spcAft>
                <a:spcPts val="0"/>
              </a:spcAft>
              <a:buNone/>
            </a:pPr>
            <a:r>
              <a:t>[19] H. Turkmanović, I. Popović, and V. Rajović, "Toward Energy Efficient Battery State of Charge Estimation on Embedded Platforms," Electronics, vol. 13, no. 21, Art. 4256, 2024, doi: 10.3390/electronics13214256.</a:t>
            </a:r>
          </a:p>
          <a:p>
            <a:pPr marL="0" lvl="0" indent="0" algn="l">
              <a:spcBef>
                <a:spcPts val="0"/>
              </a:spcBef>
              <a:spcAft>
                <a:spcPts val="0"/>
              </a:spcAft>
              <a:buNone/>
            </a:pPr>
            <a:r>
              <a:t>https://doi.org/10.3390/electronics13214256</a:t>
            </a:r>
          </a:p>
          <a:p>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p>
          <a:p>
            <a:pPr marL="0" lvl="0" indent="0" algn="l">
              <a:spcBef>
                <a:spcPts val="0"/>
              </a:spcBef>
              <a:spcAft>
                <a:spcPts val="0"/>
              </a:spcAft>
              <a:buNone/>
            </a:pPr>
          </a:p>
          <a:p>
            <a:pPr marL="0" lvl="0" indent="0" algn="l">
              <a:spcBef>
                <a:spcPts val="0"/>
              </a:spcBef>
              <a:spcAft>
                <a:spcPts val="0"/>
              </a:spcAft>
              <a:buNone/>
            </a:pPr>
            <a:r>
              <a:t>[20] S. Bampi, G. Waltrich, and A. Vaccari, "Electronic Load for Parameter Characterization in Equivalent Circuit Models of Lithium-Ion Batteries," Eletrônica de Potência, vol. 30, Art. e202521, 2025, doi: 10.18618/REP.e202521.</a:t>
            </a:r>
          </a:p>
          <a:p>
            <a:pPr marL="0" lvl="0" indent="0" algn="l">
              <a:spcBef>
                <a:spcPts val="0"/>
              </a:spcBef>
              <a:spcAft>
                <a:spcPts val="0"/>
              </a:spcAft>
              <a:buNone/>
            </a:pPr>
            <a:r>
              <a:t>https://doi.org/10.18618/REP.e202521</a:t>
            </a:r>
          </a:p>
          <a:p>
            <a:pPr marL="0" lvl="0" indent="0" algn="l">
              <a:spcBef>
                <a:spcPts val="0"/>
              </a:spcBef>
              <a:spcAft>
                <a:spcPts val="0"/>
              </a:spcAft>
              <a:buNone/>
            </a:pPr>
            <a:r>
              <a:t>Evidence: An electronic-load instrument characterized a lithium-titanate cell and supplied data to EKF SOC estimation. WattSense uses a protected LFP pack with a switched fan, not this high-current characterization load.</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This is an implementation gap for our project constraints, not a claim that the research community lacks priority shedding. The planned prototype can test real calibration, startup and runtime limits that current simulations cannot establish.</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r>
              <a:t>paper/src/manuscript.json, C003–C006</a:t>
            </a:r>
          </a:p>
          <a:p>
            <a:pPr marL="0" lvl="0" indent="0" algn="l">
              <a:spcBef>
                <a:spcPts val="0"/>
              </a:spcBef>
              <a:spcAft>
                <a:spcPts val="0"/>
              </a:spcAft>
              <a:buNone/>
            </a:pPr>
            <a:r>
              <a:t>Literature survey references [1]–[20]</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 spending plan targets less than ₹10,000, but delivered quotations have not yet established affordability. Runtime is a heuristic, not a guaranteed minimum. Cell-level protection remains with the purchased BMS.</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r>
              <a:t>WATTSENSE_PROJECT_BLUEPRINT.md</a:t>
            </a:r>
          </a:p>
          <a:p>
            <a:pPr marL="0" lvl="0" indent="0" algn="l">
              <a:spcBef>
                <a:spcPts val="0"/>
              </a:spcBef>
              <a:spcAft>
                <a:spcPts val="0"/>
              </a:spcAft>
              <a:buNone/>
            </a:pPr>
            <a:r>
              <a:t>docs/TEST_PLAN.md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 custom board measures signed battery current (U1), load input (U2) and optional charging current (U3). The purchased protected 4S LiFePO4 pack and matched charger supply cell protection and charging. U3 readout and solar are disabled initially. Essential lamp is unswitched, so reserve tests require supervised external stopping. Solid arrows denote power and dashed arrows denote data/control. Shared return, fuses and charger routing are omitted from this conceptual diagram. DS18B20 supplies surface temperature. SOC begins unknown and needs a verified full-charge reference. A sample gap &gt;2 s or invalid sample turns the optional output off and invalidates charge tracking. Restore requires explicit request, prospective runtime at least3.25 h and all operating gates. Intended ceilings:2 A battery,1.5 A total5 V, measured starter branches≤0.6 A each. Configured CAD checks pass; six generic connector footprint-filter warnings appear with all ignored categories enabled. Actual assigned footprints, nets, pitch and drills were independently checked. The board is not fabricated.</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r>
              <a:t>hardware/REFERENCE_WIRING.md</a:t>
            </a:r>
          </a:p>
          <a:p>
            <a:pPr marL="0" lvl="0" indent="0" algn="l">
              <a:spcBef>
                <a:spcPts val="0"/>
              </a:spcBef>
              <a:spcAft>
                <a:spcPts val="0"/>
              </a:spcAft>
              <a:buNone/>
            </a:pPr>
            <a:r>
              <a:t>firmware/include/controller.h</a:t>
            </a:r>
          </a:p>
          <a:p>
            <a:pPr marL="0" lvl="0" indent="0" algn="l">
              <a:spcBef>
                <a:spcPts val="0"/>
              </a:spcBef>
              <a:spcAft>
                <a:spcPts val="0"/>
              </a:spcAft>
              <a:buNone/>
            </a:pPr>
            <a:r>
              <a:t>firmware/include/config.h</a:t>
            </a:r>
          </a:p>
          <a:p>
            <a:pPr marL="0" lvl="0" indent="0" algn="l">
              <a:spcBef>
                <a:spcPts val="0"/>
              </a:spcBef>
              <a:spcAft>
                <a:spcPts val="0"/>
              </a:spcAft>
              <a:buNone/>
            </a:pPr>
            <a:r>
              <a:t>docs/evidence/recheck-2026-09-30/hardware/FINDINGS.md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Current data are synthetic model traces, not physical observations. The18 pairs vary assumed capacity, efficiency and battery resistance; they are deterministic scenarios, not confidence intervals. The12,000 comparisons use host-compiled C++ versus Python, not ESP32 execution. Both production and bring-up targets build; production arming remains disabled. The reduced startup simulations give common-rail/fan minima: S1 4.824746/4.677085 V, S2 4.756409/4.473916 V, S3 2.994660/2.735565 V, S4 identical minima with2200 µF, S5 4.693761/4.287662 V, S6 4.790716/4.551236 V. Fan-start/source-limit currents: S1 .6/2 A, S2 1.2/2 A, S3–S4 1.8/1.5 A, S5 1.8/3 A, S6 1/2 A. Other cases use470 µF. S3,S4,S5 fail the provisional4.75 V rail screen. This screen is neither an actual selected-fan specification nor an ESP32 reset threshold. More capacitance cannot fix sustained source shortage. Models do not establish converter/BLDC/thermal performance. Hardware logs must include timestamps, independent readings, load state and temperature.</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r>
              <a:t>docs/RECHECK_2026-09-30.md</a:t>
            </a:r>
          </a:p>
          <a:p>
            <a:pPr marL="0" lvl="0" indent="0" algn="l">
              <a:spcBef>
                <a:spcPts val="0"/>
              </a:spcBef>
              <a:spcAft>
                <a:spcPts val="0"/>
              </a:spcAft>
              <a:buNone/>
            </a:pPr>
            <a:r>
              <a:t>simulations/results/hardware-summary.json</a:t>
            </a:r>
          </a:p>
          <a:p>
            <a:pPr marL="0" lvl="0" indent="0" algn="l">
              <a:spcBef>
                <a:spcPts val="0"/>
              </a:spcBef>
              <a:spcAft>
                <a:spcPts val="0"/>
              </a:spcAft>
              <a:buNone/>
            </a:pPr>
            <a:r>
              <a:t>docs/TEST_PLAN.md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 chart reports a Python reference controller coupled to a nonideal battery/load model. Baseline lamp/fan service is5.476388889 h. Priority lamp service is7.883611111 h and fan service2.493611111 h. Lamp+43.956378% accompanies fan−54.466142%; this reallocates service and does not add battery capacity or show an equal-service efficiency gain. Values in the editable chart workbook are rounded to six decimals; raw values remain in hardware-summary.json. Runtime depends on assumed capacity, OCV, resistance, efficiency and known current. Hardware has not established these runtimes. Calibration target is±1% voltage and±(3% of independent reference current +10 mA). Verify these targets with held-out readings and instrument uncertainty. Also test3 s low-runtime trigger, invalid-reading OFF, explicit restore, startup rails, temperature and repeated matched baseline/priority discharge. Use supervised external stopping because the lamp is unswitched.</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r>
              <a:t>simulations/results/hardware-summary.json</a:t>
            </a:r>
          </a:p>
          <a:p>
            <a:pPr marL="0" lvl="0" indent="0" algn="l">
              <a:spcBef>
                <a:spcPts val="0"/>
              </a:spcBef>
              <a:spcAft>
                <a:spcPts val="0"/>
              </a:spcAft>
              <a:buNone/>
            </a:pPr>
            <a:r>
              <a:t>simulations/hardware-assumptions.json</a:t>
            </a:r>
          </a:p>
          <a:p>
            <a:pPr marL="0" lvl="0" indent="0" algn="l">
              <a:spcBef>
                <a:spcPts val="0"/>
              </a:spcBef>
              <a:spcAft>
                <a:spcPts val="0"/>
              </a:spcAft>
              <a:buNone/>
            </a:pPr>
            <a:r>
              <a:t>docs/TEST_PLAN.md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Review3 is3 October2026 as supplied. The final project submission is next semester. The listed months are planning stages, not confirmed deliveries. Initial allocation₹9,700 includes a₹700 contingency, no funded re-spin and no solar purchase. Scope is one custom interface board and a purchased protected BMS pack.</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r>
              <a:t>User review date,1 October2026</a:t>
            </a:r>
          </a:p>
          <a:p>
            <a:pPr marL="0" lvl="0" indent="0" algn="l">
              <a:spcBef>
                <a:spcPts val="0"/>
              </a:spcBef>
              <a:spcAft>
                <a:spcPts val="0"/>
              </a:spcAft>
              <a:buNone/>
            </a:pPr>
            <a:r>
              <a:t>docs/NEXT_STEPS.md</a:t>
            </a:r>
          </a:p>
          <a:p>
            <a:pPr marL="0" lvl="0" indent="0" algn="l">
              <a:spcBef>
                <a:spcPts val="0"/>
              </a:spcBef>
              <a:spcAft>
                <a:spcPts val="0"/>
              </a:spcAft>
              <a:buNone/>
            </a:pPr>
            <a:r>
              <a:t>hardware/BUYING_PLAN_PUNE.md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[1] A. Marahatta, Y. Rajbhandari, A. Shrestha, A. Singh, A. Gachhadar, and A. Thapa, 'Priority-based low voltage DC microgrid system for rural electrification,' Energy Reports, vol. 7, pp. 43-51, 2021, doi: 10.1016/j.egyr.2020.11.030.</a:t>
            </a:r>
          </a:p>
          <a:p>
            <a:pPr marL="0" lvl="0" indent="0" algn="l">
              <a:spcBef>
                <a:spcPts val="0"/>
              </a:spcBef>
              <a:spcAft>
                <a:spcPts val="0"/>
              </a:spcAft>
              <a:buNone/>
            </a:pPr>
            <a:r>
              <a:t>https://www.sciencedirect.com/science/article/pii/S2352484720314554</a:t>
            </a:r>
          </a:p>
          <a:p>
            <a:pPr marL="0" lvl="0" indent="0" algn="l">
              <a:spcBef>
                <a:spcPts val="0"/>
              </a:spcBef>
              <a:spcAft>
                <a:spcPts val="0"/>
              </a:spcAft>
              <a:buNone/>
            </a:pPr>
            <a:r>
              <a:t>Evidence: Publisher abstract, retrieved 2026-10-01; existing paper/evidence/literature-review.json, source marahatta2021 (2026-09-30). Earlier author-uploaded paper section 2.2.2 and Table 3 were checked in that record.</a:t>
            </a:r>
          </a:p>
          <a:p>
            <a:pPr marL="0" lvl="0" indent="0" algn="l">
              <a:spcBef>
                <a:spcPts val="0"/>
              </a:spcBef>
              <a:spcAft>
                <a:spcPts val="0"/>
              </a:spcAft>
              <a:buNone/>
            </a:pPr>
          </a:p>
          <a:p>
            <a:pPr marL="0" lvl="0" indent="0" algn="l">
              <a:spcBef>
                <a:spcPts val="0"/>
              </a:spcBef>
              <a:spcAft>
                <a:spcPts val="0"/>
              </a:spcAft>
              <a:buNone/>
            </a:pPr>
            <a:r>
              <a:t>[2] Y. Rajbhandari, A. Marahatta, A. Shrestha, A. Gachhadar, A. Thapa, F. Gonzalez-Longatt, and P. Korba, 'Enhanced demand side management for solar-based isolated microgrid system: Load prioritisation and energy optimisation,' IET Smart Grid, vol. 7, no. 3, pp. 294-313, 2024, doi: 10.1049/stg2.12151.</a:t>
            </a:r>
          </a:p>
          <a:p>
            <a:pPr marL="0" lvl="0" indent="0" algn="l">
              <a:spcBef>
                <a:spcPts val="0"/>
              </a:spcBef>
              <a:spcAft>
                <a:spcPts val="0"/>
              </a:spcAft>
              <a:buNone/>
            </a:pPr>
            <a:r>
              <a:t>https://ietresearch.onlinelibrary.wiley.com/doi/10.1049/stg2.12151</a:t>
            </a:r>
          </a:p>
          <a:p>
            <a:pPr marL="0" lvl="0" indent="0" algn="l">
              <a:spcBef>
                <a:spcPts val="0"/>
              </a:spcBef>
              <a:spcAft>
                <a:spcPts val="0"/>
              </a:spcAft>
              <a:buNone/>
            </a:pPr>
            <a:r>
              <a:t>Evidence: Publisher abstract; section 4 Discussion and Conclusions; issue citation. Publisher content retrieved through indexed primary page 2026-10-01. Saved literature-review.json also checked.</a:t>
            </a:r>
          </a:p>
          <a:p>
            <a:pPr marL="0" lvl="0" indent="0" algn="l">
              <a:spcBef>
                <a:spcPts val="0"/>
              </a:spcBef>
              <a:spcAft>
                <a:spcPts val="0"/>
              </a:spcAft>
              <a:buNone/>
            </a:pPr>
          </a:p>
          <a:p>
            <a:pPr marL="0" lvl="0" indent="0" algn="l">
              <a:spcBef>
                <a:spcPts val="0"/>
              </a:spcBef>
              <a:spcAft>
                <a:spcPts val="0"/>
              </a:spcAft>
              <a:buNone/>
            </a:pPr>
            <a:r>
              <a:t>[3] W. Bai, M. Sechilariu, and F. Locment, 'DC Microgrid System Modeling and Simulation Based on a Specific Algorithm for Grid-Connected and Islanded Modes with Real-Time Demand-Side Management Optimization,' Applied Sciences, vol. 10, no. 7, Art. 2544, 2020, doi: 10.3390/app10072544.</a:t>
            </a:r>
          </a:p>
          <a:p>
            <a:pPr marL="0" lvl="0" indent="0" algn="l">
              <a:spcBef>
                <a:spcPts val="0"/>
              </a:spcBef>
              <a:spcAft>
                <a:spcPts val="0"/>
              </a:spcAft>
              <a:buNone/>
            </a:pPr>
            <a:r>
              <a:t>https://www.mdpi.com/2076-3417/10/7/2544</a:t>
            </a:r>
          </a:p>
          <a:p>
            <a:pPr marL="0" lvl="0" indent="0" algn="l">
              <a:spcBef>
                <a:spcPts val="0"/>
              </a:spcBef>
              <a:spcAft>
                <a:spcPts val="0"/>
              </a:spcAft>
              <a:buNone/>
            </a:pPr>
            <a:r>
              <a:t>Evidence: Publisher PDF pp. 1-3 abstract/contributions; section 2 introduction (p. 3), section 2.6 DC Load (p. 6); doi and byline on p. 1.</a:t>
            </a:r>
          </a:p>
          <a:p>
            <a:pPr marL="0" lvl="0" indent="0" algn="l">
              <a:spcBef>
                <a:spcPts val="0"/>
              </a:spcBef>
              <a:spcAft>
                <a:spcPts val="0"/>
              </a:spcAft>
              <a:buNone/>
            </a:pPr>
          </a:p>
          <a:p>
            <a:pPr marL="0" lvl="0" indent="0" algn="l">
              <a:spcBef>
                <a:spcPts val="0"/>
              </a:spcBef>
              <a:spcAft>
                <a:spcPts val="0"/>
              </a:spcAft>
              <a:buNone/>
            </a:pPr>
            <a:r>
              <a:t>[4] J. Lv, X. Wang, G. Wang, and Y. Song, 'Research on Control Strategy of Isolated DC Microgrid Based on SOC of Energy Storage System,' Electronics, vol. 10, no. 7, Art. 834, 2021, doi: 10.3390/electronics10070834.</a:t>
            </a:r>
          </a:p>
          <a:p>
            <a:pPr marL="0" lvl="0" indent="0" algn="l">
              <a:spcBef>
                <a:spcPts val="0"/>
              </a:spcBef>
              <a:spcAft>
                <a:spcPts val="0"/>
              </a:spcAft>
              <a:buNone/>
            </a:pPr>
            <a:r>
              <a:t>https://www.mdpi.com/2079-9292/10/7/834</a:t>
            </a:r>
          </a:p>
          <a:p>
            <a:pPr marL="0" lvl="0" indent="0" algn="l">
              <a:spcBef>
                <a:spcPts val="0"/>
              </a:spcBef>
              <a:spcAft>
                <a:spcPts val="0"/>
              </a:spcAft>
              <a:buNone/>
            </a:pPr>
            <a:r>
              <a:t>Evidence: Publisher indexed full text: byline/abstract, section 4 Simulation and Discussion, section 4.2, Table 2, section 5 Conclusions.</a:t>
            </a:r>
          </a:p>
          <a:p>
            <a:pPr marL="0" lvl="0" indent="0" algn="l">
              <a:spcBef>
                <a:spcPts val="0"/>
              </a:spcBef>
              <a:spcAft>
                <a:spcPts val="0"/>
              </a:spcAft>
              <a:buNone/>
            </a:pPr>
          </a:p>
          <a:p>
            <a:pPr marL="0" lvl="0" indent="0" algn="l">
              <a:spcBef>
                <a:spcPts val="0"/>
              </a:spcBef>
              <a:spcAft>
                <a:spcPts val="0"/>
              </a:spcAft>
              <a:buNone/>
            </a:pPr>
            <a:r>
              <a:t>[5] L. Guo and J. Kors, Jr., 'Design of a Laboratory Scale Solar Microgrid Cyber-Physical System for Education,' Electronics, vol. 10, no. 13, Art. 1562, 2021, doi: 10.3390/electronics10131562.</a:t>
            </a:r>
          </a:p>
          <a:p>
            <a:pPr marL="0" lvl="0" indent="0" algn="l">
              <a:spcBef>
                <a:spcPts val="0"/>
              </a:spcBef>
              <a:spcAft>
                <a:spcPts val="0"/>
              </a:spcAft>
              <a:buNone/>
            </a:pPr>
            <a:r>
              <a:t>https://www.mdpi.com/2079-9292/10/13/1562</a:t>
            </a:r>
          </a:p>
          <a:p>
            <a:pPr marL="0" lvl="0" indent="0" algn="l">
              <a:spcBef>
                <a:spcPts val="0"/>
              </a:spcBef>
              <a:spcAft>
                <a:spcPts val="0"/>
              </a:spcAft>
              <a:buNone/>
            </a:pPr>
            <a:r>
              <a:t>Evidence: Publisher indexed full text: title/byline, section 2 system design, section 4 GUI, section 6 Experimental Results, section 7 Educational Assessment and section 8 conclusions.</a:t>
            </a:r>
          </a:p>
          <a:p>
            <a:pPr marL="0" lvl="0" indent="0" algn="l">
              <a:spcBef>
                <a:spcPts val="0"/>
              </a:spcBef>
              <a:spcAft>
                <a:spcPts val="0"/>
              </a:spcAft>
              <a:buNone/>
            </a:pPr>
          </a:p>
          <a:p>
            <a:pPr marL="0" lvl="0" indent="0" algn="l">
              <a:spcBef>
                <a:spcPts val="0"/>
              </a:spcBef>
              <a:spcAft>
                <a:spcPts val="0"/>
              </a:spcAft>
              <a:buNone/>
            </a:pPr>
            <a:r>
              <a:t>[6] E. Yusubov and L. Bekirova, 'A standalone DC microgrid energy management strategy using the battery state of charge,' Informatyka, Automatyka, Pomiary w Gospodarce i Ochronie Środowiska, vol. 13, no. 3, pp. 75-78, 2023, doi: 10.35784/iapgos.5320.</a:t>
            </a:r>
          </a:p>
          <a:p>
            <a:pPr marL="0" lvl="0" indent="0" algn="l">
              <a:spcBef>
                <a:spcPts val="0"/>
              </a:spcBef>
              <a:spcAft>
                <a:spcPts val="0"/>
              </a:spcAft>
              <a:buNone/>
            </a:pPr>
            <a:r>
              <a:t>https://ph.pollub.pl/index.php/iapgos/en/article/view/5320</a:t>
            </a:r>
          </a:p>
          <a:p>
            <a:pPr marL="0" lvl="0" indent="0" algn="l">
              <a:spcBef>
                <a:spcPts val="0"/>
              </a:spcBef>
              <a:spcAft>
                <a:spcPts val="0"/>
              </a:spcAft>
              <a:buNone/>
            </a:pPr>
            <a:r>
              <a:t>Evidence: Publisher landing page abstract and citation, published 30 September 2023; publisher four-page PDF opened for primary source confirmation.</a:t>
            </a:r>
          </a:p>
          <a:p>
            <a:pPr marL="0" lvl="0" indent="0" algn="l">
              <a:spcBef>
                <a:spcPts val="0"/>
              </a:spcBef>
              <a:spcAft>
                <a:spcPts val="0"/>
              </a:spcAft>
              <a:buNone/>
            </a:pPr>
          </a:p>
          <a:p>
            <a:pPr marL="0" lvl="0" indent="0" algn="l">
              <a:spcBef>
                <a:spcPts val="0"/>
              </a:spcBef>
              <a:spcAft>
                <a:spcPts val="0"/>
              </a:spcAft>
              <a:buNone/>
            </a:pPr>
            <a:r>
              <a:t>[7] J. A. Basantes, D. E. Paredes, J. R. Llanos, D. E. Ortiz, and C. D. Burgos, 'Energy Management System (EMS) Based on Model Predictive Control (MPC) for an Isolated DC Microgrid,' Energies, vol. 16, no. 6, Art. 2912, 2023, doi: 10.3390/en16062912.</a:t>
            </a:r>
          </a:p>
          <a:p>
            <a:pPr marL="0" lvl="0" indent="0" algn="l">
              <a:spcBef>
                <a:spcPts val="0"/>
              </a:spcBef>
              <a:spcAft>
                <a:spcPts val="0"/>
              </a:spcAft>
              <a:buNone/>
            </a:pPr>
            <a:r>
              <a:t>https://www.mdpi.com/1996-1073/16/6/2912</a:t>
            </a:r>
          </a:p>
          <a:p>
            <a:pPr marL="0" lvl="0" indent="0" algn="l">
              <a:spcBef>
                <a:spcPts val="0"/>
              </a:spcBef>
              <a:spcAft>
                <a:spcPts val="0"/>
              </a:spcAft>
              <a:buNone/>
            </a:pPr>
            <a:r>
              <a:t>Evidence: Publisher indexed sections 4 Results and 5 Conclusions; published PDF at LAPSE repository pp. 1 (metadata), 12-18 (results and conclusions).</a:t>
            </a:r>
          </a:p>
          <a:p>
            <a:pPr marL="0" lvl="0" indent="0" algn="l">
              <a:spcBef>
                <a:spcPts val="0"/>
              </a:spcBef>
              <a:spcAft>
                <a:spcPts val="0"/>
              </a:spcAft>
              <a:buNone/>
            </a:pPr>
          </a:p>
          <a:p>
            <a:pPr marL="0" lvl="0" indent="0" algn="l">
              <a:spcBef>
                <a:spcPts val="0"/>
              </a:spcBef>
              <a:spcAft>
                <a:spcPts val="0"/>
              </a:spcAft>
              <a:buNone/>
            </a:pPr>
            <a:r>
              <a:t>[8] R. Sepehrzad, J. Ghafourian, A. Hedayatnia, A. Al-Durrad, and M. H. Khooban, 'Experimental and developed DC microgrid energy management integrated with battery energy storage based on multiple dynamic matrix model predictive control,' Journal of Energy Storage, vol. 74, Part A, Art. 109282, 2023, doi: 10.1016/j.est.2023.109282.</a:t>
            </a:r>
          </a:p>
          <a:p>
            <a:pPr marL="0" lvl="0" indent="0" algn="l">
              <a:spcBef>
                <a:spcPts val="0"/>
              </a:spcBef>
              <a:spcAft>
                <a:spcPts val="0"/>
              </a:spcAft>
              <a:buNone/>
            </a:pPr>
            <a:r>
              <a:t>https://www.sciencedirect.com/science/article/pii/S2352152X23026804</a:t>
            </a:r>
          </a:p>
          <a:p>
            <a:pPr marL="0" lvl="0" indent="0" algn="l">
              <a:spcBef>
                <a:spcPts val="0"/>
              </a:spcBef>
              <a:spcAft>
                <a:spcPts val="0"/>
              </a:spcAft>
              <a:buNone/>
            </a:pPr>
            <a:r>
              <a:t>Evidence: Aarhus University institutional record: authors, peer-review flag, abstract paragraphs 1-4, citation and DOI. Publisher abstract was independently retrieved.</a:t>
            </a:r>
          </a:p>
          <a:p>
            <a:pPr marL="0" lvl="0" indent="0" algn="l">
              <a:spcBef>
                <a:spcPts val="0"/>
              </a:spcBef>
              <a:spcAft>
                <a:spcPts val="0"/>
              </a:spcAft>
              <a:buNone/>
            </a:pPr>
          </a:p>
          <a:p>
            <a:pPr marL="0" lvl="0" indent="0" algn="l">
              <a:spcBef>
                <a:spcPts val="0"/>
              </a:spcBef>
              <a:spcAft>
                <a:spcPts val="0"/>
              </a:spcAft>
              <a:buNone/>
            </a:pPr>
            <a:r>
              <a:t>[9] Y. Khawaja, I. Qiqieh, J. Alzubi, O. Alzubi, A. Allahham, and D. Giaouris, 'Design of cost-based sizing and energy management framework for standalone microgrid using reinforcement learning,' Solar Energy, vol. 251, pp. 249-260, 2023, doi: 10.1016/j.solener.2023.01.027.</a:t>
            </a:r>
          </a:p>
          <a:p>
            <a:pPr marL="0" lvl="0" indent="0" algn="l">
              <a:spcBef>
                <a:spcPts val="0"/>
              </a:spcBef>
              <a:spcAft>
                <a:spcPts val="0"/>
              </a:spcAft>
              <a:buNone/>
            </a:pPr>
            <a:r>
              <a:t>https://www.sciencedirect.com/science/article/pii/S0038092X23000336</a:t>
            </a:r>
          </a:p>
          <a:p>
            <a:pPr marL="0" lvl="0" indent="0" algn="l">
              <a:spcBef>
                <a:spcPts val="0"/>
              </a:spcBef>
              <a:spcAft>
                <a:spcPts val="0"/>
              </a:spcAft>
              <a:buNone/>
            </a:pPr>
            <a:r>
              <a:t>Evidence: Publisher title/byline/abstract and Experimental results section; 15-page author manuscript opened from Newcastle staff repository, title page and abstract.</a:t>
            </a:r>
          </a:p>
          <a:p>
            <a:pPr marL="0" lvl="0" indent="0" algn="l">
              <a:spcBef>
                <a:spcPts val="0"/>
              </a:spcBef>
              <a:spcAft>
                <a:spcPts val="0"/>
              </a:spcAft>
              <a:buNone/>
            </a:pPr>
          </a:p>
          <a:p>
            <a:pPr marL="0" lvl="0" indent="0" algn="l">
              <a:spcBef>
                <a:spcPts val="0"/>
              </a:spcBef>
              <a:spcAft>
                <a:spcPts val="0"/>
              </a:spcAft>
              <a:buNone/>
            </a:pPr>
            <a:r>
              <a:t>[10] A. Singh and A. Maulik, 'DC Microgrid energy management with correlated uncertainties,' Sustainable Energy, Grids and Networks, vol. 35, Art. 101137, 2023, doi: 10.1016/j.segan.2023.101137.</a:t>
            </a:r>
          </a:p>
          <a:p>
            <a:pPr marL="0" lvl="0" indent="0" algn="l">
              <a:spcBef>
                <a:spcPts val="0"/>
              </a:spcBef>
              <a:spcAft>
                <a:spcPts val="0"/>
              </a:spcAft>
              <a:buNone/>
            </a:pPr>
            <a:r>
              <a:t>https://www.sciencedirect.com/science/article/pii/S2352467723001455</a:t>
            </a:r>
          </a:p>
          <a:p>
            <a:pPr marL="0" lvl="0" indent="0" algn="l">
              <a:spcBef>
                <a:spcPts val="0"/>
              </a:spcBef>
              <a:spcAft>
                <a:spcPts val="0"/>
              </a:spcAft>
              <a:buNone/>
            </a:pPr>
            <a:r>
              <a:t>Evidence: Publisher indexed article title/byline/abstract; System modelling assumptions; Test system; Conclusions.</a:t>
            </a:r>
          </a:p>
          <a:p>
            <a:pPr marL="0" lvl="0" indent="0" algn="l">
              <a:spcBef>
                <a:spcPts val="0"/>
              </a:spcBef>
              <a:spcAft>
                <a:spcPts val="0"/>
              </a:spcAft>
              <a:buNone/>
            </a:pPr>
          </a:p>
          <a:p>
            <a:pPr marL="0" lvl="0" indent="0" algn="l">
              <a:spcBef>
                <a:spcPts val="0"/>
              </a:spcBef>
              <a:spcAft>
                <a:spcPts val="0"/>
              </a:spcAft>
              <a:buNone/>
            </a:pPr>
            <a:r>
              <a:t>[11] K. Movassagh, A. Raihan, B. Balasingam, and K. Pattipati, "A Critical Look at Coulomb Counting Approach for State of Charge Estimation in Batteries," Energies, vol. 14, no. 14, Art. 4074, 2021, doi: 10.3390/en14144074.</a:t>
            </a:r>
          </a:p>
          <a:p>
            <a:pPr marL="0" lvl="0" indent="0" algn="l">
              <a:spcBef>
                <a:spcPts val="0"/>
              </a:spcBef>
              <a:spcAft>
                <a:spcPts val="0"/>
              </a:spcAft>
              <a:buNone/>
            </a:pPr>
            <a:r>
              <a:t>https://doi.org/10.3390/en14144074</a:t>
            </a:r>
          </a:p>
          <a:p>
            <a:pPr marL="0" lvl="0" indent="0" algn="l">
              <a:spcBef>
                <a:spcPts val="0"/>
              </a:spcBef>
              <a:spcAft>
                <a:spcPts val="0"/>
              </a:spcAft>
              <a:buNone/>
            </a:pPr>
            <a:r>
              <a:t>Evidence: Existing primary-source record paper/evidence/literature-review.json, id movassagh2021; NASA-hosted manuscript abstract and error-analysis sections.</a:t>
            </a:r>
          </a:p>
          <a:p>
            <a:pPr marL="0" lvl="0" indent="0" algn="l">
              <a:spcBef>
                <a:spcPts val="0"/>
              </a:spcBef>
              <a:spcAft>
                <a:spcPts val="0"/>
              </a:spcAft>
              <a:buNone/>
            </a:pPr>
          </a:p>
          <a:p>
            <a:pPr marL="0" lvl="0" indent="0" algn="l">
              <a:spcBef>
                <a:spcPts val="0"/>
              </a:spcBef>
              <a:spcAft>
                <a:spcPts val="0"/>
              </a:spcAft>
              <a:buNone/>
            </a:pPr>
            <a:r>
              <a:t>[12] C. Zhang, W. Allafi, Q. Dinh, P. Ascencio, and J. Marco, "Online estimation of battery equivalent circuit model parameters and state of charge using decoupled least squares technique," Energy, vol. 142, pp. 678–688, 2018, doi: 10.1016/j.energy.2017.10.043.</a:t>
            </a:r>
          </a:p>
          <a:p>
            <a:pPr marL="0" lvl="0" indent="0" algn="l">
              <a:spcBef>
                <a:spcPts val="0"/>
              </a:spcBef>
              <a:spcAft>
                <a:spcPts val="0"/>
              </a:spcAft>
              <a:buNone/>
            </a:pPr>
            <a:r>
              <a:t>https://doi.org/10.1016/j.energy.2017.10.043</a:t>
            </a:r>
          </a:p>
          <a:p>
            <a:pPr marL="0" lvl="0" indent="0" algn="l">
              <a:spcBef>
                <a:spcPts val="0"/>
              </a:spcBef>
              <a:spcAft>
                <a:spcPts val="0"/>
              </a:spcAft>
              <a:buNone/>
            </a:pPr>
            <a:r>
              <a:t>Evidence: Existing primary-source record paper/evidence/literature-review.json, id zhang2018; abstract, experimental section 4.1 and discussion 6.1.</a:t>
            </a:r>
          </a:p>
          <a:p>
            <a:pPr marL="0" lvl="0" indent="0" algn="l">
              <a:spcBef>
                <a:spcPts val="0"/>
              </a:spcBef>
              <a:spcAft>
                <a:spcPts val="0"/>
              </a:spcAft>
              <a:buNone/>
            </a:pPr>
          </a:p>
          <a:p>
            <a:pPr marL="0" lvl="0" indent="0" algn="l">
              <a:spcBef>
                <a:spcPts val="0"/>
              </a:spcBef>
              <a:spcAft>
                <a:spcPts val="0"/>
              </a:spcAft>
              <a:buNone/>
            </a:pPr>
            <a:r>
              <a:t>[13] A. Gismero, E. Schaltz, and D.-I. Stroe, "Recursive State of Charge and State of Health Estimation Method for Lithium-Ion Batteries Based on Coulomb Counting and Open Circuit Voltage," Energies, vol. 13, no. 7, Art. 1811, 2020, doi: 10.3390/en13071811.</a:t>
            </a:r>
          </a:p>
          <a:p>
            <a:pPr marL="0" lvl="0" indent="0" algn="l">
              <a:spcBef>
                <a:spcPts val="0"/>
              </a:spcBef>
              <a:spcAft>
                <a:spcPts val="0"/>
              </a:spcAft>
              <a:buNone/>
            </a:pPr>
            <a:r>
              <a:t>https://doi.org/10.3390/en13071811</a:t>
            </a:r>
          </a:p>
          <a:p>
            <a:pPr marL="0" lvl="0" indent="0" algn="l">
              <a:spcBef>
                <a:spcPts val="0"/>
              </a:spcBef>
              <a:spcAft>
                <a:spcPts val="0"/>
              </a:spcAft>
              <a:buNone/>
            </a:pPr>
            <a:r>
              <a:t>Evidence: Aalborg-hosted version of record: section 2 identifies 3.4 Ah NMC cells; sections 3–5 describe efficiency compensation, OCV reset and RLS; section 6 discusses relaxation-time dependence.</a:t>
            </a:r>
          </a:p>
          <a:p>
            <a:pPr marL="0" lvl="0" indent="0" algn="l">
              <a:spcBef>
                <a:spcPts val="0"/>
              </a:spcBef>
              <a:spcAft>
                <a:spcPts val="0"/>
              </a:spcAft>
              <a:buNone/>
            </a:pPr>
          </a:p>
          <a:p>
            <a:pPr marL="0" lvl="0" indent="0" algn="l">
              <a:spcBef>
                <a:spcPts val="0"/>
              </a:spcBef>
              <a:spcAft>
                <a:spcPts val="0"/>
              </a:spcAft>
              <a:buNone/>
            </a:pPr>
            <a:r>
              <a:t>[14] K. Yang, Y. Tang, and Z. Zhang, "Parameter Identification and State-of-Charge Estimation for Lithium-Ion Batteries Using Separated Time Scales and Extended Kalman Filter," Energies, vol. 14, no. 4, Art. 1054, 2021, doi: 10.3390/en14041054.</a:t>
            </a:r>
          </a:p>
          <a:p>
            <a:pPr marL="0" lvl="0" indent="0" algn="l">
              <a:spcBef>
                <a:spcPts val="0"/>
              </a:spcBef>
              <a:spcAft>
                <a:spcPts val="0"/>
              </a:spcAft>
              <a:buNone/>
            </a:pPr>
            <a:r>
              <a:t>https://doi.org/10.3390/en14041054</a:t>
            </a:r>
          </a:p>
          <a:p>
            <a:pPr marL="0" lvl="0" indent="0" algn="l">
              <a:spcBef>
                <a:spcPts val="0"/>
              </a:spcBef>
              <a:spcAft>
                <a:spcPts val="0"/>
              </a:spcAft>
              <a:buNone/>
            </a:pPr>
            <a:r>
              <a:t>Evidence: Published-paper PDF: section 3/Table 1 states University of Maryland 2 Ah LiNiMnCo/graphite data; OCV and DST tests at 0, 25 and 45 °C; section 3.2.2 and conclusion compare against RLS.</a:t>
            </a:r>
          </a:p>
          <a:p>
            <a:pPr marL="0" lvl="0" indent="0" algn="l">
              <a:spcBef>
                <a:spcPts val="0"/>
              </a:spcBef>
              <a:spcAft>
                <a:spcPts val="0"/>
              </a:spcAft>
              <a:buNone/>
            </a:pPr>
          </a:p>
          <a:p>
            <a:pPr marL="0" lvl="0" indent="0" algn="l">
              <a:spcBef>
                <a:spcPts val="0"/>
              </a:spcBef>
              <a:spcAft>
                <a:spcPts val="0"/>
              </a:spcAft>
              <a:buNone/>
            </a:pPr>
            <a:r>
              <a:t>[15] B. Rzepka, S. Bischof, and T. Blank, "Implementing an Extended Kalman Filter for SoC Estimation of a Li-Ion Battery with Hysteresis: A Step-by-Step Guide," Energies, vol. 14, no. 13, Art. 3733, 2021, doi: 10.3390/en14133733.</a:t>
            </a:r>
          </a:p>
          <a:p>
            <a:pPr marL="0" lvl="0" indent="0" algn="l">
              <a:spcBef>
                <a:spcPts val="0"/>
              </a:spcBef>
              <a:spcAft>
                <a:spcPts val="0"/>
              </a:spcAft>
              <a:buNone/>
            </a:pPr>
            <a:r>
              <a:t>https://doi.org/10.3390/en14133733</a:t>
            </a:r>
          </a:p>
          <a:p>
            <a:pPr marL="0" lvl="0" indent="0" algn="l">
              <a:spcBef>
                <a:spcPts val="0"/>
              </a:spcBef>
              <a:spcAft>
                <a:spcPts val="0"/>
              </a:spcAft>
              <a:buNone/>
            </a:pPr>
            <a:r>
              <a:t>Evidence: Publisher retrieved sections 2, 3, 5, 6.1 and 7; KIT institutional bibliographic record. Section 6.1 describes a cell estimator operating within a 96-cell system using AURIX/LTC6811/fluxgate hardware.</a:t>
            </a:r>
          </a:p>
          <a:p>
            <a:pPr marL="0" lvl="0" indent="0" algn="l">
              <a:spcBef>
                <a:spcPts val="0"/>
              </a:spcBef>
              <a:spcAft>
                <a:spcPts val="0"/>
              </a:spcAft>
              <a:buNone/>
            </a:pPr>
          </a:p>
          <a:p>
            <a:pPr marL="0" lvl="0" indent="0" algn="l">
              <a:spcBef>
                <a:spcPts val="0"/>
              </a:spcBef>
              <a:spcAft>
                <a:spcPts val="0"/>
              </a:spcAft>
              <a:buNone/>
            </a:pPr>
            <a:r>
              <a:t>[16] B. Zine, H. Bia, A. Benmouna, M. Becherif, and M. Iqbal, "Experimentally Validated Coulomb Counting Method for Battery State-of-Charge Estimation under Variable Current Profiles," Energies, vol. 15, no. 21, Art. 8172, 2022, doi: 10.3390/en15218172.</a:t>
            </a:r>
          </a:p>
          <a:p>
            <a:pPr marL="0" lvl="0" indent="0" algn="l">
              <a:spcBef>
                <a:spcPts val="0"/>
              </a:spcBef>
              <a:spcAft>
                <a:spcPts val="0"/>
              </a:spcAft>
              <a:buNone/>
            </a:pPr>
            <a:r>
              <a:t>https://doi.org/10.3390/en15218172</a:t>
            </a:r>
          </a:p>
          <a:p>
            <a:pPr marL="0" lvl="0" indent="0" algn="l">
              <a:spcBef>
                <a:spcPts val="0"/>
              </a:spcBef>
              <a:spcAft>
                <a:spcPts val="0"/>
              </a:spcAft>
              <a:buNone/>
            </a:pPr>
            <a:r>
              <a:t>Evidence: Publisher retrieved abstract, section 3 and concluding paragraphs. Conclusion explicitly describes experimental validation using a domestic lead-acid battery.</a:t>
            </a:r>
          </a:p>
          <a:p>
            <a:pPr marL="0" lvl="0" indent="0" algn="l">
              <a:spcBef>
                <a:spcPts val="0"/>
              </a:spcBef>
              <a:spcAft>
                <a:spcPts val="0"/>
              </a:spcAft>
              <a:buNone/>
            </a:pPr>
          </a:p>
          <a:p>
            <a:pPr marL="0" lvl="0" indent="0" algn="l">
              <a:spcBef>
                <a:spcPts val="0"/>
              </a:spcBef>
              <a:spcAft>
                <a:spcPts val="0"/>
              </a:spcAft>
              <a:buNone/>
            </a:pPr>
            <a:r>
              <a:t>[17] H. M. Fahmy et al., "Hybrid State of Charge Estimation of Lithium-Ion Battery Using the Coulomb Counting Method and an Adaptive Unscented Kalman Filter," Energies, vol. 16, no. 14, Art. 5558, 2023, doi: 10.3390/en16145558.</a:t>
            </a:r>
          </a:p>
          <a:p>
            <a:pPr marL="0" lvl="0" indent="0" algn="l">
              <a:spcBef>
                <a:spcPts val="0"/>
              </a:spcBef>
              <a:spcAft>
                <a:spcPts val="0"/>
              </a:spcAft>
              <a:buNone/>
            </a:pPr>
            <a:r>
              <a:t>https://doi.org/10.3390/en16145558</a:t>
            </a:r>
          </a:p>
          <a:p>
            <a:pPr marL="0" lvl="0" indent="0" algn="l">
              <a:spcBef>
                <a:spcPts val="0"/>
              </a:spcBef>
              <a:spcAft>
                <a:spcPts val="0"/>
              </a:spcAft>
              <a:buNone/>
            </a:pPr>
            <a:r>
              <a:t>Evidence: Opened University of Jaén publication record: abstract, citation and author metadata; university-hosted paper title-page retrieval confirms article byline.</a:t>
            </a:r>
          </a:p>
          <a:p>
            <a:pPr marL="0" lvl="0" indent="0" algn="l">
              <a:spcBef>
                <a:spcPts val="0"/>
              </a:spcBef>
              <a:spcAft>
                <a:spcPts val="0"/>
              </a:spcAft>
              <a:buNone/>
            </a:pPr>
          </a:p>
          <a:p>
            <a:pPr marL="0" lvl="0" indent="0" algn="l">
              <a:spcBef>
                <a:spcPts val="0"/>
              </a:spcBef>
              <a:spcAft>
                <a:spcPts val="0"/>
              </a:spcAft>
              <a:buNone/>
            </a:pPr>
            <a:r>
              <a:t>[18] M. Wang, G. Wang, Z. Xiao, Y. Sun, and Y. Zheng, "State of Charge Estimation of LiFePO4 in Various Temperature Scenarios," Batteries, vol. 9, no. 1, Art. 43, 2023, doi: 10.3390/batteries9010043.</a:t>
            </a:r>
          </a:p>
          <a:p>
            <a:pPr marL="0" lvl="0" indent="0" algn="l">
              <a:spcBef>
                <a:spcPts val="0"/>
              </a:spcBef>
              <a:spcAft>
                <a:spcPts val="0"/>
              </a:spcAft>
              <a:buNone/>
            </a:pPr>
            <a:r>
              <a:t>https://doi.org/10.3390/batteries9010043</a:t>
            </a:r>
          </a:p>
          <a:p>
            <a:pPr marL="0" lvl="0" indent="0" algn="l">
              <a:spcBef>
                <a:spcPts val="0"/>
              </a:spcBef>
              <a:spcAft>
                <a:spcPts val="0"/>
              </a:spcAft>
              <a:buNone/>
            </a:pPr>
            <a:r>
              <a:t>Evidence: Publisher retrieved abstract and sections 2 and 3.1–3.4: temperature-dependent ECM, PSO parameter fitting, improved EKF, Lishen LFP tests, HPPC and variable-temperature NEDC experiments.</a:t>
            </a:r>
          </a:p>
          <a:p>
            <a:pPr marL="0" lvl="0" indent="0" algn="l">
              <a:spcBef>
                <a:spcPts val="0"/>
              </a:spcBef>
              <a:spcAft>
                <a:spcPts val="0"/>
              </a:spcAft>
              <a:buNone/>
            </a:pPr>
          </a:p>
          <a:p>
            <a:pPr marL="0" lvl="0" indent="0" algn="l">
              <a:spcBef>
                <a:spcPts val="0"/>
              </a:spcBef>
              <a:spcAft>
                <a:spcPts val="0"/>
              </a:spcAft>
              <a:buNone/>
            </a:pPr>
            <a:r>
              <a:t>[19] H. Turkmanović, I. Popović, and V. Rajović, "Toward Energy Efficient Battery State of Charge Estimation on Embedded Platforms," Electronics, vol. 13, no. 21, Art. 4256, 2024, doi: 10.3390/electronics13214256.</a:t>
            </a:r>
          </a:p>
          <a:p>
            <a:pPr marL="0" lvl="0" indent="0" algn="l">
              <a:spcBef>
                <a:spcPts val="0"/>
              </a:spcBef>
              <a:spcAft>
                <a:spcPts val="0"/>
              </a:spcAft>
              <a:buNone/>
            </a:pPr>
            <a:r>
              <a:t>https://doi.org/10.3390/electronics13214256</a:t>
            </a:r>
          </a:p>
          <a:p>
            <a:pPr marL="0" lvl="0" indent="0" algn="l">
              <a:spcBef>
                <a:spcPts val="0"/>
              </a:spcBef>
              <a:spcAft>
                <a:spcPts val="0"/>
              </a:spcAft>
              <a:buNone/>
            </a:pPr>
            <a:r>
              <a:t>Evidence: Publisher retrieved abstract, introduction, sections 3 and 7; implementation description identifies STM32H747XIH6 on STM32H7-DISCO. Accuracy and run-cycle duration are evaluated separately.</a:t>
            </a:r>
          </a:p>
          <a:p>
            <a:pPr marL="0" lvl="0" indent="0" algn="l">
              <a:spcBef>
                <a:spcPts val="0"/>
              </a:spcBef>
              <a:spcAft>
                <a:spcPts val="0"/>
              </a:spcAft>
              <a:buNone/>
            </a:pPr>
          </a:p>
          <a:p>
            <a:pPr marL="0" lvl="0" indent="0" algn="l">
              <a:spcBef>
                <a:spcPts val="0"/>
              </a:spcBef>
              <a:spcAft>
                <a:spcPts val="0"/>
              </a:spcAft>
              <a:buNone/>
            </a:pPr>
            <a:r>
              <a:t>[20] S. Bampi, G. Waltrich, and A. Vaccari, "Electronic Load for Parameter Characterization in Equivalent Circuit Models of Lithium-Ion Batteries," Eletrônica de Potência, vol. 30, Art. e202521, 2025, doi: 10.18618/REP.e202521.</a:t>
            </a:r>
          </a:p>
          <a:p>
            <a:pPr marL="0" lvl="0" indent="0" algn="l">
              <a:spcBef>
                <a:spcPts val="0"/>
              </a:spcBef>
              <a:spcAft>
                <a:spcPts val="0"/>
              </a:spcAft>
              <a:buNone/>
            </a:pPr>
            <a:r>
              <a:t>https://doi.org/10.18618/REP.e202521</a:t>
            </a:r>
          </a:p>
          <a:p>
            <a:pPr marL="0" lvl="0" indent="0" algn="l">
              <a:spcBef>
                <a:spcPts val="0"/>
              </a:spcBef>
              <a:spcAft>
                <a:spcPts val="0"/>
              </a:spcAft>
              <a:buNone/>
            </a:pPr>
            <a:r>
              <a:t>Evidence: Opened SciELO publisher PDF: page 1 abstract, section II ECM, section IV-A ESP32 prototype, sections V–VI load and cell-parameterization results.</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Expected questions: Why use a purchased BMS? It supplies cell protection while our board monitors energy and controls a fan. What is demonstrated now? Software, CAD and simulation. What comes next? Parts selection, assembly, calibration and physical validation.</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
        <p:cNvGrpSpPr/>
        <p:nvPr/>
      </p:nvGrpSpPr>
      <p:grpSpPr/>
      <p:sp>
        <p:nvSpPr>
          <p:cNvPr id="10" name="Google Shape;10;p19"/>
          <p:cNvSpPr>
            <a:spLocks noGrp="1"/>
          </p:cNvSpPr>
          <p:nvPr>
            <p:ph type="ctrTitle"/>
          </p:nvPr>
        </p:nvSpPr>
        <p:spPr>
          <a:xfrm>
            <a:off x="311708" y="992767"/>
            <a:ext cx="8520600" cy="2736900"/>
          </a:xfrm>
          <a:prstGeom prst="rect">
            <a:avLst/>
          </a:prstGeom>
          <a:noFill/>
          <a:ln>
            <a:noFill/>
          </a:ln>
        </p:spPr>
        <p:txBody>
          <a:bodyPr spcFirstLastPara="1" wrap="square" lIns="91425" tIns="91425" rIns="91425" bIns="91425" anchor="b">
            <a:normAutofit/>
          </a:bodyPr>
          <a:lstStyle>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p:txBody>
      </p:sp>
      <p:sp>
        <p:nvSpPr>
          <p:cNvPr id="11" name="Google Shape;11;p19"/>
          <p:cNvSpPr>
            <a:spLocks noGrp="1"/>
          </p:cNvSpPr>
          <p:nvPr>
            <p:ph type="subTitle" idx="1"/>
          </p:nvPr>
        </p:nvSpPr>
        <p:spPr>
          <a:xfrm>
            <a:off x="311700" y="3778833"/>
            <a:ext cx="8520600" cy="1056900"/>
          </a:xfrm>
          <a:prstGeom prst="rect">
            <a:avLst/>
          </a:prstGeom>
          <a:noFill/>
          <a:ln>
            <a:noFill/>
          </a:ln>
        </p:spPr>
        <p:txBody>
          <a:bodyPr spcFirstLastPara="1" wrap="square" lIns="91425" tIns="91425" rIns="91425" bIns="91425" anchor="t">
            <a:normAutofit/>
          </a:bodyPr>
          <a:lstStyle>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p:txBody>
      </p:sp>
      <p:sp>
        <p:nvSpPr>
          <p:cNvPr id="12" name="Google Shape;12;p19"/>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
        <p:cNvGrpSpPr/>
        <p:nvPr/>
      </p:nvGrpSpPr>
      <p:grpSpPr/>
      <p:sp>
        <p:nvSpPr>
          <p:cNvPr id="14" name="Google Shape;14;p20"/>
          <p:cNvSpPr>
            <a:spLocks noGrp="1"/>
          </p:cNvSpPr>
          <p:nvPr>
            <p:ph type="title"/>
          </p:nvPr>
        </p:nvSpPr>
        <p:spPr>
          <a:xfrm>
            <a:off x="311700" y="2867800"/>
            <a:ext cx="8520600" cy="1122300"/>
          </a:xfrm>
          <a:prstGeom prst="rect">
            <a:avLst/>
          </a:prstGeom>
          <a:noFill/>
          <a:ln>
            <a:noFill/>
          </a:ln>
        </p:spPr>
        <p:txBody>
          <a:bodyPr spcFirstLastPara="1" wrap="square" lIns="91425" tIns="91425" rIns="91425" bIns="91425" anchor="ctr">
            <a:normAutofit/>
          </a:bodyPr>
          <a:lstStyle>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p:txBody>
      </p:sp>
      <p:sp>
        <p:nvSpPr>
          <p:cNvPr id="15" name="Google Shape;15;p20"/>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
        <p:cNvGrpSpPr/>
        <p:nvPr/>
      </p:nvGrpSpPr>
      <p:grpSpPr/>
      <p:sp>
        <p:nvSpPr>
          <p:cNvPr id="17" name="Google Shape;17;p21"/>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
        <p:cNvGrpSpPr/>
        <p:nvPr/>
      </p:nvGrpSpPr>
      <p:grpSpPr/>
      <p:sp>
        <p:nvSpPr>
          <p:cNvPr id="19" name="Google Shape;19;p22"/>
          <p:cNvSpPr>
            <a:spLocks noGrp="1"/>
          </p:cNvSpPr>
          <p:nvPr>
            <p:ph type="title"/>
          </p:nvPr>
        </p:nvSpPr>
        <p:spPr>
          <a:xfrm>
            <a:off x="311700" y="1474833"/>
            <a:ext cx="8520600" cy="2618100"/>
          </a:xfrm>
          <a:prstGeom prst="rect">
            <a:avLst/>
          </a:prstGeom>
          <a:noFill/>
          <a:ln>
            <a:noFill/>
          </a:ln>
        </p:spPr>
        <p:txBody>
          <a:bodyPr spcFirstLastPara="1" wrap="square" lIns="91425" tIns="91425" rIns="91425" bIns="91425" anchor="b">
            <a:normAutofit/>
          </a:bodyPr>
          <a:lstStyle>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p:txBody>
      </p:sp>
      <p:sp>
        <p:nvSpPr>
          <p:cNvPr id="20" name="Google Shape;20;p22"/>
          <p:cNvSpPr>
            <a:spLocks noGrp="1"/>
          </p:cNvSpPr>
          <p:nvPr>
            <p:ph type="body" idx="1"/>
          </p:nvPr>
        </p:nvSpPr>
        <p:spPr>
          <a:xfrm>
            <a:off x="311700" y="4202967"/>
            <a:ext cx="8520600" cy="1734300"/>
          </a:xfrm>
          <a:prstGeom prst="rect">
            <a:avLst/>
          </a:prstGeom>
          <a:noFill/>
          <a:ln>
            <a:noFill/>
          </a:ln>
        </p:spPr>
        <p:txBody>
          <a:bodyPr spcFirstLastPara="1" wrap="square" lIns="91425" tIns="91425" rIns="91425" bIns="91425" anchor="t">
            <a:normAutofit/>
          </a:bodyPr>
          <a:lstStyle>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lnSpc>
                <a:spcPct val="100000"/>
              </a:lnSpc>
              <a:spcBef>
                <a:spcPts val="0"/>
              </a:spcBef>
              <a:spcAft>
                <a:spcPts val="0"/>
              </a:spcAft>
              <a:buSzPts val="1400"/>
              <a:buChar char="■"/>
              <a:defRPr/>
            </a:lvl6pPr>
            <a:lvl7pPr marL="3200400" indent="-317500" algn="ctr">
              <a:lnSpc>
                <a:spcPct val="100000"/>
              </a:lnSpc>
              <a:spcBef>
                <a:spcPts val="0"/>
              </a:spcBef>
              <a:spcAft>
                <a:spcPts val="0"/>
              </a:spcAft>
              <a:buSzPts val="1400"/>
              <a:buChar char="●"/>
              <a:defRPr/>
            </a:lvl7pPr>
            <a:lvl8pPr marL="3657600" indent="-317500" algn="ctr">
              <a:lnSpc>
                <a:spcPct val="100000"/>
              </a:lnSpc>
              <a:spcBef>
                <a:spcPts val="0"/>
              </a:spcBef>
              <a:spcAft>
                <a:spcPts val="0"/>
              </a:spcAft>
              <a:buSzPts val="1400"/>
              <a:buChar char="○"/>
              <a:defRPr/>
            </a:lvl8pPr>
            <a:lvl9pPr marL="4114800" indent="-317500" algn="ctr">
              <a:lnSpc>
                <a:spcPct val="100000"/>
              </a:lnSpc>
              <a:spcBef>
                <a:spcPts val="0"/>
              </a:spcBef>
              <a:spcAft>
                <a:spcPts val="0"/>
              </a:spcAft>
              <a:buSzPts val="1400"/>
              <a:buChar char="■"/>
              <a:defRPr/>
            </a:lvl9pPr>
          </a:lstStyle>
          <a:p/>
        </p:txBody>
      </p:sp>
      <p:sp>
        <p:nvSpPr>
          <p:cNvPr id="21" name="Google Shape;21;p22"/>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
        <p:cNvGrpSpPr/>
        <p:nvPr/>
      </p:nvGrpSpPr>
      <p:grpSpPr/>
      <p:sp>
        <p:nvSpPr>
          <p:cNvPr id="23" name="Google Shape;23;p23"/>
          <p:cNvSpPr>
            <a:spLocks noGrp="1"/>
          </p:cNvSpPr>
          <p:nvPr>
            <p:ph type="body" idx="1"/>
          </p:nvPr>
        </p:nvSpPr>
        <p:spPr>
          <a:xfrm>
            <a:off x="311700" y="5640767"/>
            <a:ext cx="5998800" cy="806700"/>
          </a:xfrm>
          <a:prstGeom prst="rect">
            <a:avLst/>
          </a:prstGeom>
          <a:noFill/>
          <a:ln>
            <a:noFill/>
          </a:ln>
        </p:spPr>
        <p:txBody>
          <a:bodyPr spcFirstLastPara="1" wrap="square" lIns="91425" tIns="91425" rIns="91425" bIns="91425" anchor="ctr">
            <a:normAutofit/>
          </a:bodyPr>
          <a:lstStyle>
            <a:lvl1pPr marL="457200" indent="-228600" algn="l">
              <a:lnSpc>
                <a:spcPct val="100000"/>
              </a:lnSpc>
              <a:spcBef>
                <a:spcPts val="0"/>
              </a:spcBef>
              <a:spcAft>
                <a:spcPts val="0"/>
              </a:spcAft>
              <a:buSzPts val="1800"/>
              <a:buNone/>
              <a:defRPr/>
            </a:lvl1pPr>
            <a:lvl2pPr marL="914400" indent="-342900" algn="l">
              <a:spcBef>
                <a:spcPts val="0"/>
              </a:spcBef>
              <a:spcAft>
                <a:spcPts val="0"/>
              </a:spcAft>
              <a:buSzPts val="1800"/>
              <a:buChar char="–"/>
              <a:defRPr/>
            </a:lvl2pPr>
            <a:lvl3pPr marL="1371600" indent="-342900" algn="l">
              <a:spcBef>
                <a:spcPts val="0"/>
              </a:spcBef>
              <a:spcAft>
                <a:spcPts val="0"/>
              </a:spcAft>
              <a:buSzPts val="1800"/>
              <a:buChar char="•"/>
              <a:defRPr/>
            </a:lvl3pPr>
            <a:lvl4pPr marL="1828800" indent="-342900" algn="l">
              <a:spcBef>
                <a:spcPts val="0"/>
              </a:spcBef>
              <a:spcAft>
                <a:spcPts val="0"/>
              </a:spcAft>
              <a:buSzPts val="1800"/>
              <a:buChar char="–"/>
              <a:defRPr/>
            </a:lvl4pPr>
            <a:lvl5pPr marL="2286000" indent="-342900" algn="l">
              <a:spcBef>
                <a:spcPts val="0"/>
              </a:spcBef>
              <a:spcAft>
                <a:spcPts val="0"/>
              </a:spcAft>
              <a:buSzPts val="1800"/>
              <a:buChar char="»"/>
              <a:defRPr/>
            </a:lvl5pPr>
            <a:lvl6pPr marL="2743200" indent="-228600" algn="l">
              <a:lnSpc>
                <a:spcPct val="100000"/>
              </a:lnSpc>
              <a:spcBef>
                <a:spcPts val="0"/>
              </a:spcBef>
              <a:spcAft>
                <a:spcPts val="0"/>
              </a:spcAft>
              <a:buSzPts val="1400"/>
              <a:buNone/>
              <a:defRPr/>
            </a:lvl6pPr>
            <a:lvl7pPr marL="3200400" indent="-228600" algn="l">
              <a:lnSpc>
                <a:spcPct val="100000"/>
              </a:lnSpc>
              <a:spcBef>
                <a:spcPts val="0"/>
              </a:spcBef>
              <a:spcAft>
                <a:spcPts val="0"/>
              </a:spcAft>
              <a:buSzPts val="1400"/>
              <a:buNone/>
              <a:defRPr/>
            </a:lvl7pPr>
            <a:lvl8pPr marL="3657600" indent="-228600" algn="l">
              <a:lnSpc>
                <a:spcPct val="100000"/>
              </a:lnSpc>
              <a:spcBef>
                <a:spcPts val="0"/>
              </a:spcBef>
              <a:spcAft>
                <a:spcPts val="0"/>
              </a:spcAft>
              <a:buSzPts val="1400"/>
              <a:buNone/>
              <a:defRPr/>
            </a:lvl8pPr>
            <a:lvl9pPr marL="4114800" indent="-228600" algn="l">
              <a:lnSpc>
                <a:spcPct val="100000"/>
              </a:lnSpc>
              <a:spcBef>
                <a:spcPts val="0"/>
              </a:spcBef>
              <a:spcAft>
                <a:spcPts val="0"/>
              </a:spcAft>
              <a:buSzPts val="1400"/>
              <a:buNone/>
              <a:defRPr/>
            </a:lvl9pPr>
          </a:lstStyle>
          <a:p/>
        </p:txBody>
      </p:sp>
      <p:sp>
        <p:nvSpPr>
          <p:cNvPr id="24" name="Google Shape;24;p23"/>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
        <p:cNvGrpSpPr/>
        <p:nvPr/>
      </p:nvGrpSpPr>
      <p:grpSpPr/>
      <p:sp>
        <p:nvSpPr>
          <p:cNvPr id="26" name="Google Shape;26;p24"/>
          <p:cNvSpPr>
            <a:spLocks noGrp="1"/>
          </p:cNvSpPr>
          <p:nvPr>
            <p:ph type="title"/>
          </p:nvPr>
        </p:nvSpPr>
        <p:spPr>
          <a:xfrm>
            <a:off x="490250" y="600200"/>
            <a:ext cx="6367800" cy="5454300"/>
          </a:xfrm>
          <a:prstGeom prst="rect">
            <a:avLst/>
          </a:prstGeom>
          <a:noFill/>
          <a:ln>
            <a:noFill/>
          </a:ln>
        </p:spPr>
        <p:txBody>
          <a:bodyPr spcFirstLastPara="1" wrap="square" lIns="91425" tIns="91425" rIns="91425" bIns="91425" anchor="ctr">
            <a:normAutofit/>
          </a:bodyPr>
          <a:lstStyle>
            <a:lvl1pPr algn="l">
              <a:spcBef>
                <a:spcPts val="0"/>
              </a:spcBef>
              <a:spcAft>
                <a:spcPts val="0"/>
              </a:spcAft>
              <a:buSzPts val="4800"/>
              <a:buNone/>
              <a:defRPr sz="4800"/>
            </a:lvl1pPr>
            <a:lvl2pPr algn="l">
              <a:spcBef>
                <a:spcPts val="0"/>
              </a:spcBef>
              <a:spcAft>
                <a:spcPts val="0"/>
              </a:spcAft>
              <a:buSzPts val="4800"/>
              <a:buNone/>
              <a:defRPr sz="4800"/>
            </a:lvl2pPr>
            <a:lvl3pPr algn="l">
              <a:spcBef>
                <a:spcPts val="0"/>
              </a:spcBef>
              <a:spcAft>
                <a:spcPts val="0"/>
              </a:spcAft>
              <a:buSzPts val="4800"/>
              <a:buNone/>
              <a:defRPr sz="4800"/>
            </a:lvl3pPr>
            <a:lvl4pPr algn="l">
              <a:spcBef>
                <a:spcPts val="0"/>
              </a:spcBef>
              <a:spcAft>
                <a:spcPts val="0"/>
              </a:spcAft>
              <a:buSzPts val="4800"/>
              <a:buNone/>
              <a:defRPr sz="4800"/>
            </a:lvl4pPr>
            <a:lvl5pPr algn="l">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p:txBody>
      </p:sp>
      <p:sp>
        <p:nvSpPr>
          <p:cNvPr id="27" name="Google Shape;27;p24"/>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
        <p:cNvGrpSpPr/>
        <p:nvPr/>
      </p:nvGrpSpPr>
      <p:grpSpPr/>
      <p:sp>
        <p:nvSpPr>
          <p:cNvPr id="29" name="Google Shape;29;p25"/>
          <p:cNvSpPr>
            <a:spLocks noGrp="1"/>
          </p:cNvSpPr>
          <p:nvPr>
            <p:ph type="title"/>
          </p:nvPr>
        </p:nvSpPr>
        <p:spPr>
          <a:xfrm>
            <a:off x="311700" y="740800"/>
            <a:ext cx="2808000" cy="1007700"/>
          </a:xfrm>
          <a:prstGeom prst="rect">
            <a:avLst/>
          </a:prstGeom>
          <a:noFill/>
          <a:ln>
            <a:noFill/>
          </a:ln>
        </p:spPr>
        <p:txBody>
          <a:bodyPr spcFirstLastPara="1" wrap="square" lIns="91425" tIns="91425" rIns="91425" bIns="91425" anchor="b">
            <a:normAutofit/>
          </a:bodyPr>
          <a:lstStyle>
            <a:lvl1pPr algn="l">
              <a:spcBef>
                <a:spcPts val="0"/>
              </a:spcBef>
              <a:spcAft>
                <a:spcPts val="0"/>
              </a:spcAft>
              <a:buSzPts val="2400"/>
              <a:buNone/>
              <a:defRPr sz="2400"/>
            </a:lvl1pPr>
            <a:lvl2pPr algn="l">
              <a:spcBef>
                <a:spcPts val="0"/>
              </a:spcBef>
              <a:spcAft>
                <a:spcPts val="0"/>
              </a:spcAft>
              <a:buSzPts val="2400"/>
              <a:buNone/>
              <a:defRPr sz="2400"/>
            </a:lvl2pPr>
            <a:lvl3pPr algn="l">
              <a:spcBef>
                <a:spcPts val="0"/>
              </a:spcBef>
              <a:spcAft>
                <a:spcPts val="0"/>
              </a:spcAft>
              <a:buSzPts val="2400"/>
              <a:buNone/>
              <a:defRPr sz="2400"/>
            </a:lvl3pPr>
            <a:lvl4pPr algn="l">
              <a:spcBef>
                <a:spcPts val="0"/>
              </a:spcBef>
              <a:spcAft>
                <a:spcPts val="0"/>
              </a:spcAft>
              <a:buSzPts val="2400"/>
              <a:buNone/>
              <a:defRPr sz="2400"/>
            </a:lvl4pPr>
            <a:lvl5pPr algn="l">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p:txBody>
      </p:sp>
      <p:sp>
        <p:nvSpPr>
          <p:cNvPr id="30" name="Google Shape;30;p25"/>
          <p:cNvSpPr>
            <a:spLocks noGrp="1"/>
          </p:cNvSpPr>
          <p:nvPr>
            <p:ph type="body" idx="1"/>
          </p:nvPr>
        </p:nvSpPr>
        <p:spPr>
          <a:xfrm>
            <a:off x="311700" y="1852800"/>
            <a:ext cx="2808000" cy="4239300"/>
          </a:xfrm>
          <a:prstGeom prst="rect">
            <a:avLst/>
          </a:prstGeom>
          <a:noFill/>
          <a:ln>
            <a:noFill/>
          </a:ln>
        </p:spPr>
        <p:txBody>
          <a:bodyPr spcFirstLastPara="1" wrap="square" lIns="91425" tIns="91425" rIns="91425" bIns="91425" anchor="t">
            <a:normAutofit/>
          </a:bodyPr>
          <a:lstStyle>
            <a:lvl1pPr marL="457200" indent="-304800" algn="l">
              <a:spcBef>
                <a:spcPts val="0"/>
              </a:spcBef>
              <a:spcAft>
                <a:spcPts val="0"/>
              </a:spcAft>
              <a:buSzPts val="1200"/>
              <a:buChar char="●"/>
              <a:defRPr sz="12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p:txBody>
      </p:sp>
      <p:sp>
        <p:nvSpPr>
          <p:cNvPr id="31" name="Google Shape;31;p25"/>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
        <p:cNvGrpSpPr/>
        <p:nvPr/>
      </p:nvGrpSpPr>
      <p:grpSpPr/>
      <p:sp>
        <p:nvSpPr>
          <p:cNvPr id="33" name="Google Shape;33;p26"/>
          <p:cNvSpPr>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ormAutofit/>
          </a:bodyPr>
          <a:lstStyle>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p:txBody>
      </p:sp>
      <p:sp>
        <p:nvSpPr>
          <p:cNvPr id="34" name="Google Shape;34;p26"/>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p:sp>
        <p:nvSpPr>
          <p:cNvPr id="36" name="Google Shape;36;p27"/>
          <p:cNvSpPr>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ormAutofit/>
          </a:bodyPr>
          <a:lstStyle>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p:txBody>
      </p:sp>
      <p:sp>
        <p:nvSpPr>
          <p:cNvPr id="37" name="Google Shape;37;p27"/>
          <p:cNvSpPr>
            <a:spLocks noGrp="1"/>
          </p:cNvSpPr>
          <p:nvPr>
            <p:ph type="body" idx="1"/>
          </p:nvPr>
        </p:nvSpPr>
        <p:spPr>
          <a:xfrm>
            <a:off x="311700" y="1536633"/>
            <a:ext cx="3999900" cy="4555200"/>
          </a:xfrm>
          <a:prstGeom prst="rect">
            <a:avLst/>
          </a:prstGeom>
          <a:noFill/>
          <a:ln>
            <a:noFill/>
          </a:ln>
        </p:spPr>
        <p:txBody>
          <a:bodyPr spcFirstLastPara="1" wrap="square" lIns="91425" tIns="91425" rIns="91425" bIns="91425" anchor="t">
            <a:normAutofit/>
          </a:bodyPr>
          <a:lstStyle>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p:txBody>
      </p:sp>
      <p:sp>
        <p:nvSpPr>
          <p:cNvPr id="38" name="Google Shape;38;p27"/>
          <p:cNvSpPr>
            <a:spLocks noGrp="1"/>
          </p:cNvSpPr>
          <p:nvPr>
            <p:ph type="body" idx="2"/>
          </p:nvPr>
        </p:nvSpPr>
        <p:spPr>
          <a:xfrm>
            <a:off x="4832400" y="1536633"/>
            <a:ext cx="3999900" cy="4555200"/>
          </a:xfrm>
          <a:prstGeom prst="rect">
            <a:avLst/>
          </a:prstGeom>
          <a:noFill/>
          <a:ln>
            <a:noFill/>
          </a:ln>
        </p:spPr>
        <p:txBody>
          <a:bodyPr spcFirstLastPara="1" wrap="square" lIns="91425" tIns="91425" rIns="91425" bIns="91425" anchor="t">
            <a:normAutofit/>
          </a:bodyPr>
          <a:lstStyle>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p:txBody>
      </p:sp>
      <p:sp>
        <p:nvSpPr>
          <p:cNvPr id="39" name="Google Shape;39;p27"/>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p:sp>
        <p:nvSpPr>
          <p:cNvPr id="41" name="Google Shape;41;p28"/>
          <p:cNvSpPr>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ormAutofit/>
          </a:bodyPr>
          <a:lstStyle>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p:txBody>
      </p:sp>
      <p:sp>
        <p:nvSpPr>
          <p:cNvPr id="42" name="Google Shape;42;p28"/>
          <p:cNvSpPr>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ormAutofit/>
          </a:bodyPr>
          <a:lstStyle>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p:txBody>
      </p:sp>
      <p:sp>
        <p:nvSpPr>
          <p:cNvPr id="43" name="Google Shape;43;p28"/>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
        <p:cNvGrpSpPr/>
        <p:nvPr/>
      </p:nvGrpSpPr>
      <p:grpSpPr/>
      <p:sp>
        <p:nvSpPr>
          <p:cNvPr id="50" name="Google Shape;50;p30"/>
          <p:cNvSpPr>
            <a:spLocks noGrp="1"/>
          </p:cNvSpPr>
          <p:nvPr>
            <p:ph type="title"/>
          </p:nvPr>
        </p:nvSpPr>
        <p:spPr>
          <a:xfrm>
            <a:off x="265500" y="1644233"/>
            <a:ext cx="4045200" cy="1976400"/>
          </a:xfrm>
          <a:prstGeom prst="rect">
            <a:avLst/>
          </a:prstGeom>
          <a:noFill/>
          <a:ln>
            <a:noFill/>
          </a:ln>
        </p:spPr>
        <p:txBody>
          <a:bodyPr spcFirstLastPara="1" wrap="square" lIns="91425" tIns="91425" rIns="91425" bIns="91425" anchor="b">
            <a:normAutofit/>
          </a:bodyPr>
          <a:lstStyle>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p:txBody>
      </p:sp>
      <p:sp>
        <p:nvSpPr>
          <p:cNvPr id="51" name="Google Shape;51;p30"/>
          <p:cNvSpPr>
            <a:spLocks noGrp="1"/>
          </p:cNvSpPr>
          <p:nvPr>
            <p:ph type="subTitle" idx="1"/>
          </p:nvPr>
        </p:nvSpPr>
        <p:spPr>
          <a:xfrm>
            <a:off x="265500" y="3737433"/>
            <a:ext cx="4045200" cy="1646700"/>
          </a:xfrm>
          <a:prstGeom prst="rect">
            <a:avLst/>
          </a:prstGeom>
          <a:noFill/>
          <a:ln>
            <a:noFill/>
          </a:ln>
        </p:spPr>
        <p:txBody>
          <a:bodyPr spcFirstLastPara="1" wrap="square" lIns="91425" tIns="91425" rIns="91425" bIns="91425" anchor="t">
            <a:normAutofit/>
          </a:bodyPr>
          <a:lstStyle>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p:txBody>
      </p:sp>
      <p:sp>
        <p:nvSpPr>
          <p:cNvPr id="52" name="Google Shape;52;p30"/>
          <p:cNvSpPr>
            <a:spLocks noGrp="1"/>
          </p:cNvSpPr>
          <p:nvPr>
            <p:ph type="body" idx="2"/>
          </p:nvPr>
        </p:nvSpPr>
        <p:spPr>
          <a:xfrm>
            <a:off x="4939500" y="965433"/>
            <a:ext cx="3837000" cy="4926900"/>
          </a:xfrm>
          <a:prstGeom prst="rect">
            <a:avLst/>
          </a:prstGeom>
          <a:noFill/>
          <a:ln>
            <a:noFill/>
          </a:ln>
        </p:spPr>
        <p:txBody>
          <a:bodyPr spcFirstLastPara="1" wrap="square" lIns="91425" tIns="91425" rIns="91425" bIns="91425" anchor="ctr">
            <a:normAutofit/>
          </a:bodyPr>
          <a:lstStyle>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p:txBody>
      </p:sp>
      <p:sp>
        <p:nvSpPr>
          <p:cNvPr id="53" name="Google Shape;53;p30"/>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6" name="Google Shape;6;p18"/>
          <p:cNvSpPr>
            <a:spLocks noGrp="1"/>
          </p:cNvSpPr>
          <p:nvPr>
            <p:ph type="title"/>
          </p:nvPr>
        </p:nvSpPr>
        <p:spPr>
          <a:xfrm>
            <a:off x="311150" y="593725"/>
            <a:ext cx="8521700" cy="763587"/>
          </a:xfrm>
          <a:prstGeom prst="rect">
            <a:avLst/>
          </a:prstGeom>
          <a:noFill/>
          <a:ln>
            <a:noFill/>
          </a:ln>
        </p:spPr>
        <p:txBody>
          <a:bodyPr spcFirstLastPara="1" wrap="square" lIns="91425" tIns="91425" rIns="91425" bIns="91425" anchor="t">
            <a:noAutofit/>
          </a:bodyPr>
          <a:lstStyle>
            <a:lvl1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1pPr>
            <a:lvl2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2pPr>
            <a:lvl3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3pPr>
            <a:lvl4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4pPr>
            <a:lvl5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9pPr>
          </a:lstStyle>
          <a:p/>
        </p:txBody>
      </p:sp>
      <p:sp>
        <p:nvSpPr>
          <p:cNvPr id="7" name="Google Shape;7;p18"/>
          <p:cNvSpPr>
            <a:spLocks noGrp="1"/>
          </p:cNvSpPr>
          <p:nvPr>
            <p:ph type="body" idx="1"/>
          </p:nvPr>
        </p:nvSpPr>
        <p:spPr>
          <a:xfrm>
            <a:off x="311150" y="1536700"/>
            <a:ext cx="8521700" cy="4554537"/>
          </a:xfrm>
          <a:prstGeom prst="rect">
            <a:avLst/>
          </a:prstGeom>
          <a:noFill/>
          <a:ln>
            <a:noFill/>
          </a:ln>
        </p:spPr>
        <p:txBody>
          <a:bodyPr spcFirstLastPara="1" wrap="square" lIns="91425" tIns="91425" rIns="91425" bIns="91425" anchor="t">
            <a:noAutofit/>
          </a:bodyPr>
          <a:lstStyle>
            <a:lvl1pPr marL="4572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1pPr>
            <a:lvl2pPr marL="9144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2pPr>
            <a:lvl3pPr marL="13716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3pPr>
            <a:lvl4pPr marL="18288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4pPr>
            <a:lvl5pPr marL="22860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5pPr>
            <a:lvl6pPr marL="2743200" marR="0" indent="-22860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6pPr>
            <a:lvl7pPr marL="3200400" marR="0" indent="-22860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7pPr>
            <a:lvl8pPr marL="3657600" marR="0" indent="-22860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8pPr>
            <a:lvl9pPr marL="4114800" marR="0" indent="-22860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9pPr>
          </a:lstStyle>
          <a:p/>
        </p:txBody>
      </p:sp>
      <p:sp>
        <p:nvSpPr>
          <p:cNvPr id="8" name="Google Shape;8;p18"/>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9pPr>
    </p:titleStyle>
    <p:bodyStyle>
      <a:lvl1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9pPr>
    </p:bodyStyle>
    <p:otherStyle>
      <a:lvl1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45" name="Google Shape;45;p29"/>
          <p:cNvSpPr>
            <a:spLocks noGrp="1"/>
          </p:cNvSpPr>
          <p:nvPr/>
        </p:nvSpPr>
        <p:spPr>
          <a:xfrm>
            <a:off x="4572000" y="0"/>
            <a:ext cx="4572000" cy="6858000"/>
          </a:xfrm>
          <a:prstGeom prst="rect">
            <a:avLst/>
          </a:prstGeom>
          <a:solidFill>
            <a:schemeClr val="lt2"/>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None/>
            </a:pPr>
            <a:endParaRPr sz="1400" b="0" i="0" u="none">
              <a:solidFill>
                <a:srgbClr val="000000"/>
              </a:solidFill>
              <a:latin typeface="Arial" panose="020B0604020202020204"/>
              <a:ea typeface="Arial" panose="020B0604020202020204"/>
              <a:cs typeface="Arial" panose="020B0604020202020204"/>
            </a:endParaRPr>
          </a:p>
        </p:txBody>
      </p:sp>
      <p:sp>
        <p:nvSpPr>
          <p:cNvPr id="46" name="Google Shape;46;p29"/>
          <p:cNvSpPr>
            <a:spLocks noGrp="1"/>
          </p:cNvSpPr>
          <p:nvPr>
            <p:ph type="title"/>
          </p:nvPr>
        </p:nvSpPr>
        <p:spPr>
          <a:xfrm>
            <a:off x="311150" y="593725"/>
            <a:ext cx="8521700" cy="763587"/>
          </a:xfrm>
          <a:prstGeom prst="rect">
            <a:avLst/>
          </a:prstGeom>
          <a:noFill/>
          <a:ln>
            <a:noFill/>
          </a:ln>
        </p:spPr>
        <p:txBody>
          <a:bodyPr spcFirstLastPara="1" wrap="square" lIns="91425" tIns="91425" rIns="91425" bIns="91425" anchor="t">
            <a:noAutofit/>
          </a:bodyPr>
          <a:lstStyle>
            <a:lvl1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1pPr>
            <a:lvl2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2pPr>
            <a:lvl3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3pPr>
            <a:lvl4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4pPr>
            <a:lvl5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9pPr>
          </a:lstStyle>
          <a:p/>
        </p:txBody>
      </p:sp>
      <p:sp>
        <p:nvSpPr>
          <p:cNvPr id="47" name="Google Shape;47;p29"/>
          <p:cNvSpPr>
            <a:spLocks noGrp="1"/>
          </p:cNvSpPr>
          <p:nvPr>
            <p:ph type="body" idx="1"/>
          </p:nvPr>
        </p:nvSpPr>
        <p:spPr>
          <a:xfrm>
            <a:off x="311150" y="1536700"/>
            <a:ext cx="8521700" cy="4554537"/>
          </a:xfrm>
          <a:prstGeom prst="rect">
            <a:avLst/>
          </a:prstGeom>
          <a:noFill/>
          <a:ln>
            <a:noFill/>
          </a:ln>
        </p:spPr>
        <p:txBody>
          <a:bodyPr spcFirstLastPara="1" wrap="square" lIns="91425" tIns="91425" rIns="91425" bIns="91425" anchor="t">
            <a:noAutofit/>
          </a:bodyPr>
          <a:lstStyle>
            <a:lvl1pPr marL="4572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1pPr>
            <a:lvl2pPr marL="9144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2pPr>
            <a:lvl3pPr marL="13716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3pPr>
            <a:lvl4pPr marL="18288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4pPr>
            <a:lvl5pPr marL="22860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5pPr>
            <a:lvl6pPr marL="2743200" marR="0" indent="-22860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6pPr>
            <a:lvl7pPr marL="3200400" marR="0" indent="-22860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7pPr>
            <a:lvl8pPr marL="3657600" marR="0" indent="-22860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8pPr>
            <a:lvl9pPr marL="4114800" marR="0" indent="-22860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9pPr>
          </a:lstStyle>
          <a:p/>
        </p:txBody>
      </p:sp>
      <p:sp>
        <p:nvSpPr>
          <p:cNvPr id="48" name="Google Shape;48;p29"/>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60" r:id="rId1"/>
  </p:sldLayoutIdLst>
  <p:hf hdr="0" ftr="0" dt="0"/>
  <p:txStyles>
    <p:titleStyle>
      <a:lvl1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9pPr>
    </p:titleStyle>
    <p:bodyStyle>
      <a:lvl1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9pPr>
    </p:bodyStyle>
    <p:otherStyle>
      <a:lvl1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9" Type="http://schemas.openxmlformats.org/officeDocument/2006/relationships/hyperlink" Target="https://doi.org/10.1016/j.solener.2023.01.027" TargetMode="External"/><Relationship Id="rId8" Type="http://schemas.openxmlformats.org/officeDocument/2006/relationships/hyperlink" Target="https://doi.org/10.1016/j.est.2023.109282" TargetMode="External"/><Relationship Id="rId7" Type="http://schemas.openxmlformats.org/officeDocument/2006/relationships/hyperlink" Target="https://doi.org/10.3390/en16062912" TargetMode="External"/><Relationship Id="rId6" Type="http://schemas.openxmlformats.org/officeDocument/2006/relationships/hyperlink" Target="https://doi.org/10.35784/iapgos.5320" TargetMode="External"/><Relationship Id="rId5" Type="http://schemas.openxmlformats.org/officeDocument/2006/relationships/hyperlink" Target="https://doi.org/10.3390/electronics10131562" TargetMode="External"/><Relationship Id="rId4" Type="http://schemas.openxmlformats.org/officeDocument/2006/relationships/hyperlink" Target="https://doi.org/10.3390/electronics10070834" TargetMode="External"/><Relationship Id="rId3" Type="http://schemas.openxmlformats.org/officeDocument/2006/relationships/hyperlink" Target="https://doi.org/10.3390/app10072544" TargetMode="External"/><Relationship Id="rId22" Type="http://schemas.openxmlformats.org/officeDocument/2006/relationships/notesSlide" Target="../notesSlides/notesSlide13.xml"/><Relationship Id="rId21" Type="http://schemas.openxmlformats.org/officeDocument/2006/relationships/slideLayout" Target="../slideLayouts/slideLayout2.xml"/><Relationship Id="rId20" Type="http://schemas.openxmlformats.org/officeDocument/2006/relationships/hyperlink" Target="https://doi.org/10.18618/REP.e202521" TargetMode="External"/><Relationship Id="rId2" Type="http://schemas.openxmlformats.org/officeDocument/2006/relationships/hyperlink" Target="https://doi.org/10.1049/stg2.12151" TargetMode="External"/><Relationship Id="rId19" Type="http://schemas.openxmlformats.org/officeDocument/2006/relationships/hyperlink" Target="https://doi.org/10.3390/electronics13214256" TargetMode="External"/><Relationship Id="rId18" Type="http://schemas.openxmlformats.org/officeDocument/2006/relationships/hyperlink" Target="https://doi.org/10.3390/batteries9010043" TargetMode="External"/><Relationship Id="rId17" Type="http://schemas.openxmlformats.org/officeDocument/2006/relationships/hyperlink" Target="https://doi.org/10.3390/en16145558" TargetMode="External"/><Relationship Id="rId16" Type="http://schemas.openxmlformats.org/officeDocument/2006/relationships/hyperlink" Target="https://doi.org/10.3390/en15218172" TargetMode="External"/><Relationship Id="rId15" Type="http://schemas.openxmlformats.org/officeDocument/2006/relationships/hyperlink" Target="https://doi.org/10.3390/en14133733" TargetMode="External"/><Relationship Id="rId14" Type="http://schemas.openxmlformats.org/officeDocument/2006/relationships/hyperlink" Target="https://doi.org/10.3390/en14041054" TargetMode="External"/><Relationship Id="rId13" Type="http://schemas.openxmlformats.org/officeDocument/2006/relationships/hyperlink" Target="https://doi.org/10.3390/en13071811" TargetMode="External"/><Relationship Id="rId12" Type="http://schemas.openxmlformats.org/officeDocument/2006/relationships/hyperlink" Target="https://doi.org/10.1016/j.energy.2017.10.043" TargetMode="External"/><Relationship Id="rId11" Type="http://schemas.openxmlformats.org/officeDocument/2006/relationships/hyperlink" Target="https://doi.org/10.3390/en14144074" TargetMode="External"/><Relationship Id="rId10" Type="http://schemas.openxmlformats.org/officeDocument/2006/relationships/hyperlink" Target="https://doi.org/10.1016/j.segan.2023.101137" TargetMode="External"/><Relationship Id="rId1" Type="http://schemas.openxmlformats.org/officeDocument/2006/relationships/hyperlink" Target="https://doi.org/10.1016/j.egyr.2020.11.030"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58" name="Google Shape;58;p1"/>
          <p:cNvSpPr>
            <a:spLocks noGrp="1"/>
          </p:cNvSpPr>
          <p:nvPr/>
        </p:nvSpPr>
        <p:spPr>
          <a:xfrm>
            <a:off x="0" y="0"/>
            <a:ext cx="9144000" cy="1293812"/>
          </a:xfrm>
          <a:prstGeom prst="rect">
            <a:avLst/>
          </a:prstGeom>
          <a:solidFill>
            <a:srgbClr val="FFEED9"/>
          </a:solidFill>
          <a:ln w="9525" cmpd="sng">
            <a:solidFill>
              <a:schemeClr val="lt1"/>
            </a:solidFill>
            <a:prstDash val="solid"/>
            <a:headEnd type="none" w="sm" len="sm"/>
            <a:tailEnd type="none" w="sm" len="sm"/>
          </a:ln>
          <a:effectLst>
            <a:outerShdw blurRad="63500" dist="23000" dir="5400000">
              <a:srgbClr val="000000">
                <a:alpha val="34902"/>
              </a:srgbClr>
            </a:outerShdw>
          </a:effectLst>
        </p:spPr>
        <p:txBody>
          <a:bodyPr spcFirstLastPara="1" wrap="square" lIns="47625" tIns="38100" rIns="47625" bIns="38100" anchor="ctr">
            <a:noAutofit/>
          </a:bodyPr>
          <a:lstStyle/>
          <a:p>
            <a:pPr algn="ctr">
              <a:buNone/>
              <a:defRPr sz="2100" b="1">
                <a:solidFill>
                  <a:srgbClr val="000000"/>
                </a:solidFill>
                <a:latin typeface="Times New Roman" panose="02020603050405020304"/>
                <a:ea typeface="Times New Roman" panose="02020603050405020304"/>
                <a:cs typeface="Times New Roman" panose="02020603050405020304"/>
              </a:defRPr>
            </a:pPr>
            <a:r>
              <a:rPr sz="2100" b="1">
                <a:solidFill>
                  <a:srgbClr val="000000"/>
                </a:solidFill>
                <a:latin typeface="Times New Roman" panose="02020603050405020304"/>
                <a:ea typeface="Times New Roman" panose="02020603050405020304"/>
                <a:cs typeface="Times New Roman" panose="02020603050405020304"/>
              </a:rPr>
              <a:t>KJEI’s, Trinity Academy of Engineering</a:t>
            </a:r>
            <a:endParaRPr sz="2100" b="1">
              <a:solidFill>
                <a:srgbClr val="000000"/>
              </a:solidFill>
              <a:latin typeface="Times New Roman" panose="02020603050405020304"/>
              <a:ea typeface="Times New Roman" panose="02020603050405020304"/>
              <a:cs typeface="Times New Roman" panose="02020603050405020304"/>
            </a:endParaRPr>
          </a:p>
          <a:p>
            <a:pPr algn="ctr">
              <a:buNone/>
              <a:defRPr sz="2100" b="1">
                <a:solidFill>
                  <a:srgbClr val="000000"/>
                </a:solidFill>
                <a:latin typeface="Times New Roman" panose="02020603050405020304"/>
                <a:ea typeface="Times New Roman" panose="02020603050405020304"/>
                <a:cs typeface="Times New Roman" panose="02020603050405020304"/>
              </a:defRPr>
            </a:pPr>
            <a:r>
              <a:rPr sz="2100" b="1">
                <a:solidFill>
                  <a:srgbClr val="000000"/>
                </a:solidFill>
                <a:latin typeface="Times New Roman" panose="02020603050405020304"/>
                <a:ea typeface="Times New Roman" panose="02020603050405020304"/>
                <a:cs typeface="Times New Roman" panose="02020603050405020304"/>
              </a:rPr>
              <a:t>Department of Electronics and</a:t>
            </a:r>
            <a:endParaRPr sz="2100" b="1">
              <a:solidFill>
                <a:srgbClr val="000000"/>
              </a:solidFill>
              <a:latin typeface="Times New Roman" panose="02020603050405020304"/>
              <a:ea typeface="Times New Roman" panose="02020603050405020304"/>
              <a:cs typeface="Times New Roman" panose="02020603050405020304"/>
            </a:endParaRPr>
          </a:p>
          <a:p>
            <a:pPr algn="ctr">
              <a:buNone/>
              <a:defRPr sz="2100" b="1">
                <a:solidFill>
                  <a:srgbClr val="000000"/>
                </a:solidFill>
                <a:latin typeface="Times New Roman" panose="02020603050405020304"/>
                <a:ea typeface="Times New Roman" panose="02020603050405020304"/>
                <a:cs typeface="Times New Roman" panose="02020603050405020304"/>
              </a:defRPr>
            </a:pPr>
            <a:r>
              <a:rPr sz="2100" b="1">
                <a:solidFill>
                  <a:srgbClr val="000000"/>
                </a:solidFill>
                <a:latin typeface="Times New Roman" panose="02020603050405020304"/>
                <a:ea typeface="Times New Roman" panose="02020603050405020304"/>
                <a:cs typeface="Times New Roman" panose="02020603050405020304"/>
              </a:rPr>
              <a:t>Telecommunication Engineering</a:t>
            </a:r>
            <a:endParaRPr sz="2100" b="1">
              <a:solidFill>
                <a:srgbClr val="000000"/>
              </a:solidFill>
              <a:latin typeface="Times New Roman" panose="02020603050405020304"/>
              <a:ea typeface="Times New Roman" panose="02020603050405020304"/>
              <a:cs typeface="Times New Roman" panose="02020603050405020304"/>
            </a:endParaRPr>
          </a:p>
        </p:txBody>
      </p:sp>
      <p:sp>
        <p:nvSpPr>
          <p:cNvPr id="59" name="Google Shape;59;p1"/>
          <p:cNvSpPr>
            <a:spLocks noGrp="1"/>
          </p:cNvSpPr>
          <p:nvPr/>
        </p:nvSpPr>
        <p:spPr>
          <a:xfrm>
            <a:off x="190500" y="1438275"/>
            <a:ext cx="8763000" cy="981075"/>
          </a:xfrm>
          <a:prstGeom prst="rect">
            <a:avLst/>
          </a:prstGeom>
          <a:noFill/>
          <a:ln>
            <a:noFill/>
          </a:ln>
          <a:effectLst>
            <a:outerShdw blurRad="63500" dist="23000" dir="5400000">
              <a:srgbClr val="000000">
                <a:alpha val="34902"/>
              </a:srgbClr>
            </a:outerShdw>
          </a:effectLst>
        </p:spPr>
        <p:txBody>
          <a:bodyPr spcFirstLastPara="1" wrap="square" lIns="47625" tIns="38100" rIns="47625" bIns="38100" anchor="t">
            <a:noAutofit/>
          </a:bodyPr>
          <a:lstStyle/>
          <a:p>
            <a:pPr marL="60325" marR="0" lvl="0" indent="0" algn="ctr">
              <a:spcBef>
                <a:spcPts val="0"/>
              </a:spcBef>
              <a:spcAft>
                <a:spcPts val="0"/>
              </a:spcAft>
              <a:buClr>
                <a:srgbClr val="9F5900"/>
              </a:buClr>
              <a:buSzPts val="3600"/>
              <a:buFont typeface="Times New Roman" panose="02020603050405020304"/>
              <a:buNone/>
              <a:defRPr sz="2700" b="1">
                <a:solidFill>
                  <a:srgbClr val="AA5500"/>
                </a:solidFill>
                <a:latin typeface="Times New Roman" panose="02020603050405020304"/>
                <a:ea typeface="Times New Roman" panose="02020603050405020304"/>
                <a:cs typeface="Times New Roman" panose="02020603050405020304"/>
              </a:defRPr>
            </a:pPr>
            <a:r>
              <a:rPr sz="2700" b="1" i="0" u="none" cap="none">
                <a:solidFill>
                  <a:srgbClr val="AA5500"/>
                </a:solidFill>
                <a:latin typeface="Times New Roman" panose="02020603050405020304"/>
                <a:ea typeface="Times New Roman" panose="02020603050405020304"/>
                <a:cs typeface="Times New Roman" panose="02020603050405020304"/>
              </a:rPr>
              <a:t>Academic Year 2026–27  Semester I</a:t>
            </a:r>
            <a:endParaRPr sz="2700" b="1" i="0" u="none" cap="none">
              <a:solidFill>
                <a:srgbClr val="AA5500"/>
              </a:solidFill>
              <a:latin typeface="Times New Roman" panose="02020603050405020304"/>
              <a:ea typeface="Times New Roman" panose="02020603050405020304"/>
              <a:cs typeface="Times New Roman" panose="02020603050405020304"/>
            </a:endParaRPr>
          </a:p>
          <a:p>
            <a:pPr marL="60325" marR="0" lvl="0" indent="0" algn="ctr">
              <a:spcBef>
                <a:spcPts val="0"/>
              </a:spcBef>
              <a:spcAft>
                <a:spcPts val="0"/>
              </a:spcAft>
              <a:buClr>
                <a:srgbClr val="9F5900"/>
              </a:buClr>
              <a:buSzPts val="3600"/>
              <a:buFont typeface="Times New Roman" panose="02020603050405020304"/>
              <a:buNone/>
              <a:defRPr sz="2700" b="1">
                <a:solidFill>
                  <a:srgbClr val="AA5500"/>
                </a:solidFill>
                <a:latin typeface="Times New Roman" panose="02020603050405020304"/>
                <a:ea typeface="Times New Roman" panose="02020603050405020304"/>
                <a:cs typeface="Times New Roman" panose="02020603050405020304"/>
              </a:defRPr>
            </a:pPr>
            <a:r>
              <a:rPr sz="2700" b="1">
                <a:solidFill>
                  <a:srgbClr val="AA5500"/>
                </a:solidFill>
                <a:latin typeface="Times New Roman" panose="02020603050405020304"/>
                <a:ea typeface="Times New Roman" panose="02020603050405020304"/>
                <a:cs typeface="Times New Roman" panose="02020603050405020304"/>
              </a:rPr>
              <a:t>Project Review 3</a:t>
            </a:r>
            <a:endParaRPr sz="3600" b="1" i="0" u="none" cap="none">
              <a:solidFill>
                <a:srgbClr val="9F5900"/>
              </a:solidFill>
              <a:latin typeface="Times New Roman" panose="02020603050405020304"/>
              <a:ea typeface="Times New Roman" panose="02020603050405020304"/>
              <a:cs typeface="Times New Roman" panose="02020603050405020304"/>
            </a:endParaRPr>
          </a:p>
        </p:txBody>
      </p:sp>
      <p:sp>
        <p:nvSpPr>
          <p:cNvPr id="60" name="Google Shape;60;p1"/>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AD75FED6-38D0-DE9C-92C0-6E7FA635581C}"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62" name="Google Shape;62;p1"/>
          <p:cNvSpPr>
            <a:spLocks noGrp="1"/>
          </p:cNvSpPr>
          <p:nvPr/>
        </p:nvSpPr>
        <p:spPr>
          <a:xfrm>
            <a:off x="5372100" y="4667250"/>
            <a:ext cx="3333750" cy="1920200"/>
          </a:xfrm>
          <a:prstGeom prst="rect">
            <a:avLst/>
          </a:prstGeom>
          <a:noFill/>
          <a:ln>
            <a:noFill/>
          </a:ln>
        </p:spPr>
        <p:txBody>
          <a:bodyPr spcFirstLastPara="1" wrap="square" lIns="47625" tIns="38100" rIns="47625" bIns="38100" anchor="t">
            <a:noAutofit/>
          </a:bodyPr>
          <a:lstStyle/>
          <a:p>
            <a:pPr marL="0" marR="0" lvl="2" indent="0" algn="ctr">
              <a:lnSpc>
                <a:spcPct val="150000"/>
              </a:lnSpc>
              <a:spcBef>
                <a:spcPts val="0"/>
              </a:spcBef>
              <a:spcAft>
                <a:spcPts val="0"/>
              </a:spcAft>
              <a:buClr>
                <a:schemeClr val="dk1"/>
              </a:buClr>
              <a:buSzPts val="2800"/>
              <a:buFont typeface="Times New Roman" panose="02020603050405020304"/>
              <a:buNone/>
              <a:defRPr sz="2100" b="0">
                <a:solidFill>
                  <a:srgbClr val="000000"/>
                </a:solidFill>
                <a:latin typeface="Times New Roman" panose="02020603050405020304"/>
                <a:ea typeface="Times New Roman" panose="02020603050405020304"/>
                <a:cs typeface="Times New Roman" panose="02020603050405020304"/>
              </a:defRPr>
            </a:pPr>
            <a:r>
              <a:rPr sz="2100" b="0" i="0" u="none" cap="none">
                <a:solidFill>
                  <a:srgbClr val="000000"/>
                </a:solidFill>
                <a:latin typeface="Times New Roman" panose="02020603050405020304"/>
                <a:ea typeface="Times New Roman" panose="02020603050405020304"/>
                <a:cs typeface="Times New Roman" panose="02020603050405020304"/>
              </a:rPr>
              <a:t>Under the guidance of</a:t>
            </a:r>
            <a:endParaRPr sz="2100" b="0" i="0" u="none" cap="none">
              <a:solidFill>
                <a:srgbClr val="000000"/>
              </a:solidFill>
              <a:latin typeface="Times New Roman" panose="02020603050405020304"/>
              <a:ea typeface="Times New Roman" panose="02020603050405020304"/>
              <a:cs typeface="Times New Roman" panose="02020603050405020304"/>
            </a:endParaRPr>
          </a:p>
          <a:p>
            <a:pPr marL="0" marR="0" lvl="0" indent="0" algn="ctr">
              <a:lnSpc>
                <a:spcPct val="150000"/>
              </a:lnSpc>
              <a:spcBef>
                <a:spcPts val="0"/>
              </a:spcBef>
              <a:spcAft>
                <a:spcPts val="0"/>
              </a:spcAft>
              <a:buClr>
                <a:schemeClr val="dk1"/>
              </a:buClr>
              <a:buSzPts val="2400"/>
              <a:buFont typeface="Times New Roman" panose="02020603050405020304"/>
              <a:buNone/>
              <a:defRPr sz="2100" b="0">
                <a:solidFill>
                  <a:srgbClr val="000000"/>
                </a:solidFill>
                <a:latin typeface="Times New Roman" panose="02020603050405020304"/>
                <a:ea typeface="Times New Roman" panose="02020603050405020304"/>
                <a:cs typeface="Times New Roman" panose="02020603050405020304"/>
              </a:defRPr>
            </a:pPr>
            <a:r>
              <a:rPr sz="2100" b="0" i="0" u="none">
                <a:solidFill>
                  <a:srgbClr val="000000"/>
                </a:solidFill>
                <a:latin typeface="Times New Roman" panose="02020603050405020304"/>
                <a:ea typeface="Times New Roman" panose="02020603050405020304"/>
                <a:cs typeface="Times New Roman" panose="02020603050405020304"/>
              </a:rPr>
              <a:t>Prof. Chetna Jain</a:t>
            </a:r>
            <a:endParaRPr sz="2100" b="0" i="0" u="none">
              <a:solidFill>
                <a:srgbClr val="000000"/>
              </a:solidFill>
              <a:latin typeface="Times New Roman" panose="02020603050405020304"/>
              <a:ea typeface="Times New Roman" panose="02020603050405020304"/>
              <a:cs typeface="Times New Roman" panose="02020603050405020304"/>
            </a:endParaRPr>
          </a:p>
        </p:txBody>
      </p:sp>
      <p:sp>
        <p:nvSpPr>
          <p:cNvPr id="63" name="Google Shape;63;p1"/>
          <p:cNvSpPr>
            <a:spLocks noGrp="1"/>
          </p:cNvSpPr>
          <p:nvPr/>
        </p:nvSpPr>
        <p:spPr>
          <a:xfrm>
            <a:off x="7678737" y="265112"/>
            <a:ext cx="1343032" cy="763581"/>
          </a:xfrm>
          <a:custGeom>
            <a:avLst/>
            <a:gdLst/>
            <a:ahLst/>
            <a:cxnLst/>
            <a:rect l="l" t="t" r="r" b="b"/>
            <a:pathLst>
              <a:path w="2354453" h="1591818">
                <a:moveTo>
                  <a:pt x="0" y="0"/>
                </a:moveTo>
                <a:lnTo>
                  <a:pt x="2354453" y="0"/>
                </a:lnTo>
                <a:lnTo>
                  <a:pt x="2354453" y="1591818"/>
                </a:lnTo>
                <a:lnTo>
                  <a:pt x="0" y="1591818"/>
                </a:lnTo>
                <a:lnTo>
                  <a:pt x="0" y="0"/>
                </a:lnTo>
                <a:close/>
              </a:path>
            </a:pathLst>
          </a:custGeom>
          <a:blipFill rotWithShape="1">
            <a:blip r:embed="rId1"/>
            <a:stretch>
              <a:fillRect t="-4120" b="-4121"/>
            </a:stretch>
          </a:blipFill>
          <a:ln>
            <a:noFill/>
          </a:ln>
        </p:spPr>
      </p:sp>
      <p:sp>
        <p:nvSpPr>
          <p:cNvPr id="64" name="Google Shape;64;p1"/>
          <p:cNvSpPr>
            <a:spLocks noGrp="1"/>
          </p:cNvSpPr>
          <p:nvPr/>
        </p:nvSpPr>
        <p:spPr>
          <a:xfrm>
            <a:off x="136525" y="117475"/>
            <a:ext cx="841375" cy="1163637"/>
          </a:xfrm>
          <a:custGeom>
            <a:avLst/>
            <a:gdLst/>
            <a:ahLst/>
            <a:cxnLst/>
            <a:rect l="l" t="t" r="r" b="b"/>
            <a:pathLst>
              <a:path w="1288321" h="1683367">
                <a:moveTo>
                  <a:pt x="0" y="0"/>
                </a:moveTo>
                <a:lnTo>
                  <a:pt x="1288322" y="0"/>
                </a:lnTo>
                <a:lnTo>
                  <a:pt x="1288322" y="1683367"/>
                </a:lnTo>
                <a:lnTo>
                  <a:pt x="0" y="1683367"/>
                </a:lnTo>
                <a:lnTo>
                  <a:pt x="0" y="0"/>
                </a:lnTo>
                <a:close/>
              </a:path>
            </a:pathLst>
          </a:custGeom>
          <a:blipFill rotWithShape="1">
            <a:blip r:embed="rId2"/>
            <a:stretch>
              <a:fillRect/>
            </a:stretch>
          </a:blipFill>
          <a:ln>
            <a:noFill/>
          </a:ln>
        </p:spPr>
        <p:txBody>
          <a:bodyPr spcFirstLastPara="1" wrap="square" lIns="91425" tIns="45700" rIns="91425" bIns="45700" anchor="t">
            <a:noAutofit/>
          </a:bodyPr>
          <a:lstStyle/>
          <a:p>
            <a:pPr marL="0" marR="0" lvl="0" indent="0" algn="l">
              <a:lnSpc>
                <a:spcPct val="100000"/>
              </a:lnSpc>
              <a:spcBef>
                <a:spcPts val="0"/>
              </a:spcBef>
              <a:spcAft>
                <a:spcPts val="0"/>
              </a:spcAft>
              <a:buNone/>
            </a:pPr>
            <a:endParaRPr sz="1400" b="0" i="0" u="none">
              <a:solidFill>
                <a:srgbClr val="000000"/>
              </a:solidFill>
              <a:latin typeface="Arial" panose="020B0604020202020204"/>
              <a:ea typeface="Arial" panose="020B0604020202020204"/>
              <a:cs typeface="Arial" panose="020B0604020202020204"/>
            </a:endParaRPr>
          </a:p>
        </p:txBody>
      </p:sp>
      <p:sp>
        <p:nvSpPr>
          <p:cNvPr id="65" name="Google Shape;65;p1"/>
          <p:cNvSpPr>
            <a:spLocks noGrp="1"/>
          </p:cNvSpPr>
          <p:nvPr/>
        </p:nvSpPr>
        <p:spPr>
          <a:xfrm>
            <a:off x="2381250" y="3600450"/>
            <a:ext cx="4381500" cy="640040"/>
          </a:xfrm>
          <a:prstGeom prst="rect">
            <a:avLst/>
          </a:prstGeom>
          <a:noFill/>
          <a:ln>
            <a:noFill/>
          </a:ln>
        </p:spPr>
        <p:txBody>
          <a:bodyPr spcFirstLastPara="1" wrap="square" lIns="47625" tIns="38100" rIns="47625" bIns="38100" anchor="t">
            <a:noAutofit/>
          </a:bodyPr>
          <a:lstStyle/>
          <a:p>
            <a:pPr marL="60325" marR="0" lvl="0" indent="0" algn="ctr">
              <a:lnSpc>
                <a:spcPct val="150000"/>
              </a:lnSpc>
              <a:spcBef>
                <a:spcPts val="0"/>
              </a:spcBef>
              <a:spcAft>
                <a:spcPts val="0"/>
              </a:spcAft>
              <a:buClr>
                <a:srgbClr val="C00000"/>
              </a:buClr>
              <a:buSzPts val="2400"/>
              <a:buFont typeface="Times New Roman" panose="02020603050405020304"/>
              <a:buNone/>
              <a:defRPr sz="2100" b="1">
                <a:solidFill>
                  <a:srgbClr val="B00000"/>
                </a:solidFill>
                <a:latin typeface="Times New Roman" panose="02020603050405020304"/>
                <a:ea typeface="Times New Roman" panose="02020603050405020304"/>
                <a:cs typeface="Times New Roman" panose="02020603050405020304"/>
              </a:defRPr>
            </a:pPr>
            <a:r>
              <a:rPr sz="2100" b="1" i="0" u="none">
                <a:solidFill>
                  <a:srgbClr val="B00000"/>
                </a:solidFill>
                <a:latin typeface="Times New Roman" panose="02020603050405020304"/>
                <a:ea typeface="Times New Roman" panose="02020603050405020304"/>
                <a:cs typeface="Times New Roman" panose="02020603050405020304"/>
              </a:rPr>
              <a:t>Date: 3 October 2026</a:t>
            </a:r>
            <a:endParaRPr sz="2100" b="1" i="0" u="none">
              <a:solidFill>
                <a:srgbClr val="B00000"/>
              </a:solidFill>
              <a:latin typeface="Times New Roman" panose="02020603050405020304"/>
              <a:ea typeface="Times New Roman" panose="02020603050405020304"/>
              <a:cs typeface="Times New Roman" panose="02020603050405020304"/>
            </a:endParaRPr>
          </a:p>
        </p:txBody>
      </p:sp>
      <p:sp>
        <p:nvSpPr>
          <p:cNvPr id="10" name="Google Shape;59;p1"/>
          <p:cNvSpPr>
            <a:spLocks noGrp="1"/>
          </p:cNvSpPr>
          <p:nvPr/>
        </p:nvSpPr>
        <p:spPr>
          <a:xfrm>
            <a:off x="190500" y="2562225"/>
            <a:ext cx="8763000" cy="1028700"/>
          </a:xfrm>
          <a:prstGeom prst="rect">
            <a:avLst/>
          </a:prstGeom>
          <a:noFill/>
          <a:ln>
            <a:noFill/>
          </a:ln>
          <a:effectLst>
            <a:outerShdw blurRad="63500" dist="23000" dir="5400000">
              <a:srgbClr val="000000">
                <a:alpha val="34902"/>
              </a:srgbClr>
            </a:outerShdw>
          </a:effectLst>
        </p:spPr>
        <p:txBody>
          <a:bodyPr spcFirstLastPara="1" wrap="square" lIns="47625" tIns="38100" rIns="47625" bIns="38100" anchor="t">
            <a:noAutofit/>
          </a:bodyPr>
          <a:lstStyle/>
          <a:p>
            <a:pPr marL="60325" marR="0" lvl="0" indent="0" algn="ctr">
              <a:lnSpc>
                <a:spcPct val="100000"/>
              </a:lnSpc>
              <a:spcBef>
                <a:spcPts val="0"/>
              </a:spcBef>
              <a:spcAft>
                <a:spcPts val="0"/>
              </a:spcAft>
              <a:buClr>
                <a:srgbClr val="7030A0"/>
              </a:buClr>
              <a:buSzPts val="3200"/>
              <a:buFont typeface="Times New Roman" panose="02020603050405020304"/>
              <a:buNone/>
              <a:defRPr sz="2550" b="1">
                <a:solidFill>
                  <a:srgbClr val="7030A0"/>
                </a:solidFill>
                <a:latin typeface="Times New Roman" panose="02020603050405020304"/>
                <a:ea typeface="Times New Roman" panose="02020603050405020304"/>
                <a:cs typeface="Times New Roman" panose="02020603050405020304"/>
              </a:defRPr>
            </a:pPr>
            <a:r>
              <a:rPr sz="2550" b="1" i="0" u="none" cap="none">
                <a:solidFill>
                  <a:srgbClr val="7030A0"/>
                </a:solidFill>
                <a:latin typeface="Times New Roman" panose="02020603050405020304"/>
                <a:ea typeface="Times New Roman" panose="02020603050405020304"/>
                <a:cs typeface="Times New Roman" panose="02020603050405020304"/>
              </a:rPr>
              <a:t>WattSense</a:t>
            </a:r>
            <a:endParaRPr sz="3200" b="1" i="0" u="none">
              <a:solidFill>
                <a:srgbClr val="7030A0"/>
              </a:solidFill>
              <a:latin typeface="Times New Roman" panose="02020603050405020304"/>
              <a:ea typeface="Times New Roman" panose="02020603050405020304"/>
              <a:cs typeface="Times New Roman" panose="02020603050405020304"/>
            </a:endParaRPr>
          </a:p>
          <a:p>
            <a:pPr marL="60325" marR="0" lvl="0" indent="0" algn="ctr">
              <a:lnSpc>
                <a:spcPct val="100000"/>
              </a:lnSpc>
              <a:spcBef>
                <a:spcPts val="0"/>
              </a:spcBef>
              <a:spcAft>
                <a:spcPts val="0"/>
              </a:spcAft>
              <a:buClr>
                <a:srgbClr val="7030A0"/>
              </a:buClr>
              <a:buSzPts val="3200"/>
              <a:buFont typeface="Times New Roman" panose="02020603050405020304"/>
              <a:buNone/>
              <a:defRPr sz="2550" b="1">
                <a:solidFill>
                  <a:srgbClr val="7030A0"/>
                </a:solidFill>
                <a:latin typeface="Times New Roman" panose="02020603050405020304"/>
                <a:ea typeface="Times New Roman" panose="02020603050405020304"/>
                <a:cs typeface="Times New Roman" panose="02020603050405020304"/>
              </a:defRPr>
            </a:pPr>
            <a:r>
              <a:rPr sz="2550" b="1" i="0" u="none" cap="none">
                <a:solidFill>
                  <a:srgbClr val="7030A0"/>
                </a:solidFill>
                <a:latin typeface="Times New Roman" panose="02020603050405020304"/>
                <a:ea typeface="Times New Roman" panose="02020603050405020304"/>
                <a:cs typeface="Times New Roman" panose="02020603050405020304"/>
              </a:rPr>
              <a:t>Battery Monitoring and Priority Load Control</a:t>
            </a:r>
            <a:endParaRPr sz="3200" b="1" i="0" u="none">
              <a:solidFill>
                <a:srgbClr val="7030A0"/>
              </a:solidFill>
              <a:latin typeface="Times New Roman" panose="02020603050405020304"/>
              <a:ea typeface="Times New Roman" panose="02020603050405020304"/>
              <a:cs typeface="Times New Roman" panose="02020603050405020304"/>
            </a:endParaRPr>
          </a:p>
        </p:txBody>
      </p:sp>
      <p:sp>
        <p:nvSpPr>
          <p:cNvPr id="67" name="Student names"/>
          <p:cNvSpPr>
            <a:spLocks noGrp="1"/>
          </p:cNvSpPr>
          <p:nvPr/>
        </p:nvSpPr>
        <p:spPr>
          <a:xfrm>
            <a:off x="419100" y="4467225"/>
            <a:ext cx="2619375" cy="1638300"/>
          </a:xfrm>
          <a:prstGeom prst="rect">
            <a:avLst/>
          </a:prstGeom>
          <a:noFill/>
          <a:ln w="0">
            <a:noFill/>
          </a:ln>
        </p:spPr>
        <p:txBody>
          <a:bodyPr wrap="square" lIns="47625" tIns="38100" rIns="47625" bIns="38100" anchor="t">
            <a:noAutofit/>
          </a:bodyPr>
          <a:lstStyle/>
          <a:p>
            <a:pPr algn="l">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Students</a:t>
            </a:r>
            <a:endParaRPr sz="2025" b="0">
              <a:solidFill>
                <a:srgbClr val="000000"/>
              </a:solidFill>
              <a:latin typeface="Times New Roman" panose="02020603050405020304"/>
              <a:ea typeface="Times New Roman" panose="02020603050405020304"/>
              <a:cs typeface="Times New Roman" panose="02020603050405020304"/>
            </a:endParaRPr>
          </a:p>
          <a:p>
            <a:pPr algn="l">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Dhanesh Chaudhari</a:t>
            </a:r>
            <a:endParaRPr sz="2025" b="0">
              <a:solidFill>
                <a:srgbClr val="000000"/>
              </a:solidFill>
              <a:latin typeface="Times New Roman" panose="02020603050405020304"/>
              <a:ea typeface="Times New Roman" panose="02020603050405020304"/>
              <a:cs typeface="Times New Roman" panose="02020603050405020304"/>
            </a:endParaRPr>
          </a:p>
          <a:p>
            <a:pPr algn="l">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Yash Ahire</a:t>
            </a:r>
            <a:endParaRPr sz="2025" b="0">
              <a:solidFill>
                <a:srgbClr val="000000"/>
              </a:solidFill>
              <a:latin typeface="Times New Roman" panose="02020603050405020304"/>
              <a:ea typeface="Times New Roman" panose="02020603050405020304"/>
              <a:cs typeface="Times New Roman" panose="02020603050405020304"/>
            </a:endParaRPr>
          </a:p>
          <a:p>
            <a:pPr algn="l">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Mrudula Pagar</a:t>
            </a:r>
            <a:endParaRPr sz="2025" b="0">
              <a:solidFill>
                <a:srgbClr val="000000"/>
              </a:solidFill>
              <a:latin typeface="Times New Roman" panose="02020603050405020304"/>
              <a:ea typeface="Times New Roman" panose="02020603050405020304"/>
              <a:cs typeface="Times New Roman" panose="02020603050405020304"/>
            </a:endParaRPr>
          </a:p>
          <a:p>
            <a:pPr algn="l">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Ujjwal Kshirsagar</a:t>
            </a:r>
            <a:endParaRPr sz="2025" b="0">
              <a:solidFill>
                <a:srgbClr val="000000"/>
              </a:solidFill>
              <a:latin typeface="Times New Roman" panose="02020603050405020304"/>
              <a:ea typeface="Times New Roman" panose="02020603050405020304"/>
              <a:cs typeface="Times New Roman" panose="02020603050405020304"/>
            </a:endParaRPr>
          </a:p>
        </p:txBody>
      </p:sp>
      <p:sp>
        <p:nvSpPr>
          <p:cNvPr id="68" name="Roll numbers"/>
          <p:cNvSpPr>
            <a:spLocks noGrp="1"/>
          </p:cNvSpPr>
          <p:nvPr/>
        </p:nvSpPr>
        <p:spPr>
          <a:xfrm>
            <a:off x="3152775" y="4467225"/>
            <a:ext cx="1476375" cy="1638300"/>
          </a:xfrm>
          <a:prstGeom prst="rect">
            <a:avLst/>
          </a:prstGeom>
          <a:noFill/>
          <a:ln w="0">
            <a:noFill/>
          </a:ln>
        </p:spPr>
        <p:txBody>
          <a:bodyPr wrap="square" lIns="47625" tIns="38100" rIns="47625" bIns="38100" anchor="t">
            <a:noAutofit/>
          </a:bodyPr>
          <a:lstStyle/>
          <a:p>
            <a:pPr algn="ctr">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Roll No.</a:t>
            </a:r>
            <a:endParaRPr sz="2025" b="0">
              <a:solidFill>
                <a:srgbClr val="000000"/>
              </a:solidFill>
              <a:latin typeface="Times New Roman" panose="02020603050405020304"/>
              <a:ea typeface="Times New Roman" panose="02020603050405020304"/>
              <a:cs typeface="Times New Roman" panose="02020603050405020304"/>
            </a:endParaRPr>
          </a:p>
          <a:p>
            <a:pPr algn="ctr">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4114</a:t>
            </a:r>
            <a:endParaRPr sz="2025" b="0">
              <a:solidFill>
                <a:srgbClr val="000000"/>
              </a:solidFill>
              <a:latin typeface="Times New Roman" panose="02020603050405020304"/>
              <a:ea typeface="Times New Roman" panose="02020603050405020304"/>
              <a:cs typeface="Times New Roman" panose="02020603050405020304"/>
            </a:endParaRPr>
          </a:p>
          <a:p>
            <a:pPr algn="ctr">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4101</a:t>
            </a:r>
            <a:endParaRPr sz="2025" b="0">
              <a:solidFill>
                <a:srgbClr val="000000"/>
              </a:solidFill>
              <a:latin typeface="Times New Roman" panose="02020603050405020304"/>
              <a:ea typeface="Times New Roman" panose="02020603050405020304"/>
              <a:cs typeface="Times New Roman" panose="02020603050405020304"/>
            </a:endParaRPr>
          </a:p>
          <a:p>
            <a:pPr algn="ctr">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4114</a:t>
            </a:r>
            <a:endParaRPr sz="2025" b="0">
              <a:solidFill>
                <a:srgbClr val="000000"/>
              </a:solidFill>
              <a:latin typeface="Times New Roman" panose="02020603050405020304"/>
              <a:ea typeface="Times New Roman" panose="02020603050405020304"/>
              <a:cs typeface="Times New Roman" panose="02020603050405020304"/>
            </a:endParaRPr>
          </a:p>
          <a:p>
            <a:pPr algn="ctr">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4101</a:t>
            </a:r>
            <a:endParaRPr sz="2025" b="0">
              <a:solidFill>
                <a:srgbClr val="00000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 name="Google Shape;70;p2"/>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E2598689-54C9-18A7-3A19-ED76AA08988F}"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71" name="Google Shape;71;p2"/>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Introduction and Topic Overview</a:t>
            </a:r>
            <a:endParaRPr sz="2550" b="1">
              <a:solidFill>
                <a:srgbClr val="000000"/>
              </a:solidFill>
              <a:latin typeface="Times New Roman" panose="02020603050405020304"/>
              <a:ea typeface="Times New Roman" panose="02020603050405020304"/>
              <a:cs typeface="Times New Roman" panose="02020603050405020304"/>
            </a:endParaRPr>
          </a:p>
        </p:txBody>
      </p:sp>
      <p:sp>
        <p:nvSpPr>
          <p:cNvPr id="72" name="Introduction"/>
          <p:cNvSpPr>
            <a:spLocks noGrp="1"/>
          </p:cNvSpPr>
          <p:nvPr/>
        </p:nvSpPr>
        <p:spPr>
          <a:xfrm>
            <a:off x="933450" y="1371600"/>
            <a:ext cx="7381875" cy="3695700"/>
          </a:xfrm>
          <a:prstGeom prst="rect">
            <a:avLst/>
          </a:prstGeom>
          <a:noFill/>
          <a:ln w="0">
            <a:noFill/>
          </a:ln>
        </p:spPr>
        <p:txBody>
          <a:bodyPr wrap="square" lIns="38100" tIns="38100" rIns="38100" bIns="38100" anchor="t">
            <a:noAutofit/>
          </a:bodyPr>
          <a:lstStyle/>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A battery powers a 5 V lamp and an optional fan through a converter.</a:t>
            </a:r>
            <a:endParaRPr sz="210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Keeping both loads on can shorten the service available to the lamp.</a:t>
            </a:r>
            <a:endParaRPr sz="210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WattSense estimates remaining charge and sheds the fan when backup becomes limited.</a:t>
            </a:r>
            <a:endParaRPr sz="210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A purchased BMS protects the cells. Our board measures current and controls load priority.</a:t>
            </a:r>
            <a:endParaRPr sz="210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Intended use: a small DC backup demonstrator for lighting and ventilation.</a:t>
            </a:r>
            <a:endParaRPr sz="2100" b="0">
              <a:solidFill>
                <a:srgbClr val="000000"/>
              </a:solidFill>
              <a:latin typeface="Times New Roman" panose="02020603050405020304"/>
              <a:ea typeface="Times New Roman" panose="02020603050405020304"/>
              <a:cs typeface="Times New Roman" panose="02020603050405020304"/>
            </a:endParaRPr>
          </a:p>
        </p:txBody>
      </p:sp>
      <p:sp>
        <p:nvSpPr>
          <p:cNvPr id="73" name="Present scope"/>
          <p:cNvSpPr>
            <a:spLocks noGrp="1"/>
          </p:cNvSpPr>
          <p:nvPr/>
        </p:nvSpPr>
        <p:spPr>
          <a:xfrm>
            <a:off x="962025" y="5429250"/>
            <a:ext cx="7429500" cy="819150"/>
          </a:xfrm>
          <a:prstGeom prst="rect">
            <a:avLst/>
          </a:prstGeom>
          <a:noFill/>
          <a:ln w="0">
            <a:noFill/>
          </a:ln>
        </p:spPr>
        <p:txBody>
          <a:bodyPr wrap="square" lIns="47625" tIns="38100" rIns="47625" bIns="38100" anchor="t">
            <a:noAutofit/>
          </a:bodyPr>
          <a:lstStyle/>
          <a:p>
            <a:pPr algn="l">
              <a:buNone/>
              <a:defRPr sz="1875" b="1">
                <a:solidFill>
                  <a:srgbClr val="7030A0"/>
                </a:solidFill>
                <a:latin typeface="Times New Roman" panose="02020603050405020304"/>
                <a:ea typeface="Times New Roman" panose="02020603050405020304"/>
                <a:cs typeface="Times New Roman" panose="02020603050405020304"/>
              </a:defRPr>
            </a:pPr>
            <a:r>
              <a:rPr sz="1875" b="1">
                <a:solidFill>
                  <a:srgbClr val="7030A0"/>
                </a:solidFill>
                <a:latin typeface="Times New Roman" panose="02020603050405020304"/>
                <a:ea typeface="Times New Roman" panose="02020603050405020304"/>
                <a:cs typeface="Times New Roman" panose="02020603050405020304"/>
              </a:rPr>
              <a:t>Review 3 status: software, PCB design and simulation evidence.</a:t>
            </a:r>
            <a:endParaRPr sz="1875" b="1">
              <a:solidFill>
                <a:srgbClr val="7030A0"/>
              </a:solidFill>
              <a:latin typeface="Times New Roman" panose="02020603050405020304"/>
              <a:ea typeface="Times New Roman" panose="02020603050405020304"/>
              <a:cs typeface="Times New Roman" panose="02020603050405020304"/>
            </a:endParaRPr>
          </a:p>
          <a:p>
            <a:pPr algn="l">
              <a:buNone/>
              <a:defRPr sz="1875" b="1">
                <a:solidFill>
                  <a:srgbClr val="7030A0"/>
                </a:solidFill>
                <a:latin typeface="Times New Roman" panose="02020603050405020304"/>
                <a:ea typeface="Times New Roman" panose="02020603050405020304"/>
                <a:cs typeface="Times New Roman" panose="02020603050405020304"/>
              </a:defRPr>
            </a:pPr>
            <a:r>
              <a:rPr sz="1875" b="1">
                <a:solidFill>
                  <a:srgbClr val="7030A0"/>
                </a:solidFill>
                <a:latin typeface="Times New Roman" panose="02020603050405020304"/>
                <a:ea typeface="Times New Roman" panose="02020603050405020304"/>
                <a:cs typeface="Times New Roman" panose="02020603050405020304"/>
              </a:rPr>
              <a:t>Hardware measurements and solar tests remain pending.</a:t>
            </a:r>
            <a:endParaRPr sz="1875" b="1">
              <a:solidFill>
                <a:srgbClr val="7030A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 name="Google Shape;79;p3"/>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202359C0-8A7A-196E-DD58-8E6569619F09}"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0" name="Google Shape;80;p3"/>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Literature Survey 1 of 4</a:t>
            </a:r>
            <a:endParaRPr sz="2550" b="1">
              <a:solidFill>
                <a:srgbClr val="000000"/>
              </a:solidFill>
              <a:latin typeface="Times New Roman" panose="02020603050405020304"/>
              <a:ea typeface="Times New Roman" panose="02020603050405020304"/>
              <a:cs typeface="Times New Roman" panose="02020603050405020304"/>
            </a:endParaRPr>
          </a:p>
        </p:txBody>
      </p:sp>
      <p:graphicFrame>
        <p:nvGraphicFramePr>
          <p:cNvPr id="86" name="Table 2"/>
          <p:cNvGraphicFramePr/>
          <p:nvPr/>
        </p:nvGraphicFramePr>
        <p:xfrm>
          <a:off x="285750" y="1133475"/>
          <a:ext cx="8524875" cy="4924425"/>
        </p:xfrm>
        <a:graphic>
          <a:graphicData uri="http://schemas.openxmlformats.org/drawingml/2006/table">
            <a:tbl>
              <a:tblPr/>
              <a:tblGrid>
                <a:gridCol w="400050"/>
                <a:gridCol w="1400175"/>
                <a:gridCol w="1247775"/>
                <a:gridCol w="1323975"/>
                <a:gridCol w="1304925"/>
                <a:gridCol w="1514475"/>
                <a:gridCol w="1333500"/>
              </a:tblGrid>
              <a:tr h="495300">
                <a:tc>
                  <a:txBody>
                    <a:bodyPr>
                      <a:spAutoFit/>
                    </a:bodyPr>
                    <a:lstStyle/>
                    <a:p>
                      <a:pPr algn="ctr">
                        <a:buNone/>
                      </a:pPr>
                      <a:r>
                        <a:rPr sz="1500" b="1">
                          <a:solidFill>
                            <a:srgbClr val="000000"/>
                          </a:solidFill>
                          <a:latin typeface="Times New Roman" panose="02020603050405020304"/>
                          <a:ea typeface="Times New Roman" panose="02020603050405020304"/>
                          <a:cs typeface="Times New Roman" panose="02020603050405020304"/>
                        </a:rPr>
                        <a:t>No</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Author, Year</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Problem</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Method</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Data / tests</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Finding</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Scope limit</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Marahatta et al.</a:t>
                      </a:r>
                      <a:endParaRPr sz="1425" b="0">
                        <a:solidFill>
                          <a:srgbClr val="000000"/>
                        </a:solidFill>
                        <a:latin typeface="Times New Roman" panose="02020603050405020304"/>
                        <a:ea typeface="Times New Roman" panose="02020603050405020304"/>
                        <a:cs typeface="Times New Roman" panose="020206030504050203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2021</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Limited rural energy supply</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Priority switching + SCADA</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Laboratory solar-battery microgrid</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Maintains essential-load service</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Three-level solar system</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2</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Rajbhandari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2024</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Variable solar energy availability</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Day-ahead forecasts + PSO</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Stochastic generation/load simulations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Improves priority-load continuity</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Requires forecasts and optimisation</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3</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Bai et al.</a:t>
                      </a:r>
                      <a:endParaRPr>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2020</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Power imbalance and load priorities</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Rule control + MILP shedding</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Simulink day-long model</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Balances power across operating modes</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Converter efficiency omitted</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4</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Lv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2021</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Battery imbalance and bus fluctuations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Adaptive droop + SOC modes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Simulink with two stores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Balances SOC and bus power</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450 V simulated microgrid</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5</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Guo &amp; Kors</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2021</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Renewable energy teaching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Sensors, Raspberry Pi, SCADA</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Outdoor rig + student tests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Demonstrates integrated teaching platform</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No load-runtime comparison</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 name="Google Shape;79;p3"/>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EFD6AB9A-5F9E-5F59-51AB-3C8734130965}"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0" name="Google Shape;80;p3"/>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Literature Survey 2 of 4</a:t>
            </a:r>
            <a:endParaRPr sz="2550" b="1">
              <a:solidFill>
                <a:srgbClr val="000000"/>
              </a:solidFill>
              <a:latin typeface="Times New Roman" panose="02020603050405020304"/>
              <a:ea typeface="Times New Roman" panose="02020603050405020304"/>
              <a:cs typeface="Times New Roman" panose="02020603050405020304"/>
            </a:endParaRPr>
          </a:p>
        </p:txBody>
      </p:sp>
      <p:graphicFrame>
        <p:nvGraphicFramePr>
          <p:cNvPr id="86" name="Table 2"/>
          <p:cNvGraphicFramePr/>
          <p:nvPr/>
        </p:nvGraphicFramePr>
        <p:xfrm>
          <a:off x="285750" y="1133475"/>
          <a:ext cx="8524875" cy="4924425"/>
        </p:xfrm>
        <a:graphic>
          <a:graphicData uri="http://schemas.openxmlformats.org/drawingml/2006/table">
            <a:tbl>
              <a:tblPr/>
              <a:tblGrid>
                <a:gridCol w="400050"/>
                <a:gridCol w="1400175"/>
                <a:gridCol w="1247775"/>
                <a:gridCol w="1323975"/>
                <a:gridCol w="1304925"/>
                <a:gridCol w="1514475"/>
                <a:gridCol w="1333500"/>
              </a:tblGrid>
              <a:tr h="495300">
                <a:tc>
                  <a:txBody>
                    <a:bodyPr>
                      <a:spAutoFit/>
                    </a:bodyPr>
                    <a:lstStyle/>
                    <a:p>
                      <a:pPr algn="ctr">
                        <a:buNone/>
                      </a:pPr>
                      <a:r>
                        <a:rPr sz="1500" b="1">
                          <a:solidFill>
                            <a:srgbClr val="000000"/>
                          </a:solidFill>
                          <a:latin typeface="Times New Roman" panose="02020603050405020304"/>
                          <a:ea typeface="Times New Roman" panose="02020603050405020304"/>
                          <a:cs typeface="Times New Roman" panose="02020603050405020304"/>
                        </a:rPr>
                        <a:t>No</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Author, Year</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Problem</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Method</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Data / tests</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Finding</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Scope limit</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6</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Yusubov &amp; Bekirova</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2023</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Variable PV output and demand</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Power/SOC rules + load shedding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Standalone DC microgrid simulations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Coordinates loads within SOC bounds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No physical validation reported</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7</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Basantes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2023</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Dispatch cost and battery limits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Hierarchical control + predictive optimisation</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Simulink + FICO Xpress scenarios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Reduces simulated operating cost</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Battery degradation model deferred</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8</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Sepehrzad et al.</a:t>
                      </a:r>
                      <a:endParaRPr>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2023</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Converter fluctuations and power sharing</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Distributed MDMPC</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Simulation, HIL and experiment</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Reduces converter fluctuations</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Complex converter control</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9</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Khawaja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2023</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PV / battery / diesel cost</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Economic sizing + Q-learning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MATLAB with Amman profiles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Lowers cost and diesel use</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Training and profile data required</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10</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Singh &amp; Maulik</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2023</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Correlated load and supply</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Probabilistic optimisation</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Ten-bus DC network simulations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Reduces expected cost and losses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Grid-connected study</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 name="Google Shape;79;p3"/>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EE5B3003-2C54-13C6-9832-7637201064DE}"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0" name="Google Shape;80;p3"/>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Literature Survey 3 of 4</a:t>
            </a:r>
            <a:endParaRPr sz="2550" b="1">
              <a:solidFill>
                <a:srgbClr val="000000"/>
              </a:solidFill>
              <a:latin typeface="Times New Roman" panose="02020603050405020304"/>
              <a:ea typeface="Times New Roman" panose="02020603050405020304"/>
              <a:cs typeface="Times New Roman" panose="02020603050405020304"/>
            </a:endParaRPr>
          </a:p>
        </p:txBody>
      </p:sp>
      <p:graphicFrame>
        <p:nvGraphicFramePr>
          <p:cNvPr id="86" name="Table 2"/>
          <p:cNvGraphicFramePr/>
          <p:nvPr/>
        </p:nvGraphicFramePr>
        <p:xfrm>
          <a:off x="285750" y="1133475"/>
          <a:ext cx="8524875" cy="4924425"/>
        </p:xfrm>
        <a:graphic>
          <a:graphicData uri="http://schemas.openxmlformats.org/drawingml/2006/table">
            <a:tbl>
              <a:tblPr/>
              <a:tblGrid>
                <a:gridCol w="400050"/>
                <a:gridCol w="1400175"/>
                <a:gridCol w="1247775"/>
                <a:gridCol w="1323975"/>
                <a:gridCol w="1304925"/>
                <a:gridCol w="1514475"/>
                <a:gridCol w="1333500"/>
              </a:tblGrid>
              <a:tr h="495300">
                <a:tc>
                  <a:txBody>
                    <a:bodyPr>
                      <a:spAutoFit/>
                    </a:bodyPr>
                    <a:lstStyle/>
                    <a:p>
                      <a:pPr algn="ctr">
                        <a:buNone/>
                      </a:pPr>
                      <a:r>
                        <a:rPr sz="1500" b="1">
                          <a:solidFill>
                            <a:srgbClr val="000000"/>
                          </a:solidFill>
                          <a:latin typeface="Times New Roman" panose="02020603050405020304"/>
                          <a:ea typeface="Times New Roman" panose="02020603050405020304"/>
                          <a:cs typeface="Times New Roman" panose="02020603050405020304"/>
                        </a:rPr>
                        <a:t>No</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Author, Year</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Problem</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Method</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Data / tests</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Finding</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Scope limit</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11</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Movassagh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2021</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Accumulated SOC error</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Analytical error decomposition</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Error models and simulations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Four error sources quantified</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Current and initial-SOC errors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12</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Zhang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2018</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Changing battery model parameters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Decoupled weighted RLS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Lithium-ion cell measurements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Separates fast / slow dynamics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Characterize our actual pack first</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13</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Gismero et al.</a:t>
                      </a:r>
                      <a:endParaRPr>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2020</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Charge drift and capacity aging</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Coulomb counting, OCV reset, RLS</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Aged NMC cells; dynamic loads</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OCV resets limit accumulated drift</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Rest time and chemistry matter</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14</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Yang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2021</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SOC and parameter coupling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Separated RLS + EKF</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18650 data at varied temperature</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Lower error than conventional RLS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Needs characterized model and data</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15</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Rzepka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2021</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Empirical tuning and sensor noise</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ECM + hysteresis + EKF tuning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Cell estimator experiment</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Tuning improves estimator stability</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Needs noise estimates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 name="Google Shape;79;p3"/>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8C630A04-5A25-9E0C-9436-126091DB86B3}"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0" name="Google Shape;80;p3"/>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Literature Survey 4 of 4</a:t>
            </a:r>
            <a:endParaRPr sz="2550" b="1">
              <a:solidFill>
                <a:srgbClr val="000000"/>
              </a:solidFill>
              <a:latin typeface="Times New Roman" panose="02020603050405020304"/>
              <a:ea typeface="Times New Roman" panose="02020603050405020304"/>
              <a:cs typeface="Times New Roman" panose="02020603050405020304"/>
            </a:endParaRPr>
          </a:p>
        </p:txBody>
      </p:sp>
      <p:graphicFrame>
        <p:nvGraphicFramePr>
          <p:cNvPr id="86" name="Table 2"/>
          <p:cNvGraphicFramePr/>
          <p:nvPr/>
        </p:nvGraphicFramePr>
        <p:xfrm>
          <a:off x="285750" y="1133475"/>
          <a:ext cx="8524875" cy="4924425"/>
        </p:xfrm>
        <a:graphic>
          <a:graphicData uri="http://schemas.openxmlformats.org/drawingml/2006/table">
            <a:tbl>
              <a:tblPr/>
              <a:tblGrid>
                <a:gridCol w="400050"/>
                <a:gridCol w="1400175"/>
                <a:gridCol w="1247775"/>
                <a:gridCol w="1323975"/>
                <a:gridCol w="1304925"/>
                <a:gridCol w="1514475"/>
                <a:gridCol w="1333500"/>
              </a:tblGrid>
              <a:tr h="495300">
                <a:tc>
                  <a:txBody>
                    <a:bodyPr>
                      <a:spAutoFit/>
                    </a:bodyPr>
                    <a:lstStyle/>
                    <a:p>
                      <a:pPr algn="ctr">
                        <a:buNone/>
                      </a:pPr>
                      <a:r>
                        <a:rPr sz="1500" b="1">
                          <a:solidFill>
                            <a:srgbClr val="000000"/>
                          </a:solidFill>
                          <a:latin typeface="Times New Roman" panose="02020603050405020304"/>
                          <a:ea typeface="Times New Roman" panose="02020603050405020304"/>
                          <a:cs typeface="Times New Roman" panose="02020603050405020304"/>
                        </a:rPr>
                        <a:t>No</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Author, Year</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Problem</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Method</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Data / tests</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Finding</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Scope limit</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16</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Zine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2022</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Simple real-time SOC estimation</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Current integration</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Lead-acid bench tests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Bench SOC workflow</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LFP tests still needed</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17</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Fahmy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2023</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SOC under changing battery conditions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Coulomb counting plus adaptive UKF</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2.6 Ah Panasonic simulations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Lower simulated error in comparisons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Numerical results only</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18</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Wang et al.</a:t>
                      </a:r>
                      <a:endParaRPr>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2023</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Voltage plateau and temperature variation</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Temperature ECM; improved EKF</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LFP chamber / load tests</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Temperature-aware estimate</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Needs pack-specific data</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19</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Turkmanović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2024</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Estimator energy versus accuracy</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Two EKFs at varied rates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PC accuracy + STM32H7 timing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Sample-rate trade-off</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ESP32 timing unknown</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20</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Bampi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2025</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Battery parameter testing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Electronic load + ECM / EKF</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LTO cell + ESP32 rig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Parameter and SOC estimates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Different test rig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 name="Google Shape;79;p3"/>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D3D7D1C8-AE23-AA48-DF65-C742588DBE47}"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0" name="Google Shape;80;p3"/>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Research Gap and Project Focus</a:t>
            </a:r>
            <a:endParaRPr sz="2550" b="1">
              <a:solidFill>
                <a:srgbClr val="000000"/>
              </a:solidFill>
              <a:latin typeface="Times New Roman" panose="02020603050405020304"/>
              <a:ea typeface="Times New Roman" panose="02020603050405020304"/>
              <a:cs typeface="Times New Roman" panose="02020603050405020304"/>
            </a:endParaRPr>
          </a:p>
        </p:txBody>
      </p:sp>
      <p:sp>
        <p:nvSpPr>
          <p:cNvPr id="81" name="Research gap"/>
          <p:cNvSpPr>
            <a:spLocks noGrp="1"/>
          </p:cNvSpPr>
          <p:nvPr/>
        </p:nvSpPr>
        <p:spPr>
          <a:xfrm>
            <a:off x="790575" y="1304925"/>
            <a:ext cx="7629525" cy="4076700"/>
          </a:xfrm>
          <a:prstGeom prst="rect">
            <a:avLst/>
          </a:prstGeom>
          <a:noFill/>
          <a:ln w="0">
            <a:noFill/>
          </a:ln>
        </p:spPr>
        <p:txBody>
          <a:bodyPr wrap="square" lIns="38100" tIns="38100" rIns="38100" bIns="38100" anchor="t">
            <a:noAutofit/>
          </a:bodyPr>
          <a:lstStyle/>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Published priority control and SOC methods already exist.</a:t>
            </a:r>
            <a:endParaRPr sz="210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Many studies target larger microgrids or need battery characterisation and training data.</a:t>
            </a:r>
            <a:endParaRPr sz="210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Our project needs a small, inspectable implementation with a clear load-service tradeoff.</a:t>
            </a:r>
            <a:endParaRPr sz="210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Voltage drop, fan startup and sensor errors can limit an otherwise valid control rule.</a:t>
            </a:r>
            <a:endParaRPr sz="210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We combine a local controller, a routed interface PCB and reproducible tests, then validate them on hardware.</a:t>
            </a:r>
            <a:endParaRPr sz="2100" b="0">
              <a:solidFill>
                <a:srgbClr val="00000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 name="Google Shape;79;p3"/>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BA58DA2A-B818-18A9-29C1-B697728D5BCE}"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0" name="Google Shape;80;p3"/>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Problem Statement</a:t>
            </a:r>
            <a:endParaRPr sz="2550" b="1">
              <a:solidFill>
                <a:srgbClr val="000000"/>
              </a:solidFill>
              <a:latin typeface="Times New Roman" panose="02020603050405020304"/>
              <a:ea typeface="Times New Roman" panose="02020603050405020304"/>
              <a:cs typeface="Times New Roman" panose="02020603050405020304"/>
            </a:endParaRPr>
          </a:p>
        </p:txBody>
      </p:sp>
      <p:sp>
        <p:nvSpPr>
          <p:cNvPr id="4" name="Google Shape;80;p3"/>
          <p:cNvSpPr>
            <a:spLocks noGrp="1"/>
          </p:cNvSpPr>
          <p:nvPr/>
        </p:nvSpPr>
        <p:spPr>
          <a:xfrm>
            <a:off x="1371600" y="2819400"/>
            <a:ext cx="6429375" cy="542925"/>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Objectives</a:t>
            </a:r>
            <a:endParaRPr sz="2550" b="1">
              <a:solidFill>
                <a:srgbClr val="000000"/>
              </a:solidFill>
              <a:latin typeface="Times New Roman" panose="02020603050405020304"/>
              <a:ea typeface="Times New Roman" panose="02020603050405020304"/>
              <a:cs typeface="Times New Roman" panose="02020603050405020304"/>
            </a:endParaRPr>
          </a:p>
        </p:txBody>
      </p:sp>
      <p:sp>
        <p:nvSpPr>
          <p:cNvPr id="2" name="Rectangle 1"/>
          <p:cNvSpPr>
            <a:spLocks noGrp="1"/>
          </p:cNvSpPr>
          <p:nvPr/>
        </p:nvSpPr>
        <p:spPr>
          <a:xfrm>
            <a:off x="866775" y="1066800"/>
            <a:ext cx="7486650" cy="1485900"/>
          </a:xfrm>
          <a:prstGeom prst="rect">
            <a:avLst/>
          </a:prstGeom>
        </p:spPr>
        <p:txBody>
          <a:bodyPr wrap="square" lIns="47625" tIns="38100" rIns="47625" bIns="38100" anchor="t">
            <a:noAutofit/>
          </a:bodyPr>
          <a:lstStyle/>
          <a:p>
            <a:pPr algn="l">
              <a:buNone/>
              <a:defRPr sz="2250" b="0">
                <a:solidFill>
                  <a:srgbClr val="000000"/>
                </a:solidFill>
                <a:latin typeface="Times New Roman" panose="02020603050405020304"/>
                <a:ea typeface="Times New Roman" panose="02020603050405020304"/>
                <a:cs typeface="Times New Roman" panose="02020603050405020304"/>
              </a:defRPr>
            </a:pPr>
            <a:r>
              <a:rPr sz="2250" b="0">
                <a:solidFill>
                  <a:srgbClr val="000000"/>
                </a:solidFill>
                <a:latin typeface="Times New Roman" panose="02020603050405020304"/>
                <a:ea typeface="Times New Roman" panose="02020603050405020304"/>
                <a:cs typeface="Times New Roman" panose="02020603050405020304"/>
              </a:rPr>
              <a:t>Design and evaluate a low-cost battery monitor that preserves essential lamp service by disconnecting an optional fan when the estimated backup becomes limited.</a:t>
            </a:r>
            <a:endParaRPr sz="2250" b="0">
              <a:solidFill>
                <a:srgbClr val="000000"/>
              </a:solidFill>
              <a:latin typeface="Times New Roman" panose="02020603050405020304"/>
              <a:ea typeface="Times New Roman" panose="02020603050405020304"/>
              <a:cs typeface="Times New Roman" panose="02020603050405020304"/>
            </a:endParaRPr>
          </a:p>
        </p:txBody>
      </p:sp>
      <p:sp>
        <p:nvSpPr>
          <p:cNvPr id="81" name="Objectives"/>
          <p:cNvSpPr>
            <a:spLocks noGrp="1"/>
          </p:cNvSpPr>
          <p:nvPr/>
        </p:nvSpPr>
        <p:spPr>
          <a:xfrm>
            <a:off x="942975" y="3590925"/>
            <a:ext cx="7477125" cy="2371725"/>
          </a:xfrm>
          <a:prstGeom prst="rect">
            <a:avLst/>
          </a:prstGeom>
          <a:noFill/>
          <a:ln w="0">
            <a:noFill/>
          </a:ln>
        </p:spPr>
        <p:txBody>
          <a:bodyPr wrap="square" lIns="38100" tIns="38100" rIns="38100" bIns="38100" anchor="t">
            <a:noAutofit/>
          </a:bodyPr>
          <a:lstStyle/>
          <a:p>
            <a:pPr marL="228600" indent="-114300" algn="l">
              <a:spcAft>
                <a:spcPts val="1200"/>
              </a:spcAft>
              <a:buChar char="•"/>
              <a:defRPr sz="1950" b="0">
                <a:solidFill>
                  <a:srgbClr val="000000"/>
                </a:solidFill>
                <a:latin typeface="Times New Roman" panose="02020603050405020304"/>
                <a:ea typeface="Times New Roman" panose="02020603050405020304"/>
                <a:cs typeface="Times New Roman" panose="02020603050405020304"/>
              </a:defRPr>
            </a:pPr>
            <a:r>
              <a:rPr sz="1950" b="0">
                <a:solidFill>
                  <a:srgbClr val="000000"/>
                </a:solidFill>
                <a:latin typeface="Times New Roman" panose="02020603050405020304"/>
                <a:ea typeface="Times New Roman" panose="02020603050405020304"/>
                <a:cs typeface="Times New Roman" panose="02020603050405020304"/>
              </a:rPr>
              <a:t>Measure signed battery current, load power and surface temperature.</a:t>
            </a:r>
            <a:endParaRPr sz="195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1950" b="0">
                <a:solidFill>
                  <a:srgbClr val="000000"/>
                </a:solidFill>
                <a:latin typeface="Times New Roman" panose="02020603050405020304"/>
                <a:ea typeface="Times New Roman" panose="02020603050405020304"/>
                <a:cs typeface="Times New Roman" panose="02020603050405020304"/>
              </a:defRPr>
            </a:pPr>
            <a:r>
              <a:rPr sz="1950" b="0">
                <a:solidFill>
                  <a:srgbClr val="000000"/>
                </a:solidFill>
                <a:latin typeface="Times New Roman" panose="02020603050405020304"/>
                <a:ea typeface="Times New Roman" panose="02020603050405020304"/>
                <a:cs typeface="Times New Roman" panose="02020603050405020304"/>
              </a:rPr>
              <a:t>Estimate charge and remaining runtime from a valid reference.</a:t>
            </a:r>
            <a:endParaRPr sz="195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1950" b="0">
                <a:solidFill>
                  <a:srgbClr val="000000"/>
                </a:solidFill>
                <a:latin typeface="Times New Roman" panose="02020603050405020304"/>
                <a:ea typeface="Times New Roman" panose="02020603050405020304"/>
                <a:cs typeface="Times New Roman" panose="02020603050405020304"/>
              </a:defRPr>
            </a:pPr>
            <a:r>
              <a:rPr sz="1950" b="0">
                <a:solidFill>
                  <a:srgbClr val="000000"/>
                </a:solidFill>
                <a:latin typeface="Times New Roman" panose="02020603050405020304"/>
                <a:ea typeface="Times New Roman" panose="02020603050405020304"/>
                <a:cs typeface="Times New Roman" panose="02020603050405020304"/>
              </a:rPr>
              <a:t>Implement fan shedding, explicit restore and fault handling.</a:t>
            </a:r>
            <a:endParaRPr sz="195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1950" b="0">
                <a:solidFill>
                  <a:srgbClr val="000000"/>
                </a:solidFill>
                <a:latin typeface="Times New Roman" panose="02020603050405020304"/>
                <a:ea typeface="Times New Roman" panose="02020603050405020304"/>
                <a:cs typeface="Times New Roman" panose="02020603050405020304"/>
              </a:defRPr>
            </a:pPr>
            <a:r>
              <a:rPr sz="1950" b="0">
                <a:solidFill>
                  <a:srgbClr val="000000"/>
                </a:solidFill>
                <a:latin typeface="Times New Roman" panose="02020603050405020304"/>
                <a:ea typeface="Times New Roman" panose="02020603050405020304"/>
                <a:cs typeface="Times New Roman" panose="02020603050405020304"/>
              </a:rPr>
              <a:t>Compare lamp and fan service, then calibrate and test the assembled system.</a:t>
            </a:r>
            <a:endParaRPr sz="1950" b="0">
              <a:solidFill>
                <a:srgbClr val="00000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 name="Google Shape;87;p4"/>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388657AE-30A1-5A7A-6A7F-315D84436430}"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8" name="Google Shape;88;p4"/>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Methodology and System Architecture</a:t>
            </a:r>
            <a:endParaRPr sz="1050"/>
          </a:p>
        </p:txBody>
      </p:sp>
      <p:sp>
        <p:nvSpPr>
          <p:cNvPr id="89" name="Protected pack&#10;Purchased BMS"/>
          <p:cNvSpPr>
            <a:spLocks noGrp="1"/>
          </p:cNvSpPr>
          <p:nvPr/>
        </p:nvSpPr>
        <p:spPr>
          <a:xfrm>
            <a:off x="371475" y="1438275"/>
            <a:ext cx="1647825" cy="771525"/>
          </a:xfrm>
          <a:prstGeom prst="rect">
            <a:avLst/>
          </a:prstGeom>
          <a:solidFill>
            <a:srgbClr val="FFF0DD"/>
          </a:solidFill>
          <a:ln w="14288">
            <a:solidFill>
              <a:srgbClr val="333333"/>
            </a:solidFill>
          </a:ln>
        </p:spPr>
        <p:txBody>
          <a:bodyPr wrap="square" lIns="47625" tIns="38100" rIns="47625" bIns="38100" anchor="ctr">
            <a:noAutofit/>
          </a:bodyPr>
          <a:lstStyle/>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Protected pack</a:t>
            </a:r>
            <a:endParaRPr sz="1575" b="0">
              <a:solidFill>
                <a:srgbClr val="000000"/>
              </a:solidFill>
              <a:latin typeface="Times New Roman" panose="02020603050405020304"/>
              <a:ea typeface="Times New Roman" panose="02020603050405020304"/>
              <a:cs typeface="Times New Roman" panose="02020603050405020304"/>
            </a:endParaRPr>
          </a:p>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Purchased BMS</a:t>
            </a:r>
            <a:endParaRPr sz="1575" b="0">
              <a:solidFill>
                <a:srgbClr val="000000"/>
              </a:solidFill>
              <a:latin typeface="Times New Roman" panose="02020603050405020304"/>
              <a:ea typeface="Times New Roman" panose="02020603050405020304"/>
              <a:cs typeface="Times New Roman" panose="02020603050405020304"/>
            </a:endParaRPr>
          </a:p>
        </p:txBody>
      </p:sp>
      <p:sp>
        <p:nvSpPr>
          <p:cNvPr id="90" name="Interface PCB&#10;Current sensors"/>
          <p:cNvSpPr>
            <a:spLocks noGrp="1"/>
          </p:cNvSpPr>
          <p:nvPr/>
        </p:nvSpPr>
        <p:spPr>
          <a:xfrm>
            <a:off x="2447925" y="1438275"/>
            <a:ext cx="1724025" cy="771525"/>
          </a:xfrm>
          <a:prstGeom prst="rect">
            <a:avLst/>
          </a:prstGeom>
          <a:solidFill>
            <a:srgbClr val="FFF0DD"/>
          </a:solidFill>
          <a:ln w="14288">
            <a:solidFill>
              <a:srgbClr val="333333"/>
            </a:solidFill>
          </a:ln>
        </p:spPr>
        <p:txBody>
          <a:bodyPr wrap="square" lIns="47625" tIns="38100" rIns="47625" bIns="38100" anchor="ctr">
            <a:noAutofit/>
          </a:bodyPr>
          <a:lstStyle/>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Interface PCB</a:t>
            </a:r>
            <a:endParaRPr sz="1575" b="0">
              <a:solidFill>
                <a:srgbClr val="000000"/>
              </a:solidFill>
              <a:latin typeface="Times New Roman" panose="02020603050405020304"/>
              <a:ea typeface="Times New Roman" panose="02020603050405020304"/>
              <a:cs typeface="Times New Roman" panose="02020603050405020304"/>
            </a:endParaRPr>
          </a:p>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Current sensors</a:t>
            </a:r>
            <a:endParaRPr sz="1575" b="0">
              <a:solidFill>
                <a:srgbClr val="000000"/>
              </a:solidFill>
              <a:latin typeface="Times New Roman" panose="02020603050405020304"/>
              <a:ea typeface="Times New Roman" panose="02020603050405020304"/>
              <a:cs typeface="Times New Roman" panose="02020603050405020304"/>
            </a:endParaRPr>
          </a:p>
        </p:txBody>
      </p:sp>
      <p:sp>
        <p:nvSpPr>
          <p:cNvPr id="91" name="External buck&#10;5 V output"/>
          <p:cNvSpPr>
            <a:spLocks noGrp="1"/>
          </p:cNvSpPr>
          <p:nvPr/>
        </p:nvSpPr>
        <p:spPr>
          <a:xfrm>
            <a:off x="4591050" y="1438275"/>
            <a:ext cx="1609725" cy="771525"/>
          </a:xfrm>
          <a:prstGeom prst="rect">
            <a:avLst/>
          </a:prstGeom>
          <a:solidFill>
            <a:srgbClr val="FFF0DD"/>
          </a:solidFill>
          <a:ln w="14288">
            <a:solidFill>
              <a:srgbClr val="333333"/>
            </a:solidFill>
          </a:ln>
        </p:spPr>
        <p:txBody>
          <a:bodyPr wrap="square" lIns="47625" tIns="38100" rIns="47625" bIns="38100" anchor="ctr">
            <a:noAutofit/>
          </a:bodyPr>
          <a:lstStyle/>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External buck</a:t>
            </a:r>
            <a:endParaRPr sz="1575" b="0">
              <a:solidFill>
                <a:srgbClr val="000000"/>
              </a:solidFill>
              <a:latin typeface="Times New Roman" panose="02020603050405020304"/>
              <a:ea typeface="Times New Roman" panose="02020603050405020304"/>
              <a:cs typeface="Times New Roman" panose="02020603050405020304"/>
            </a:endParaRPr>
          </a:p>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5 V output</a:t>
            </a:r>
            <a:endParaRPr sz="1575" b="0">
              <a:solidFill>
                <a:srgbClr val="000000"/>
              </a:solidFill>
              <a:latin typeface="Times New Roman" panose="02020603050405020304"/>
              <a:ea typeface="Times New Roman" panose="02020603050405020304"/>
              <a:cs typeface="Times New Roman" panose="02020603050405020304"/>
            </a:endParaRPr>
          </a:p>
        </p:txBody>
      </p:sp>
      <p:sp>
        <p:nvSpPr>
          <p:cNvPr id="92" name="Essential lamp&#10;Unswitched"/>
          <p:cNvSpPr>
            <a:spLocks noGrp="1"/>
          </p:cNvSpPr>
          <p:nvPr/>
        </p:nvSpPr>
        <p:spPr>
          <a:xfrm>
            <a:off x="4572000" y="2619375"/>
            <a:ext cx="1657350" cy="790575"/>
          </a:xfrm>
          <a:prstGeom prst="rect">
            <a:avLst/>
          </a:prstGeom>
          <a:solidFill>
            <a:srgbClr val="FFF0DD"/>
          </a:solidFill>
          <a:ln w="14288">
            <a:solidFill>
              <a:srgbClr val="333333"/>
            </a:solidFill>
          </a:ln>
        </p:spPr>
        <p:txBody>
          <a:bodyPr wrap="square" lIns="47625" tIns="38100" rIns="47625" bIns="38100" anchor="ctr">
            <a:noAutofit/>
          </a:bodyPr>
          <a:lstStyle/>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Essential lamp</a:t>
            </a:r>
            <a:endParaRPr sz="1575" b="0">
              <a:solidFill>
                <a:srgbClr val="000000"/>
              </a:solidFill>
              <a:latin typeface="Times New Roman" panose="02020603050405020304"/>
              <a:ea typeface="Times New Roman" panose="02020603050405020304"/>
              <a:cs typeface="Times New Roman" panose="02020603050405020304"/>
            </a:endParaRPr>
          </a:p>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Unswitched</a:t>
            </a:r>
            <a:endParaRPr sz="1575" b="0">
              <a:solidFill>
                <a:srgbClr val="000000"/>
              </a:solidFill>
              <a:latin typeface="Times New Roman" panose="02020603050405020304"/>
              <a:ea typeface="Times New Roman" panose="02020603050405020304"/>
              <a:cs typeface="Times New Roman" panose="02020603050405020304"/>
            </a:endParaRPr>
          </a:p>
        </p:txBody>
      </p:sp>
      <p:sp>
        <p:nvSpPr>
          <p:cNvPr id="93" name="Optional fan&#10;Q1 return switch"/>
          <p:cNvSpPr>
            <a:spLocks noGrp="1"/>
          </p:cNvSpPr>
          <p:nvPr/>
        </p:nvSpPr>
        <p:spPr>
          <a:xfrm>
            <a:off x="4562475" y="3933825"/>
            <a:ext cx="1676400" cy="800100"/>
          </a:xfrm>
          <a:prstGeom prst="rect">
            <a:avLst/>
          </a:prstGeom>
          <a:solidFill>
            <a:srgbClr val="FFF0DD"/>
          </a:solidFill>
          <a:ln w="14288">
            <a:solidFill>
              <a:srgbClr val="333333"/>
            </a:solidFill>
          </a:ln>
        </p:spPr>
        <p:txBody>
          <a:bodyPr wrap="square" lIns="47625" tIns="38100" rIns="47625" bIns="38100" anchor="ctr">
            <a:noAutofit/>
          </a:bodyPr>
          <a:lstStyle/>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Optional fan</a:t>
            </a:r>
            <a:endParaRPr sz="1575" b="0">
              <a:solidFill>
                <a:srgbClr val="000000"/>
              </a:solidFill>
              <a:latin typeface="Times New Roman" panose="02020603050405020304"/>
              <a:ea typeface="Times New Roman" panose="02020603050405020304"/>
              <a:cs typeface="Times New Roman" panose="02020603050405020304"/>
            </a:endParaRPr>
          </a:p>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Q1 return switch</a:t>
            </a:r>
            <a:endParaRPr sz="1575" b="0">
              <a:solidFill>
                <a:srgbClr val="000000"/>
              </a:solidFill>
              <a:latin typeface="Times New Roman" panose="02020603050405020304"/>
              <a:ea typeface="Times New Roman" panose="02020603050405020304"/>
              <a:cs typeface="Times New Roman" panose="02020603050405020304"/>
            </a:endParaRPr>
          </a:p>
        </p:txBody>
      </p:sp>
      <p:sp>
        <p:nvSpPr>
          <p:cNvPr id="94" name="ESP32&#10;SOC and control"/>
          <p:cNvSpPr>
            <a:spLocks noGrp="1"/>
          </p:cNvSpPr>
          <p:nvPr/>
        </p:nvSpPr>
        <p:spPr>
          <a:xfrm>
            <a:off x="2438400" y="3467100"/>
            <a:ext cx="1733550" cy="914400"/>
          </a:xfrm>
          <a:prstGeom prst="rect">
            <a:avLst/>
          </a:prstGeom>
          <a:solidFill>
            <a:srgbClr val="FFF0DD"/>
          </a:solidFill>
          <a:ln w="14288">
            <a:solidFill>
              <a:srgbClr val="333333"/>
            </a:solidFill>
          </a:ln>
        </p:spPr>
        <p:txBody>
          <a:bodyPr wrap="square" lIns="47625" tIns="38100" rIns="47625" bIns="38100" anchor="ctr">
            <a:noAutofit/>
          </a:bodyPr>
          <a:lstStyle/>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ESP32</a:t>
            </a:r>
            <a:endParaRPr sz="1575" b="0">
              <a:solidFill>
                <a:srgbClr val="000000"/>
              </a:solidFill>
              <a:latin typeface="Times New Roman" panose="02020603050405020304"/>
              <a:ea typeface="Times New Roman" panose="02020603050405020304"/>
              <a:cs typeface="Times New Roman" panose="02020603050405020304"/>
            </a:endParaRPr>
          </a:p>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SOC and control</a:t>
            </a:r>
            <a:endParaRPr sz="1575" b="0">
              <a:solidFill>
                <a:srgbClr val="000000"/>
              </a:solidFill>
              <a:latin typeface="Times New Roman" panose="02020603050405020304"/>
              <a:ea typeface="Times New Roman" panose="02020603050405020304"/>
              <a:cs typeface="Times New Roman" panose="02020603050405020304"/>
            </a:endParaRPr>
          </a:p>
        </p:txBody>
      </p:sp>
      <p:sp>
        <p:nvSpPr>
          <p:cNvPr id="95" name="Local dashboard&#10;USB and CSV"/>
          <p:cNvSpPr>
            <a:spLocks noGrp="1"/>
          </p:cNvSpPr>
          <p:nvPr/>
        </p:nvSpPr>
        <p:spPr>
          <a:xfrm>
            <a:off x="361950" y="3505200"/>
            <a:ext cx="1676400" cy="857250"/>
          </a:xfrm>
          <a:prstGeom prst="rect">
            <a:avLst/>
          </a:prstGeom>
          <a:solidFill>
            <a:srgbClr val="FFF0DD"/>
          </a:solidFill>
          <a:ln w="14288">
            <a:solidFill>
              <a:srgbClr val="333333"/>
            </a:solidFill>
          </a:ln>
        </p:spPr>
        <p:txBody>
          <a:bodyPr wrap="square" lIns="47625" tIns="38100" rIns="47625" bIns="38100" anchor="ctr">
            <a:noAutofit/>
          </a:bodyPr>
          <a:lstStyle/>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Local dashboard</a:t>
            </a:r>
            <a:endParaRPr sz="1575" b="0">
              <a:solidFill>
                <a:srgbClr val="000000"/>
              </a:solidFill>
              <a:latin typeface="Times New Roman" panose="02020603050405020304"/>
              <a:ea typeface="Times New Roman" panose="02020603050405020304"/>
              <a:cs typeface="Times New Roman" panose="02020603050405020304"/>
            </a:endParaRPr>
          </a:p>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USB and CSV</a:t>
            </a:r>
            <a:endParaRPr sz="1575" b="0">
              <a:solidFill>
                <a:srgbClr val="000000"/>
              </a:solidFill>
              <a:latin typeface="Times New Roman" panose="02020603050405020304"/>
              <a:ea typeface="Times New Roman" panose="02020603050405020304"/>
              <a:cs typeface="Times New Roman" panose="02020603050405020304"/>
            </a:endParaRPr>
          </a:p>
        </p:txBody>
      </p:sp>
      <p:cxnSp>
        <p:nvCxnSpPr>
          <p:cNvPr id="138" name="Straight Arrow Connector 137"/>
          <p:cNvCxnSpPr>
            <a:stCxn id="89" idx="3"/>
            <a:endCxn id="90" idx="1"/>
          </p:cNvCxnSpPr>
          <p:nvPr/>
        </p:nvCxnSpPr>
        <p:spPr>
          <a:xfrm>
            <a:off x="2019300" y="1824038"/>
            <a:ext cx="428625" cy="0"/>
          </a:xfrm>
          <a:prstGeom prst="straightConnector1">
            <a:avLst/>
          </a:prstGeom>
          <a:ln w="19050">
            <a:solidFill>
              <a:srgbClr val="333333"/>
            </a:solidFill>
            <a:prstDash val="solid"/>
            <a:tailEnd type="triangle" w="med" len="med"/>
          </a:ln>
        </p:spPr>
      </p:cxnSp>
      <p:cxnSp>
        <p:nvCxnSpPr>
          <p:cNvPr id="139" name="Straight Arrow Connector 138"/>
          <p:cNvCxnSpPr>
            <a:stCxn id="90" idx="3"/>
            <a:endCxn id="91" idx="1"/>
          </p:cNvCxnSpPr>
          <p:nvPr/>
        </p:nvCxnSpPr>
        <p:spPr>
          <a:xfrm>
            <a:off x="4171950" y="1824038"/>
            <a:ext cx="419100" cy="0"/>
          </a:xfrm>
          <a:prstGeom prst="straightConnector1">
            <a:avLst/>
          </a:prstGeom>
          <a:ln w="19050">
            <a:solidFill>
              <a:srgbClr val="333333"/>
            </a:solidFill>
            <a:prstDash val="solid"/>
            <a:tailEnd type="triangle" w="med" len="med"/>
          </a:ln>
        </p:spPr>
      </p:cxnSp>
      <p:cxnSp>
        <p:nvCxnSpPr>
          <p:cNvPr id="140" name="Elbow Connector 139"/>
          <p:cNvCxnSpPr>
            <a:stCxn id="91" idx="2"/>
            <a:endCxn id="92" idx="0"/>
          </p:cNvCxnSpPr>
          <p:nvPr/>
        </p:nvCxnSpPr>
        <p:spPr>
          <a:xfrm>
            <a:off x="5395913" y="2209800"/>
            <a:ext cx="4763" cy="409575"/>
          </a:xfrm>
          <a:prstGeom prst="bentConnector4">
            <a:avLst>
              <a:gd name="adj1" fmla="val 0"/>
              <a:gd name="adj2" fmla="val 50000"/>
            </a:avLst>
          </a:prstGeom>
          <a:ln w="19050">
            <a:solidFill>
              <a:srgbClr val="333333"/>
            </a:solidFill>
            <a:prstDash val="solid"/>
            <a:tailEnd type="triangle" w="med" len="med"/>
          </a:ln>
        </p:spPr>
      </p:cxnSp>
      <p:sp>
        <p:nvSpPr>
          <p:cNvPr id="99" name="5 V power branch"/>
          <p:cNvSpPr>
            <a:spLocks noGrp="1"/>
          </p:cNvSpPr>
          <p:nvPr/>
        </p:nvSpPr>
        <p:spPr>
          <a:xfrm>
            <a:off x="6419850" y="1809750"/>
            <a:ext cx="19050" cy="19050"/>
          </a:xfrm>
          <a:prstGeom prst="ellipse">
            <a:avLst/>
          </a:prstGeom>
          <a:solidFill>
            <a:srgbClr val="333333"/>
          </a:solidFill>
          <a:ln w="0">
            <a:noFill/>
          </a:ln>
        </p:spPr>
      </p:sp>
      <p:cxnSp>
        <p:nvCxnSpPr>
          <p:cNvPr id="142" name="Straight Arrow Connector 141"/>
          <p:cNvCxnSpPr>
            <a:stCxn id="91" idx="3"/>
            <a:endCxn id="99" idx="2"/>
          </p:cNvCxnSpPr>
          <p:nvPr/>
        </p:nvCxnSpPr>
        <p:spPr>
          <a:xfrm flipV="1">
            <a:off x="6200775" y="1819275"/>
            <a:ext cx="219075" cy="4763"/>
          </a:xfrm>
          <a:prstGeom prst="straightConnector1">
            <a:avLst/>
          </a:prstGeom>
          <a:ln w="19050">
            <a:solidFill>
              <a:srgbClr val="333333"/>
            </a:solidFill>
          </a:ln>
        </p:spPr>
      </p:cxnSp>
      <p:cxnSp>
        <p:nvCxnSpPr>
          <p:cNvPr id="143" name="Elbow Connector 142"/>
          <p:cNvCxnSpPr>
            <a:stCxn id="99" idx="4"/>
            <a:endCxn id="93" idx="3"/>
          </p:cNvCxnSpPr>
          <p:nvPr/>
        </p:nvCxnSpPr>
        <p:spPr>
          <a:xfrm flipH="1">
            <a:off x="6238875" y="1828800"/>
            <a:ext cx="190500" cy="2505075"/>
          </a:xfrm>
          <a:prstGeom prst="bentConnector3">
            <a:avLst>
              <a:gd name="adj1" fmla="val 0"/>
            </a:avLst>
          </a:prstGeom>
          <a:ln w="19050">
            <a:solidFill>
              <a:srgbClr val="333333"/>
            </a:solidFill>
            <a:prstDash val="solid"/>
            <a:tailEnd type="triangle" w="med" len="med"/>
          </a:ln>
        </p:spPr>
      </p:cxnSp>
      <p:cxnSp>
        <p:nvCxnSpPr>
          <p:cNvPr id="144" name="Elbow Connector 143"/>
          <p:cNvCxnSpPr>
            <a:stCxn id="90" idx="2"/>
            <a:endCxn id="94" idx="0"/>
          </p:cNvCxnSpPr>
          <p:nvPr/>
        </p:nvCxnSpPr>
        <p:spPr>
          <a:xfrm flipH="1">
            <a:off x="3305175" y="2209800"/>
            <a:ext cx="4763" cy="1257300"/>
          </a:xfrm>
          <a:prstGeom prst="bentConnector4">
            <a:avLst>
              <a:gd name="adj1" fmla="val 0"/>
              <a:gd name="adj2" fmla="val 50000"/>
            </a:avLst>
          </a:prstGeom>
          <a:ln w="19050">
            <a:solidFill>
              <a:srgbClr val="23588C"/>
            </a:solidFill>
            <a:prstDash val="dash"/>
            <a:tailEnd type="triangle" w="med" len="med"/>
          </a:ln>
        </p:spPr>
      </p:cxnSp>
      <p:cxnSp>
        <p:nvCxnSpPr>
          <p:cNvPr id="145" name="Elbow Connector 144"/>
          <p:cNvCxnSpPr>
            <a:stCxn id="94" idx="3"/>
            <a:endCxn id="93" idx="1"/>
          </p:cNvCxnSpPr>
          <p:nvPr/>
        </p:nvCxnSpPr>
        <p:spPr>
          <a:xfrm>
            <a:off x="4171950" y="3924300"/>
            <a:ext cx="390525" cy="409575"/>
          </a:xfrm>
          <a:prstGeom prst="bentConnector3">
            <a:avLst>
              <a:gd name="adj1" fmla="val 50000"/>
            </a:avLst>
          </a:prstGeom>
          <a:ln w="19050">
            <a:solidFill>
              <a:srgbClr val="7030A0"/>
            </a:solidFill>
            <a:prstDash val="dash"/>
            <a:tailEnd type="triangle" w="med" len="med"/>
          </a:ln>
        </p:spPr>
      </p:cxnSp>
      <p:cxnSp>
        <p:nvCxnSpPr>
          <p:cNvPr id="146" name="Elbow Connector 145"/>
          <p:cNvCxnSpPr>
            <a:stCxn id="94" idx="1"/>
            <a:endCxn id="95" idx="3"/>
          </p:cNvCxnSpPr>
          <p:nvPr/>
        </p:nvCxnSpPr>
        <p:spPr>
          <a:xfrm flipH="1">
            <a:off x="2038350" y="3924300"/>
            <a:ext cx="400050" cy="9525"/>
          </a:xfrm>
          <a:prstGeom prst="bentConnector3">
            <a:avLst>
              <a:gd name="adj1" fmla="val 50000"/>
            </a:avLst>
          </a:prstGeom>
          <a:ln w="19050">
            <a:solidFill>
              <a:srgbClr val="23588C"/>
            </a:solidFill>
            <a:prstDash val="dash"/>
            <a:tailEnd type="triangle" w="med" len="med"/>
          </a:ln>
        </p:spPr>
      </p:cxnSp>
      <p:sp>
        <p:nvSpPr>
          <p:cNvPr id="105" name="Temperature"/>
          <p:cNvSpPr>
            <a:spLocks noGrp="1"/>
          </p:cNvSpPr>
          <p:nvPr/>
        </p:nvSpPr>
        <p:spPr>
          <a:xfrm>
            <a:off x="2019300" y="4562475"/>
            <a:ext cx="2686050" cy="314325"/>
          </a:xfrm>
          <a:prstGeom prst="rect">
            <a:avLst/>
          </a:prstGeom>
          <a:noFill/>
          <a:ln w="0">
            <a:noFill/>
          </a:ln>
        </p:spPr>
        <p:txBody>
          <a:bodyPr wrap="square" lIns="47625" tIns="38100" rIns="47625" bIns="38100" anchor="t">
            <a:noAutofit/>
          </a:bodyPr>
          <a:lstStyle/>
          <a:p>
            <a:pPr algn="l">
              <a:buNone/>
              <a:defRPr sz="1500" b="0">
                <a:solidFill>
                  <a:srgbClr val="000000"/>
                </a:solidFill>
                <a:latin typeface="Times New Roman" panose="02020603050405020304"/>
                <a:ea typeface="Times New Roman" panose="02020603050405020304"/>
                <a:cs typeface="Times New Roman" panose="02020603050405020304"/>
              </a:defRPr>
            </a:pPr>
            <a:r>
              <a:rPr sz="1500" b="0">
                <a:solidFill>
                  <a:srgbClr val="000000"/>
                </a:solidFill>
                <a:latin typeface="Times New Roman" panose="02020603050405020304"/>
                <a:ea typeface="Times New Roman" panose="02020603050405020304"/>
                <a:cs typeface="Times New Roman" panose="02020603050405020304"/>
              </a:rPr>
              <a:t>DS18B20 temperature input</a:t>
            </a:r>
            <a:endParaRPr sz="1500" b="0">
              <a:solidFill>
                <a:srgbClr val="000000"/>
              </a:solidFill>
              <a:latin typeface="Times New Roman" panose="02020603050405020304"/>
              <a:ea typeface="Times New Roman" panose="02020603050405020304"/>
              <a:cs typeface="Times New Roman" panose="02020603050405020304"/>
            </a:endParaRPr>
          </a:p>
        </p:txBody>
      </p:sp>
      <p:pic>
        <p:nvPicPr>
          <p:cNvPr id="148" name="Picture 147"/>
          <p:cNvPicPr>
            <a:picLocks noChangeAspect="1"/>
          </p:cNvPicPr>
          <p:nvPr/>
        </p:nvPicPr>
        <p:blipFill>
          <a:blip r:embed="rId1"/>
          <a:stretch>
            <a:fillRect/>
          </a:stretch>
        </p:blipFill>
        <p:spPr>
          <a:xfrm>
            <a:off x="6581775" y="1504207"/>
            <a:ext cx="2238375" cy="2154135"/>
          </a:xfrm>
          <a:prstGeom prst="rect">
            <a:avLst/>
          </a:prstGeom>
        </p:spPr>
      </p:pic>
      <p:sp>
        <p:nvSpPr>
          <p:cNvPr id="107" name="PCB facts"/>
          <p:cNvSpPr>
            <a:spLocks noGrp="1"/>
          </p:cNvSpPr>
          <p:nvPr/>
        </p:nvSpPr>
        <p:spPr>
          <a:xfrm>
            <a:off x="6553200" y="3876675"/>
            <a:ext cx="2314575" cy="895350"/>
          </a:xfrm>
          <a:prstGeom prst="rect">
            <a:avLst/>
          </a:prstGeom>
          <a:noFill/>
          <a:ln w="0">
            <a:noFill/>
          </a:ln>
        </p:spPr>
        <p:txBody>
          <a:bodyPr wrap="square" lIns="47625" tIns="38100" rIns="47625" bIns="38100" anchor="t">
            <a:noAutofit/>
          </a:bodyPr>
          <a:lstStyle/>
          <a:p>
            <a:pPr algn="ctr">
              <a:buNone/>
              <a:defRPr sz="1725" b="1">
                <a:solidFill>
                  <a:srgbClr val="000000"/>
                </a:solidFill>
                <a:latin typeface="Times New Roman" panose="02020603050405020304"/>
                <a:ea typeface="Times New Roman" panose="02020603050405020304"/>
                <a:cs typeface="Times New Roman" panose="02020603050405020304"/>
              </a:defRPr>
            </a:pPr>
            <a:r>
              <a:rPr sz="1725" b="1">
                <a:solidFill>
                  <a:srgbClr val="000000"/>
                </a:solidFill>
                <a:latin typeface="Times New Roman" panose="02020603050405020304"/>
                <a:ea typeface="Times New Roman" panose="02020603050405020304"/>
                <a:cs typeface="Times New Roman" panose="02020603050405020304"/>
              </a:rPr>
              <a:t>Rev B: four layers</a:t>
            </a:r>
            <a:endParaRPr sz="1725" b="1">
              <a:solidFill>
                <a:srgbClr val="000000"/>
              </a:solidFill>
              <a:latin typeface="Times New Roman" panose="02020603050405020304"/>
              <a:ea typeface="Times New Roman" panose="02020603050405020304"/>
              <a:cs typeface="Times New Roman" panose="02020603050405020304"/>
            </a:endParaRPr>
          </a:p>
          <a:p>
            <a:pPr algn="ctr">
              <a:buNone/>
              <a:defRPr sz="1725" b="1">
                <a:solidFill>
                  <a:srgbClr val="000000"/>
                </a:solidFill>
                <a:latin typeface="Times New Roman" panose="02020603050405020304"/>
                <a:ea typeface="Times New Roman" panose="02020603050405020304"/>
                <a:cs typeface="Times New Roman" panose="02020603050405020304"/>
              </a:defRPr>
            </a:pPr>
            <a:r>
              <a:rPr sz="1725" b="1">
                <a:solidFill>
                  <a:srgbClr val="000000"/>
                </a:solidFill>
                <a:latin typeface="Times New Roman" panose="02020603050405020304"/>
                <a:ea typeface="Times New Roman" panose="02020603050405020304"/>
                <a:cs typeface="Times New Roman" panose="02020603050405020304"/>
              </a:rPr>
              <a:t>100 × 90 mm</a:t>
            </a:r>
            <a:endParaRPr sz="1725" b="1">
              <a:solidFill>
                <a:srgbClr val="000000"/>
              </a:solidFill>
              <a:latin typeface="Times New Roman" panose="02020603050405020304"/>
              <a:ea typeface="Times New Roman" panose="02020603050405020304"/>
              <a:cs typeface="Times New Roman" panose="02020603050405020304"/>
            </a:endParaRPr>
          </a:p>
          <a:p>
            <a:pPr algn="ctr">
              <a:buNone/>
              <a:defRPr sz="1725" b="1">
                <a:solidFill>
                  <a:srgbClr val="000000"/>
                </a:solidFill>
                <a:latin typeface="Times New Roman" panose="02020603050405020304"/>
                <a:ea typeface="Times New Roman" panose="02020603050405020304"/>
                <a:cs typeface="Times New Roman" panose="02020603050405020304"/>
              </a:defRPr>
            </a:pPr>
            <a:r>
              <a:rPr sz="1725" b="1">
                <a:solidFill>
                  <a:srgbClr val="000000"/>
                </a:solidFill>
                <a:latin typeface="Times New Roman" panose="02020603050405020304"/>
                <a:ea typeface="Times New Roman" panose="02020603050405020304"/>
                <a:cs typeface="Times New Roman" panose="02020603050405020304"/>
              </a:rPr>
              <a:t>Not fabricated</a:t>
            </a:r>
            <a:endParaRPr sz="1725" b="1">
              <a:solidFill>
                <a:srgbClr val="000000"/>
              </a:solidFill>
              <a:latin typeface="Times New Roman" panose="02020603050405020304"/>
              <a:ea typeface="Times New Roman" panose="02020603050405020304"/>
              <a:cs typeface="Times New Roman" panose="02020603050405020304"/>
            </a:endParaRPr>
          </a:p>
        </p:txBody>
      </p:sp>
      <p:sp>
        <p:nvSpPr>
          <p:cNvPr id="108" name="Control rule"/>
          <p:cNvSpPr>
            <a:spLocks noGrp="1"/>
          </p:cNvSpPr>
          <p:nvPr/>
        </p:nvSpPr>
        <p:spPr>
          <a:xfrm>
            <a:off x="438150" y="5029200"/>
            <a:ext cx="8305800" cy="1057275"/>
          </a:xfrm>
          <a:prstGeom prst="rect">
            <a:avLst/>
          </a:prstGeom>
          <a:noFill/>
          <a:ln w="0">
            <a:noFill/>
          </a:ln>
        </p:spPr>
        <p:txBody>
          <a:bodyPr wrap="square" lIns="47625" tIns="38100" rIns="47625" bIns="38100" anchor="t">
            <a:noAutofit/>
          </a:bodyPr>
          <a:lstStyle/>
          <a:p>
            <a:pPr algn="l">
              <a:buNone/>
              <a:defRPr sz="1800" b="0">
                <a:solidFill>
                  <a:srgbClr val="000000"/>
                </a:solidFill>
                <a:latin typeface="Times New Roman" panose="02020603050405020304"/>
                <a:ea typeface="Times New Roman" panose="02020603050405020304"/>
                <a:cs typeface="Times New Roman" panose="02020603050405020304"/>
              </a:defRPr>
            </a:pPr>
            <a:r>
              <a:rPr sz="1800" b="0">
                <a:solidFill>
                  <a:srgbClr val="000000"/>
                </a:solidFill>
                <a:latin typeface="Times New Roman" panose="02020603050405020304"/>
                <a:ea typeface="Times New Roman" panose="02020603050405020304"/>
                <a:cs typeface="Times New Roman" panose="02020603050405020304"/>
              </a:rPr>
              <a:t>Integrate current to estimate SOC and usable runtime.</a:t>
            </a:r>
            <a:endParaRPr sz="1800" b="0">
              <a:solidFill>
                <a:srgbClr val="000000"/>
              </a:solidFill>
              <a:latin typeface="Times New Roman" panose="02020603050405020304"/>
              <a:ea typeface="Times New Roman" panose="02020603050405020304"/>
              <a:cs typeface="Times New Roman" panose="02020603050405020304"/>
            </a:endParaRPr>
          </a:p>
          <a:p>
            <a:pPr algn="l">
              <a:buNone/>
              <a:defRPr sz="1800" b="0">
                <a:solidFill>
                  <a:srgbClr val="000000"/>
                </a:solidFill>
                <a:latin typeface="Times New Roman" panose="02020603050405020304"/>
                <a:ea typeface="Times New Roman" panose="02020603050405020304"/>
                <a:cs typeface="Times New Roman" panose="02020603050405020304"/>
              </a:defRPr>
            </a:pPr>
            <a:r>
              <a:rPr sz="1800" b="0">
                <a:solidFill>
                  <a:srgbClr val="000000"/>
                </a:solidFill>
                <a:latin typeface="Times New Roman" panose="02020603050405020304"/>
                <a:ea typeface="Times New Roman" panose="02020603050405020304"/>
                <a:cs typeface="Times New Roman" panose="02020603050405020304"/>
              </a:rPr>
              <a:t>Fan OFF after 3 s below 3 h.</a:t>
            </a:r>
            <a:endParaRPr sz="1800" b="0">
              <a:solidFill>
                <a:srgbClr val="000000"/>
              </a:solidFill>
              <a:latin typeface="Times New Roman" panose="02020603050405020304"/>
              <a:ea typeface="Times New Roman" panose="02020603050405020304"/>
              <a:cs typeface="Times New Roman" panose="02020603050405020304"/>
            </a:endParaRPr>
          </a:p>
          <a:p>
            <a:pPr algn="l">
              <a:buNone/>
              <a:defRPr sz="1800" b="0">
                <a:solidFill>
                  <a:srgbClr val="000000"/>
                </a:solidFill>
                <a:latin typeface="Times New Roman" panose="02020603050405020304"/>
                <a:ea typeface="Times New Roman" panose="02020603050405020304"/>
                <a:cs typeface="Times New Roman" panose="02020603050405020304"/>
              </a:defRPr>
            </a:pPr>
            <a:r>
              <a:rPr sz="1800" b="0">
                <a:solidFill>
                  <a:srgbClr val="000000"/>
                </a:solidFill>
                <a:latin typeface="Times New Roman" panose="02020603050405020304"/>
                <a:ea typeface="Times New Roman" panose="02020603050405020304"/>
                <a:cs typeface="Times New Roman" panose="02020603050405020304"/>
              </a:rPr>
              <a:t>Restore: requested, prospective ≥3.25 h, operating limits valid.</a:t>
            </a:r>
            <a:endParaRPr sz="1800" b="0">
              <a:solidFill>
                <a:srgbClr val="00000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 name="Google Shape;87;p4"/>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DB7BEEEC-A170-5376-2B6E-CB54687B0CB1}"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8" name="Google Shape;88;p4"/>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Data Collection and Validation</a:t>
            </a:r>
            <a:endParaRPr sz="1050"/>
          </a:p>
        </p:txBody>
      </p:sp>
      <p:graphicFrame>
        <p:nvGraphicFramePr>
          <p:cNvPr id="96" name="Table 95"/>
          <p:cNvGraphicFramePr/>
          <p:nvPr/>
        </p:nvGraphicFramePr>
        <p:xfrm>
          <a:off x="457200" y="1257300"/>
          <a:ext cx="8229600" cy="3162300"/>
        </p:xfrm>
        <a:graphic>
          <a:graphicData uri="http://schemas.openxmlformats.org/drawingml/2006/table">
            <a:tbl>
              <a:tblPr/>
              <a:tblGrid>
                <a:gridCol w="3962400"/>
                <a:gridCol w="4267200"/>
              </a:tblGrid>
              <a:tr h="632460">
                <a:tc>
                  <a:txBody>
                    <a:bodyPr>
                      <a:spAutoFit/>
                    </a:bodyPr>
                    <a:lstStyle/>
                    <a:p>
                      <a:pPr algn="l">
                        <a:buNone/>
                      </a:pPr>
                      <a:r>
                        <a:rPr sz="1800" b="1">
                          <a:solidFill>
                            <a:srgbClr val="000000"/>
                          </a:solidFill>
                          <a:latin typeface="Times New Roman" panose="02020603050405020304"/>
                          <a:ea typeface="Times New Roman" panose="02020603050405020304"/>
                          <a:cs typeface="Times New Roman" panose="02020603050405020304"/>
                        </a:rPr>
                        <a:t>Available evidence</a:t>
                      </a:r>
                      <a:endParaRPr sz="1800" b="1">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2F2F2"/>
                    </a:solidFill>
                  </a:tcPr>
                </a:tc>
                <a:tc>
                  <a:txBody>
                    <a:bodyPr>
                      <a:spAutoFit/>
                    </a:bodyPr>
                    <a:lstStyle/>
                    <a:p>
                      <a:pPr algn="l">
                        <a:buNone/>
                      </a:pPr>
                      <a:r>
                        <a:rPr sz="1800" b="1">
                          <a:solidFill>
                            <a:srgbClr val="000000"/>
                          </a:solidFill>
                          <a:latin typeface="Times New Roman" panose="02020603050405020304"/>
                          <a:ea typeface="Times New Roman" panose="02020603050405020304"/>
                          <a:cs typeface="Times New Roman" panose="02020603050405020304"/>
                        </a:rPr>
                        <a:t>Next physical measurement</a:t>
                      </a:r>
                      <a:endParaRPr sz="1800" b="1">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2F2F2"/>
                    </a:solidFill>
                  </a:tcPr>
                </a:tc>
              </a:tr>
              <a:tr h="632460">
                <a:tc>
                  <a:txBody>
                    <a:bodyPr>
                      <a:spAutoFit/>
                    </a:bodyPr>
                    <a:lstStyle/>
                    <a:p>
                      <a:pPr algn="l">
                        <a:buNone/>
                      </a:pPr>
                      <a:r>
                        <a:rPr sz="1800" b="0">
                          <a:solidFill>
                            <a:srgbClr val="000000"/>
                          </a:solidFill>
                          <a:latin typeface="Times New Roman" panose="02020603050405020304"/>
                          <a:ea typeface="Times New Roman" panose="02020603050405020304"/>
                          <a:cs typeface="Times New Roman" panose="02020603050405020304"/>
                        </a:rPr>
                        <a:t>Synthetic battery and policy CSV traces</a:t>
                      </a:r>
                      <a:endParaRPr sz="1800" b="0">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FFFFF"/>
                    </a:solidFill>
                  </a:tcPr>
                </a:tc>
                <a:tc>
                  <a:txBody>
                    <a:bodyPr>
                      <a:spAutoFit/>
                    </a:bodyPr>
                    <a:lstStyle/>
                    <a:p>
                      <a:pPr algn="l">
                        <a:buNone/>
                      </a:pPr>
                      <a:r>
                        <a:rPr sz="1800" b="0">
                          <a:solidFill>
                            <a:srgbClr val="000000"/>
                          </a:solidFill>
                          <a:latin typeface="Times New Roman" panose="02020603050405020304"/>
                          <a:ea typeface="Times New Roman" panose="02020603050405020304"/>
                          <a:cs typeface="Times New Roman" panose="02020603050405020304"/>
                        </a:rPr>
                        <a:t>Independent meter and sensor log</a:t>
                      </a:r>
                      <a:endParaRPr sz="1800" b="0">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FFFFF"/>
                    </a:solidFill>
                  </a:tcPr>
                </a:tc>
              </a:tr>
              <a:tr h="632460">
                <a:tc>
                  <a:txBody>
                    <a:bodyPr>
                      <a:spAutoFit/>
                    </a:bodyPr>
                    <a:lstStyle/>
                    <a:p>
                      <a:pPr algn="l">
                        <a:buNone/>
                      </a:pPr>
                      <a:r>
                        <a:rPr sz="1800" b="0">
                          <a:solidFill>
                            <a:srgbClr val="000000"/>
                          </a:solidFill>
                          <a:latin typeface="Times New Roman" panose="02020603050405020304"/>
                          <a:ea typeface="Times New Roman" panose="02020603050405020304"/>
                          <a:cs typeface="Times New Roman" panose="02020603050405020304"/>
                        </a:rPr>
                        <a:t>18 deterministic scenario pairs</a:t>
                      </a:r>
                      <a:endParaRPr sz="1800" b="0">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FFFFF"/>
                    </a:solidFill>
                  </a:tcPr>
                </a:tc>
                <a:tc>
                  <a:txBody>
                    <a:bodyPr>
                      <a:spAutoFit/>
                    </a:bodyPr>
                    <a:lstStyle/>
                    <a:p>
                      <a:pPr algn="l">
                        <a:buNone/>
                      </a:pPr>
                      <a:r>
                        <a:rPr sz="1800" b="0">
                          <a:solidFill>
                            <a:srgbClr val="000000"/>
                          </a:solidFill>
                          <a:latin typeface="Times New Roman" panose="02020603050405020304"/>
                          <a:ea typeface="Times New Roman" panose="02020603050405020304"/>
                          <a:cs typeface="Times New Roman" panose="02020603050405020304"/>
                        </a:rPr>
                        <a:t>Measured capacity and converter efficiency</a:t>
                      </a:r>
                      <a:endParaRPr sz="1800" b="0">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FFFFF"/>
                    </a:solidFill>
                  </a:tcPr>
                </a:tc>
              </a:tr>
              <a:tr h="632460">
                <a:tc>
                  <a:txBody>
                    <a:bodyPr>
                      <a:spAutoFit/>
                    </a:bodyPr>
                    <a:lstStyle/>
                    <a:p>
                      <a:pPr algn="l">
                        <a:buNone/>
                      </a:pPr>
                      <a:r>
                        <a:rPr sz="1800" b="0">
                          <a:solidFill>
                            <a:srgbClr val="000000"/>
                          </a:solidFill>
                          <a:latin typeface="Times New Roman" panose="02020603050405020304"/>
                          <a:ea typeface="Times New Roman" panose="02020603050405020304"/>
                          <a:cs typeface="Times New Roman" panose="02020603050405020304"/>
                        </a:rPr>
                        <a:t>Six behavioral SPICE startup cases</a:t>
                      </a:r>
                      <a:endParaRPr sz="1800" b="0">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FFFFF"/>
                    </a:solidFill>
                  </a:tcPr>
                </a:tc>
                <a:tc>
                  <a:txBody>
                    <a:bodyPr>
                      <a:spAutoFit/>
                    </a:bodyPr>
                    <a:lstStyle/>
                    <a:p>
                      <a:pPr algn="l">
                        <a:buNone/>
                      </a:pPr>
                      <a:r>
                        <a:rPr sz="1800" b="0">
                          <a:solidFill>
                            <a:srgbClr val="000000"/>
                          </a:solidFill>
                          <a:latin typeface="Times New Roman" panose="02020603050405020304"/>
                          <a:ea typeface="Times New Roman" panose="02020603050405020304"/>
                          <a:cs typeface="Times New Roman" panose="02020603050405020304"/>
                        </a:rPr>
                        <a:t>5 V, fan and 3.3 V scope traces</a:t>
                      </a:r>
                      <a:endParaRPr sz="1800" b="0">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FFFFF"/>
                    </a:solidFill>
                  </a:tcPr>
                </a:tc>
              </a:tr>
              <a:tr h="632460">
                <a:tc>
                  <a:txBody>
                    <a:bodyPr>
                      <a:spAutoFit/>
                    </a:bodyPr>
                    <a:lstStyle/>
                    <a:p>
                      <a:pPr algn="l">
                        <a:buNone/>
                      </a:pPr>
                      <a:r>
                        <a:rPr sz="1800" b="0">
                          <a:solidFill>
                            <a:srgbClr val="000000"/>
                          </a:solidFill>
                          <a:latin typeface="Times New Roman" panose="02020603050405020304"/>
                          <a:ea typeface="Times New Roman" panose="02020603050405020304"/>
                          <a:cs typeface="Times New Roman" panose="02020603050405020304"/>
                        </a:rPr>
                        <a:t>45 Python tests, 67 C++ assertions</a:t>
                      </a:r>
                      <a:endParaRPr sz="1800" b="0">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FFFFF"/>
                    </a:solidFill>
                  </a:tcPr>
                </a:tc>
                <a:tc>
                  <a:txBody>
                    <a:bodyPr>
                      <a:spAutoFit/>
                    </a:bodyPr>
                    <a:lstStyle/>
                    <a:p>
                      <a:pPr algn="l">
                        <a:buNone/>
                      </a:pPr>
                      <a:r>
                        <a:rPr sz="1800" b="0">
                          <a:solidFill>
                            <a:srgbClr val="000000"/>
                          </a:solidFill>
                          <a:latin typeface="Times New Roman" panose="02020603050405020304"/>
                          <a:ea typeface="Times New Roman" panose="02020603050405020304"/>
                          <a:cs typeface="Times New Roman" panose="02020603050405020304"/>
                        </a:rPr>
                        <a:t>Calibration and repeated runtime trials</a:t>
                      </a:r>
                      <a:endParaRPr sz="1800" b="0">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FFFFF"/>
                    </a:solidFill>
                  </a:tcPr>
                </a:tc>
              </a:tr>
            </a:tbl>
          </a:graphicData>
        </a:graphic>
      </p:graphicFrame>
      <p:sp>
        <p:nvSpPr>
          <p:cNvPr id="90" name="Software checks"/>
          <p:cNvSpPr>
            <a:spLocks noGrp="1"/>
          </p:cNvSpPr>
          <p:nvPr/>
        </p:nvSpPr>
        <p:spPr>
          <a:xfrm>
            <a:off x="533400" y="4619625"/>
            <a:ext cx="8096250" cy="400050"/>
          </a:xfrm>
          <a:prstGeom prst="rect">
            <a:avLst/>
          </a:prstGeom>
          <a:noFill/>
          <a:ln w="0">
            <a:noFill/>
          </a:ln>
        </p:spPr>
        <p:txBody>
          <a:bodyPr wrap="square" lIns="47625" tIns="38100" rIns="47625" bIns="38100" anchor="t">
            <a:noAutofit/>
          </a:bodyPr>
          <a:lstStyle/>
          <a:p>
            <a:pPr algn="l">
              <a:buNone/>
              <a:defRPr sz="1875" b="0">
                <a:solidFill>
                  <a:srgbClr val="000000"/>
                </a:solidFill>
                <a:latin typeface="Times New Roman" panose="02020603050405020304"/>
                <a:ea typeface="Times New Roman" panose="02020603050405020304"/>
                <a:cs typeface="Times New Roman" panose="02020603050405020304"/>
              </a:defRPr>
            </a:pPr>
            <a:r>
              <a:rPr sz="1875" b="0">
                <a:solidFill>
                  <a:srgbClr val="000000"/>
                </a:solidFill>
                <a:latin typeface="Times New Roman" panose="02020603050405020304"/>
                <a:ea typeface="Times New Roman" panose="02020603050405020304"/>
                <a:cs typeface="Times New Roman" panose="02020603050405020304"/>
              </a:rPr>
              <a:t>Both firmware builds pass. 12,000 host policy steps agree.</a:t>
            </a:r>
            <a:endParaRPr sz="1875" b="0">
              <a:solidFill>
                <a:srgbClr val="000000"/>
              </a:solidFill>
              <a:latin typeface="Times New Roman" panose="02020603050405020304"/>
              <a:ea typeface="Times New Roman" panose="02020603050405020304"/>
              <a:cs typeface="Times New Roman" panose="02020603050405020304"/>
            </a:endParaRPr>
          </a:p>
        </p:txBody>
      </p:sp>
      <p:sp>
        <p:nvSpPr>
          <p:cNvPr id="91" name="Startup limitation"/>
          <p:cNvSpPr>
            <a:spLocks noGrp="1"/>
          </p:cNvSpPr>
          <p:nvPr/>
        </p:nvSpPr>
        <p:spPr>
          <a:xfrm>
            <a:off x="533400" y="5143500"/>
            <a:ext cx="8096250" cy="409575"/>
          </a:xfrm>
          <a:prstGeom prst="rect">
            <a:avLst/>
          </a:prstGeom>
          <a:noFill/>
          <a:ln w="0">
            <a:noFill/>
          </a:ln>
        </p:spPr>
        <p:txBody>
          <a:bodyPr wrap="square" lIns="47625" tIns="38100" rIns="47625" bIns="38100" anchor="t">
            <a:noAutofit/>
          </a:bodyPr>
          <a:lstStyle/>
          <a:p>
            <a:pPr algn="l">
              <a:buNone/>
              <a:defRPr sz="1875" b="1">
                <a:solidFill>
                  <a:srgbClr val="A00000"/>
                </a:solidFill>
                <a:latin typeface="Times New Roman" panose="02020603050405020304"/>
                <a:ea typeface="Times New Roman" panose="02020603050405020304"/>
                <a:cs typeface="Times New Roman" panose="02020603050405020304"/>
              </a:defRPr>
            </a:pPr>
            <a:r>
              <a:rPr sz="1875" b="1">
                <a:solidFill>
                  <a:srgbClr val="A00000"/>
                </a:solidFill>
                <a:latin typeface="Times New Roman" panose="02020603050405020304"/>
                <a:ea typeface="Times New Roman" panose="02020603050405020304"/>
                <a:cs typeface="Times New Roman" panose="02020603050405020304"/>
              </a:rPr>
              <a:t>3 of 6 startup cases fail the provisional 4.75 V rail screen.</a:t>
            </a:r>
            <a:endParaRPr sz="1875" b="1">
              <a:solidFill>
                <a:srgbClr val="A00000"/>
              </a:solidFill>
              <a:latin typeface="Times New Roman" panose="02020603050405020304"/>
              <a:ea typeface="Times New Roman" panose="02020603050405020304"/>
              <a:cs typeface="Times New Roman" panose="02020603050405020304"/>
            </a:endParaRPr>
          </a:p>
        </p:txBody>
      </p:sp>
      <p:sp>
        <p:nvSpPr>
          <p:cNvPr id="92" name="Physical data status"/>
          <p:cNvSpPr>
            <a:spLocks noGrp="1"/>
          </p:cNvSpPr>
          <p:nvPr/>
        </p:nvSpPr>
        <p:spPr>
          <a:xfrm>
            <a:off x="533400" y="5695950"/>
            <a:ext cx="8096250" cy="723900"/>
          </a:xfrm>
          <a:prstGeom prst="rect">
            <a:avLst/>
          </a:prstGeom>
          <a:noFill/>
          <a:ln w="0">
            <a:noFill/>
          </a:ln>
        </p:spPr>
        <p:txBody>
          <a:bodyPr wrap="square" lIns="47625" tIns="38100" rIns="47625" bIns="38100" anchor="t">
            <a:noAutofit/>
          </a:bodyPr>
          <a:lstStyle/>
          <a:p>
            <a:pPr algn="l">
              <a:buNone/>
              <a:defRPr sz="1875" b="1">
                <a:solidFill>
                  <a:srgbClr val="7030A0"/>
                </a:solidFill>
                <a:latin typeface="Times New Roman" panose="02020603050405020304"/>
                <a:ea typeface="Times New Roman" panose="02020603050405020304"/>
                <a:cs typeface="Times New Roman" panose="02020603050405020304"/>
              </a:defRPr>
            </a:pPr>
            <a:r>
              <a:rPr sz="1875" b="1">
                <a:solidFill>
                  <a:srgbClr val="7030A0"/>
                </a:solidFill>
                <a:latin typeface="Times New Roman" panose="02020603050405020304"/>
                <a:ea typeface="Times New Roman" panose="02020603050405020304"/>
                <a:cs typeface="Times New Roman" panose="02020603050405020304"/>
              </a:rPr>
              <a:t>No physical measurements yet.</a:t>
            </a:r>
            <a:endParaRPr sz="1875" b="1">
              <a:solidFill>
                <a:srgbClr val="7030A0"/>
              </a:solidFill>
              <a:latin typeface="Times New Roman" panose="02020603050405020304"/>
              <a:ea typeface="Times New Roman" panose="02020603050405020304"/>
              <a:cs typeface="Times New Roman" panose="02020603050405020304"/>
            </a:endParaRPr>
          </a:p>
          <a:p>
            <a:pPr algn="l">
              <a:buNone/>
              <a:defRPr sz="1875" b="1">
                <a:solidFill>
                  <a:srgbClr val="7030A0"/>
                </a:solidFill>
                <a:latin typeface="Times New Roman" panose="02020603050405020304"/>
                <a:ea typeface="Times New Roman" panose="02020603050405020304"/>
                <a:cs typeface="Times New Roman" panose="02020603050405020304"/>
              </a:defRPr>
            </a:pPr>
            <a:r>
              <a:rPr sz="1875" b="1">
                <a:solidFill>
                  <a:srgbClr val="7030A0"/>
                </a:solidFill>
                <a:latin typeface="Times New Roman" panose="02020603050405020304"/>
                <a:ea typeface="Times New Roman" panose="02020603050405020304"/>
                <a:cs typeface="Times New Roman" panose="02020603050405020304"/>
              </a:rPr>
              <a:t>Next: assemble, calibrate, test startup, temperature and runtime.</a:t>
            </a:r>
            <a:endParaRPr sz="1875" b="1">
              <a:solidFill>
                <a:srgbClr val="7030A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 name="Google Shape;87;p4"/>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30394428-F1DC-E5F6-DB0C-7DE31F3D8A23}"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8" name="Google Shape;88;p4"/>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Expected Outcomes and Evaluation</a:t>
            </a:r>
            <a:endParaRPr sz="1050"/>
          </a:p>
        </p:txBody>
      </p:sp>
      <p:graphicFrame>
        <p:nvGraphicFramePr>
          <p:cNvPr id="97" name="Chart"/>
          <p:cNvGraphicFramePr/>
          <p:nvPr/>
        </p:nvGraphicFramePr>
        <p:xfrm>
          <a:off x="371475" y="1343025"/>
          <a:ext cx="5572125" cy="3238500"/>
        </p:xfrm>
        <a:graphic>
          <a:graphicData uri="http://schemas.openxmlformats.org/drawingml/2006/chart">
            <c:chart xmlns:c="http://schemas.openxmlformats.org/drawingml/2006/chart" xmlns:r="http://schemas.openxmlformats.org/officeDocument/2006/relationships" r:id="rId1"/>
          </a:graphicData>
        </a:graphic>
      </p:graphicFrame>
      <p:sp>
        <p:nvSpPr>
          <p:cNvPr id="90" name="Service tradeoff"/>
          <p:cNvSpPr>
            <a:spLocks noGrp="1"/>
          </p:cNvSpPr>
          <p:nvPr/>
        </p:nvSpPr>
        <p:spPr>
          <a:xfrm>
            <a:off x="6153150" y="1362075"/>
            <a:ext cx="2676525" cy="1095375"/>
          </a:xfrm>
          <a:prstGeom prst="rect">
            <a:avLst/>
          </a:prstGeom>
          <a:noFill/>
          <a:ln w="0">
            <a:noFill/>
          </a:ln>
        </p:spPr>
        <p:txBody>
          <a:bodyPr wrap="square" lIns="47625" tIns="38100" rIns="47625" bIns="38100" anchor="t">
            <a:noAutofit/>
          </a:bodyPr>
          <a:lstStyle/>
          <a:p>
            <a:pPr algn="l">
              <a:buNone/>
              <a:defRPr sz="2025" b="1">
                <a:solidFill>
                  <a:srgbClr val="7030A0"/>
                </a:solidFill>
                <a:latin typeface="Times New Roman" panose="02020603050405020304"/>
                <a:ea typeface="Times New Roman" panose="02020603050405020304"/>
                <a:cs typeface="Times New Roman" panose="02020603050405020304"/>
              </a:defRPr>
            </a:pPr>
            <a:r>
              <a:rPr sz="2025" b="1">
                <a:solidFill>
                  <a:srgbClr val="7030A0"/>
                </a:solidFill>
                <a:latin typeface="Times New Roman" panose="02020603050405020304"/>
                <a:ea typeface="Times New Roman" panose="02020603050405020304"/>
                <a:cs typeface="Times New Roman" panose="02020603050405020304"/>
              </a:rPr>
              <a:t>Lamp +43.96%</a:t>
            </a:r>
            <a:endParaRPr sz="2025" b="1">
              <a:solidFill>
                <a:srgbClr val="7030A0"/>
              </a:solidFill>
              <a:latin typeface="Times New Roman" panose="02020603050405020304"/>
              <a:ea typeface="Times New Roman" panose="02020603050405020304"/>
              <a:cs typeface="Times New Roman" panose="02020603050405020304"/>
            </a:endParaRPr>
          </a:p>
          <a:p>
            <a:pPr algn="l">
              <a:buNone/>
              <a:defRPr sz="2025" b="1">
                <a:solidFill>
                  <a:srgbClr val="7030A0"/>
                </a:solidFill>
                <a:latin typeface="Times New Roman" panose="02020603050405020304"/>
                <a:ea typeface="Times New Roman" panose="02020603050405020304"/>
                <a:cs typeface="Times New Roman" panose="02020603050405020304"/>
              </a:defRPr>
            </a:pPr>
            <a:r>
              <a:rPr sz="2025" b="1">
                <a:solidFill>
                  <a:srgbClr val="7030A0"/>
                </a:solidFill>
                <a:latin typeface="Times New Roman" panose="02020603050405020304"/>
                <a:ea typeface="Times New Roman" panose="02020603050405020304"/>
                <a:cs typeface="Times New Roman" panose="02020603050405020304"/>
              </a:rPr>
              <a:t>Fan −54.47%</a:t>
            </a:r>
            <a:endParaRPr sz="2025" b="1">
              <a:solidFill>
                <a:srgbClr val="7030A0"/>
              </a:solidFill>
              <a:latin typeface="Times New Roman" panose="02020603050405020304"/>
              <a:ea typeface="Times New Roman" panose="02020603050405020304"/>
              <a:cs typeface="Times New Roman" panose="02020603050405020304"/>
            </a:endParaRPr>
          </a:p>
          <a:p>
            <a:pPr algn="l">
              <a:buNone/>
              <a:defRPr sz="2025" b="1">
                <a:solidFill>
                  <a:srgbClr val="7030A0"/>
                </a:solidFill>
                <a:latin typeface="Times New Roman" panose="02020603050405020304"/>
                <a:ea typeface="Times New Roman" panose="02020603050405020304"/>
                <a:cs typeface="Times New Roman" panose="02020603050405020304"/>
              </a:defRPr>
            </a:pPr>
            <a:r>
              <a:rPr sz="2025" b="1">
                <a:solidFill>
                  <a:srgbClr val="7030A0"/>
                </a:solidFill>
                <a:latin typeface="Times New Roman" panose="02020603050405020304"/>
                <a:ea typeface="Times New Roman" panose="02020603050405020304"/>
                <a:cs typeface="Times New Roman" panose="02020603050405020304"/>
              </a:rPr>
              <a:t>Service tradeoff</a:t>
            </a:r>
            <a:endParaRPr sz="2025" b="1">
              <a:solidFill>
                <a:srgbClr val="7030A0"/>
              </a:solidFill>
              <a:latin typeface="Times New Roman" panose="02020603050405020304"/>
              <a:ea typeface="Times New Roman" panose="02020603050405020304"/>
              <a:cs typeface="Times New Roman" panose="02020603050405020304"/>
            </a:endParaRPr>
          </a:p>
        </p:txBody>
      </p:sp>
      <p:sp>
        <p:nvSpPr>
          <p:cNvPr id="91" name="Evaluation targets"/>
          <p:cNvSpPr>
            <a:spLocks noGrp="1"/>
          </p:cNvSpPr>
          <p:nvPr/>
        </p:nvSpPr>
        <p:spPr>
          <a:xfrm>
            <a:off x="6076950" y="2724150"/>
            <a:ext cx="2828925" cy="1666875"/>
          </a:xfrm>
          <a:prstGeom prst="rect">
            <a:avLst/>
          </a:prstGeom>
          <a:noFill/>
          <a:ln w="0">
            <a:noFill/>
          </a:ln>
        </p:spPr>
        <p:txBody>
          <a:bodyPr wrap="square" lIns="47625" tIns="38100" rIns="47625" bIns="38100" anchor="t">
            <a:noAutofit/>
          </a:bodyPr>
          <a:lstStyle/>
          <a:p>
            <a:pPr algn="l">
              <a:buNone/>
              <a:defRPr sz="1650" b="0">
                <a:solidFill>
                  <a:srgbClr val="000000"/>
                </a:solidFill>
                <a:latin typeface="Times New Roman" panose="02020603050405020304"/>
                <a:ea typeface="Times New Roman" panose="02020603050405020304"/>
                <a:cs typeface="Times New Roman" panose="02020603050405020304"/>
              </a:defRPr>
            </a:pPr>
            <a:r>
              <a:rPr sz="1650" b="0">
                <a:solidFill>
                  <a:srgbClr val="000000"/>
                </a:solidFill>
                <a:latin typeface="Times New Roman" panose="02020603050405020304"/>
                <a:ea typeface="Times New Roman" panose="02020603050405020304"/>
                <a:cs typeface="Times New Roman" panose="02020603050405020304"/>
              </a:rPr>
              <a:t>Calibration targets</a:t>
            </a:r>
            <a:endParaRPr sz="1650" b="0">
              <a:solidFill>
                <a:srgbClr val="000000"/>
              </a:solidFill>
              <a:latin typeface="Times New Roman" panose="02020603050405020304"/>
              <a:ea typeface="Times New Roman" panose="02020603050405020304"/>
              <a:cs typeface="Times New Roman" panose="02020603050405020304"/>
            </a:endParaRPr>
          </a:p>
          <a:p>
            <a:pPr algn="l">
              <a:buNone/>
              <a:defRPr sz="1650" b="0">
                <a:solidFill>
                  <a:srgbClr val="000000"/>
                </a:solidFill>
                <a:latin typeface="Times New Roman" panose="02020603050405020304"/>
                <a:ea typeface="Times New Roman" panose="02020603050405020304"/>
                <a:cs typeface="Times New Roman" panose="02020603050405020304"/>
              </a:defRPr>
            </a:pPr>
            <a:r>
              <a:rPr sz="1650" b="0">
                <a:solidFill>
                  <a:srgbClr val="000000"/>
                </a:solidFill>
                <a:latin typeface="Times New Roman" panose="02020603050405020304"/>
                <a:ea typeface="Times New Roman" panose="02020603050405020304"/>
                <a:cs typeface="Times New Roman" panose="02020603050405020304"/>
              </a:rPr>
              <a:t>Voltage: ±1%</a:t>
            </a:r>
            <a:endParaRPr sz="1650" b="0">
              <a:solidFill>
                <a:srgbClr val="000000"/>
              </a:solidFill>
              <a:latin typeface="Times New Roman" panose="02020603050405020304"/>
              <a:ea typeface="Times New Roman" panose="02020603050405020304"/>
              <a:cs typeface="Times New Roman" panose="02020603050405020304"/>
            </a:endParaRPr>
          </a:p>
          <a:p>
            <a:pPr algn="l">
              <a:buNone/>
              <a:defRPr sz="1650" b="0">
                <a:solidFill>
                  <a:srgbClr val="000000"/>
                </a:solidFill>
                <a:latin typeface="Times New Roman" panose="02020603050405020304"/>
                <a:ea typeface="Times New Roman" panose="02020603050405020304"/>
                <a:cs typeface="Times New Roman" panose="02020603050405020304"/>
              </a:defRPr>
            </a:pPr>
            <a:r>
              <a:rPr sz="1650" b="0">
                <a:solidFill>
                  <a:srgbClr val="000000"/>
                </a:solidFill>
                <a:latin typeface="Times New Roman" panose="02020603050405020304"/>
                <a:ea typeface="Times New Roman" panose="02020603050405020304"/>
                <a:cs typeface="Times New Roman" panose="02020603050405020304"/>
              </a:rPr>
              <a:t>Current: ±(3% of reference</a:t>
            </a:r>
            <a:endParaRPr sz="1650" b="0">
              <a:solidFill>
                <a:srgbClr val="000000"/>
              </a:solidFill>
              <a:latin typeface="Times New Roman" panose="02020603050405020304"/>
              <a:ea typeface="Times New Roman" panose="02020603050405020304"/>
              <a:cs typeface="Times New Roman" panose="02020603050405020304"/>
            </a:endParaRPr>
          </a:p>
          <a:p>
            <a:pPr algn="l">
              <a:buNone/>
              <a:defRPr sz="1650" b="0">
                <a:solidFill>
                  <a:srgbClr val="000000"/>
                </a:solidFill>
                <a:latin typeface="Times New Roman" panose="02020603050405020304"/>
                <a:ea typeface="Times New Roman" panose="02020603050405020304"/>
                <a:cs typeface="Times New Roman" panose="02020603050405020304"/>
              </a:defRPr>
            </a:pPr>
            <a:r>
              <a:rPr sz="1650" b="0">
                <a:solidFill>
                  <a:srgbClr val="000000"/>
                </a:solidFill>
                <a:latin typeface="Times New Roman" panose="02020603050405020304"/>
                <a:ea typeface="Times New Roman" panose="02020603050405020304"/>
                <a:cs typeface="Times New Roman" panose="02020603050405020304"/>
              </a:rPr>
              <a:t>+ 10 mA)</a:t>
            </a:r>
            <a:endParaRPr sz="1650" b="0">
              <a:solidFill>
                <a:srgbClr val="000000"/>
              </a:solidFill>
              <a:latin typeface="Times New Roman" panose="02020603050405020304"/>
              <a:ea typeface="Times New Roman" panose="02020603050405020304"/>
              <a:cs typeface="Times New Roman" panose="02020603050405020304"/>
            </a:endParaRPr>
          </a:p>
          <a:p>
            <a:pPr algn="l">
              <a:buNone/>
              <a:defRPr sz="1650" b="0">
                <a:solidFill>
                  <a:srgbClr val="000000"/>
                </a:solidFill>
                <a:latin typeface="Times New Roman" panose="02020603050405020304"/>
                <a:ea typeface="Times New Roman" panose="02020603050405020304"/>
                <a:cs typeface="Times New Roman" panose="02020603050405020304"/>
              </a:defRPr>
            </a:pPr>
            <a:r>
              <a:rPr sz="1650" b="0">
                <a:solidFill>
                  <a:srgbClr val="000000"/>
                </a:solidFill>
                <a:latin typeface="Times New Roman" panose="02020603050405020304"/>
                <a:ea typeface="Times New Roman" panose="02020603050405020304"/>
                <a:cs typeface="Times New Roman" panose="02020603050405020304"/>
              </a:rPr>
              <a:t>Measurement pending</a:t>
            </a:r>
            <a:endParaRPr sz="1650" b="0">
              <a:solidFill>
                <a:srgbClr val="000000"/>
              </a:solidFill>
              <a:latin typeface="Times New Roman" panose="02020603050405020304"/>
              <a:ea typeface="Times New Roman" panose="02020603050405020304"/>
              <a:cs typeface="Times New Roman" panose="02020603050405020304"/>
            </a:endParaRPr>
          </a:p>
        </p:txBody>
      </p:sp>
      <p:sp>
        <p:nvSpPr>
          <p:cNvPr id="92" name="Simulation assumptions"/>
          <p:cNvSpPr>
            <a:spLocks noGrp="1"/>
          </p:cNvSpPr>
          <p:nvPr/>
        </p:nvSpPr>
        <p:spPr>
          <a:xfrm>
            <a:off x="485775" y="4895850"/>
            <a:ext cx="8201025" cy="733425"/>
          </a:xfrm>
          <a:prstGeom prst="rect">
            <a:avLst/>
          </a:prstGeom>
          <a:noFill/>
          <a:ln w="0">
            <a:noFill/>
          </a:ln>
        </p:spPr>
        <p:txBody>
          <a:bodyPr wrap="square" lIns="47625" tIns="38100" rIns="47625" bIns="38100" anchor="t">
            <a:noAutofit/>
          </a:bodyPr>
          <a:lstStyle/>
          <a:p>
            <a:pPr algn="l">
              <a:buNone/>
              <a:defRPr sz="1725" b="0">
                <a:solidFill>
                  <a:srgbClr val="000000"/>
                </a:solidFill>
                <a:latin typeface="Times New Roman" panose="02020603050405020304"/>
                <a:ea typeface="Times New Roman" panose="02020603050405020304"/>
                <a:cs typeface="Times New Roman" panose="02020603050405020304"/>
              </a:defRPr>
            </a:pPr>
            <a:r>
              <a:rPr sz="1725" b="0">
                <a:solidFill>
                  <a:srgbClr val="000000"/>
                </a:solidFill>
                <a:latin typeface="Times New Roman" panose="02020603050405020304"/>
                <a:ea typeface="Times New Roman" panose="02020603050405020304"/>
                <a:cs typeface="Times New Roman" panose="02020603050405020304"/>
              </a:rPr>
              <a:t>Model: 6 Ah, 68% to 20% SOC, 90% efficiency, zero charging.</a:t>
            </a:r>
            <a:endParaRPr sz="1725" b="0">
              <a:solidFill>
                <a:srgbClr val="000000"/>
              </a:solidFill>
              <a:latin typeface="Times New Roman" panose="02020603050405020304"/>
              <a:ea typeface="Times New Roman" panose="02020603050405020304"/>
              <a:cs typeface="Times New Roman" panose="02020603050405020304"/>
            </a:endParaRPr>
          </a:p>
          <a:p>
            <a:pPr algn="l">
              <a:buNone/>
              <a:defRPr sz="1725" b="0">
                <a:solidFill>
                  <a:srgbClr val="000000"/>
                </a:solidFill>
                <a:latin typeface="Times New Roman" panose="02020603050405020304"/>
                <a:ea typeface="Times New Roman" panose="02020603050405020304"/>
                <a:cs typeface="Times New Roman" panose="02020603050405020304"/>
              </a:defRPr>
            </a:pPr>
            <a:r>
              <a:rPr sz="1725" b="0">
                <a:solidFill>
                  <a:srgbClr val="000000"/>
                </a:solidFill>
                <a:latin typeface="Times New Roman" panose="02020603050405020304"/>
                <a:ea typeface="Times New Roman" panose="02020603050405020304"/>
                <a:cs typeface="Times New Roman" panose="02020603050405020304"/>
              </a:rPr>
              <a:t>Loads: 2.5 W lamp + 2.5 W fan + 0.8 W controller.</a:t>
            </a:r>
            <a:endParaRPr sz="1725" b="0">
              <a:solidFill>
                <a:srgbClr val="000000"/>
              </a:solidFill>
              <a:latin typeface="Times New Roman" panose="02020603050405020304"/>
              <a:ea typeface="Times New Roman" panose="02020603050405020304"/>
              <a:cs typeface="Times New Roman" panose="02020603050405020304"/>
            </a:endParaRPr>
          </a:p>
        </p:txBody>
      </p:sp>
      <p:sp>
        <p:nvSpPr>
          <p:cNvPr id="93" name="Expected prototype"/>
          <p:cNvSpPr>
            <a:spLocks noGrp="1"/>
          </p:cNvSpPr>
          <p:nvPr/>
        </p:nvSpPr>
        <p:spPr>
          <a:xfrm>
            <a:off x="495300" y="5753100"/>
            <a:ext cx="8124825" cy="733425"/>
          </a:xfrm>
          <a:prstGeom prst="rect">
            <a:avLst/>
          </a:prstGeom>
          <a:noFill/>
          <a:ln w="0">
            <a:noFill/>
          </a:ln>
        </p:spPr>
        <p:txBody>
          <a:bodyPr wrap="square" lIns="47625" tIns="38100" rIns="47625" bIns="38100" anchor="t">
            <a:noAutofit/>
          </a:bodyPr>
          <a:lstStyle/>
          <a:p>
            <a:pPr algn="l">
              <a:buNone/>
              <a:defRPr sz="1875" b="1">
                <a:solidFill>
                  <a:srgbClr val="000000"/>
                </a:solidFill>
                <a:latin typeface="Times New Roman" panose="02020603050405020304"/>
                <a:ea typeface="Times New Roman" panose="02020603050405020304"/>
                <a:cs typeface="Times New Roman" panose="02020603050405020304"/>
              </a:defRPr>
            </a:pPr>
            <a:r>
              <a:rPr sz="1875" b="1">
                <a:solidFill>
                  <a:srgbClr val="000000"/>
                </a:solidFill>
                <a:latin typeface="Times New Roman" panose="02020603050405020304"/>
                <a:ea typeface="Times New Roman" panose="02020603050405020304"/>
                <a:cs typeface="Times New Roman" panose="02020603050405020304"/>
              </a:rPr>
              <a:t>Final outcome: assembled prototype with calibrated logs,</a:t>
            </a:r>
            <a:endParaRPr sz="1875" b="1">
              <a:solidFill>
                <a:srgbClr val="000000"/>
              </a:solidFill>
              <a:latin typeface="Times New Roman" panose="02020603050405020304"/>
              <a:ea typeface="Times New Roman" panose="02020603050405020304"/>
              <a:cs typeface="Times New Roman" panose="02020603050405020304"/>
            </a:endParaRPr>
          </a:p>
          <a:p>
            <a:pPr algn="l">
              <a:buNone/>
              <a:defRPr sz="1875" b="1">
                <a:solidFill>
                  <a:srgbClr val="000000"/>
                </a:solidFill>
                <a:latin typeface="Times New Roman" panose="02020603050405020304"/>
                <a:ea typeface="Times New Roman" panose="02020603050405020304"/>
                <a:cs typeface="Times New Roman" panose="02020603050405020304"/>
              </a:defRPr>
            </a:pPr>
            <a:r>
              <a:rPr sz="1875" b="1">
                <a:solidFill>
                  <a:srgbClr val="000000"/>
                </a:solidFill>
                <a:latin typeface="Times New Roman" panose="02020603050405020304"/>
                <a:ea typeface="Times New Roman" panose="02020603050405020304"/>
                <a:cs typeface="Times New Roman" panose="02020603050405020304"/>
              </a:rPr>
              <a:t>repeatable load control and measured service comparisons.</a:t>
            </a:r>
            <a:endParaRPr sz="1875" b="1">
              <a:solidFill>
                <a:srgbClr val="00000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 name="Google Shape;87;p4"/>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4DB16885-0D3F-A391-B669-3211DB3B26E8}"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8" name="Google Shape;88;p4"/>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Project Timeline</a:t>
            </a:r>
            <a:endParaRPr sz="1050"/>
          </a:p>
        </p:txBody>
      </p:sp>
      <p:graphicFrame>
        <p:nvGraphicFramePr>
          <p:cNvPr id="94" name="Table 1"/>
          <p:cNvGraphicFramePr/>
          <p:nvPr/>
        </p:nvGraphicFramePr>
        <p:xfrm>
          <a:off x="666750" y="1266825"/>
          <a:ext cx="7810500" cy="4010025"/>
        </p:xfrm>
        <a:graphic>
          <a:graphicData uri="http://schemas.openxmlformats.org/drawingml/2006/table">
            <a:tbl>
              <a:tblPr/>
              <a:tblGrid>
                <a:gridCol w="1981200"/>
                <a:gridCol w="5829300"/>
              </a:tblGrid>
              <a:tr h="402590">
                <a:tc>
                  <a:txBody>
                    <a:bodyPr>
                      <a:spAutoFit/>
                    </a:bodyPr>
                    <a:lstStyle/>
                    <a:p>
                      <a:r>
                        <a:rPr sz="1800" b="1">
                          <a:solidFill>
                            <a:srgbClr val="000000"/>
                          </a:solidFill>
                          <a:latin typeface="Times New Roman" panose="02020603050405020304"/>
                          <a:ea typeface="Times New Roman" panose="02020603050405020304"/>
                          <a:cs typeface="Times New Roman" panose="02020603050405020304"/>
                        </a:rPr>
                        <a:t>Stage</a:t>
                      </a:r>
                      <a:endParaRPr>
                        <a:latin typeface="Cambria" panose="02040503050406030204"/>
                        <a:ea typeface="Cambria" panose="02040503050406030204"/>
                        <a:cs typeface="Cambria" panose="020405030504060302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r>
                        <a:rPr sz="1800" b="1">
                          <a:solidFill>
                            <a:srgbClr val="000000"/>
                          </a:solidFill>
                          <a:latin typeface="Times New Roman" panose="02020603050405020304"/>
                          <a:ea typeface="Times New Roman" panose="02020603050405020304"/>
                          <a:cs typeface="Times New Roman" panose="02020603050405020304"/>
                        </a:rPr>
                        <a:t>Work and expected evidence</a:t>
                      </a:r>
                      <a:endParaRPr>
                        <a:latin typeface="Cambria" panose="02040503050406030204"/>
                        <a:ea typeface="Cambria" panose="02040503050406030204"/>
                        <a:cs typeface="Cambria" panose="020405030504060302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By 3 Oct 2026</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Review 3: design, software demo and simulations</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October 2026</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Confirm parts and quotes, then assemble on bench supply</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2590">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Nov–Dec 2026</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Calibration, fan startup and loaded thermal tests</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Next semester</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Repeated baseline/priority trials and enclosure</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Final submission</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Working prototype, measured results and final report</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 name="Google Shape;87;p4"/>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2DD23107-4986-8758-3A93-3D74F35908CC}"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8" name="Google Shape;88;p4"/>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References</a:t>
            </a:r>
            <a:endParaRPr sz="1050"/>
          </a:p>
        </p:txBody>
      </p:sp>
      <p:sp>
        <p:nvSpPr>
          <p:cNvPr id="89" name="Reference 1"/>
          <p:cNvSpPr>
            <a:spLocks noGrp="1"/>
          </p:cNvSpPr>
          <p:nvPr/>
        </p:nvSpPr>
        <p:spPr>
          <a:xfrm>
            <a:off x="352425" y="11144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 Marahatta et al., 2021</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
              </a:rPr>
              <a:t>10.1016/j.egyr.2020.11.030</a:t>
            </a:r>
            <a:endParaRPr sz="1425" b="0">
              <a:solidFill>
                <a:srgbClr val="000000"/>
              </a:solidFill>
              <a:latin typeface="Times New Roman" panose="02020603050405020304"/>
              <a:ea typeface="Times New Roman" panose="02020603050405020304"/>
              <a:cs typeface="Times New Roman" panose="02020603050405020304"/>
              <a:hlinkClick r:id="rId1"/>
            </a:endParaRPr>
          </a:p>
        </p:txBody>
      </p:sp>
      <p:sp>
        <p:nvSpPr>
          <p:cNvPr id="90" name="Reference 2"/>
          <p:cNvSpPr>
            <a:spLocks noGrp="1"/>
          </p:cNvSpPr>
          <p:nvPr/>
        </p:nvSpPr>
        <p:spPr>
          <a:xfrm>
            <a:off x="352425" y="16097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[2] Rajbhandari et al., 2024</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2"/>
              </a:rPr>
              <a:t>10.1049/stg2.12151</a:t>
            </a:r>
            <a:endParaRPr sz="1425" b="0">
              <a:solidFill>
                <a:srgbClr val="000000"/>
              </a:solidFill>
              <a:latin typeface="Times New Roman" panose="02020603050405020304"/>
              <a:ea typeface="Times New Roman" panose="02020603050405020304"/>
              <a:cs typeface="Times New Roman" panose="02020603050405020304"/>
              <a:hlinkClick r:id="rId2"/>
            </a:endParaRPr>
          </a:p>
        </p:txBody>
      </p:sp>
      <p:sp>
        <p:nvSpPr>
          <p:cNvPr id="91" name="Reference 3"/>
          <p:cNvSpPr>
            <a:spLocks noGrp="1"/>
          </p:cNvSpPr>
          <p:nvPr/>
        </p:nvSpPr>
        <p:spPr>
          <a:xfrm>
            <a:off x="352425" y="21050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[3] Bai et al., 2020</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3"/>
              </a:rPr>
              <a:t>10.3390/app10072544</a:t>
            </a:r>
            <a:endParaRPr sz="1425" b="0">
              <a:solidFill>
                <a:srgbClr val="000000"/>
              </a:solidFill>
              <a:latin typeface="Times New Roman" panose="02020603050405020304"/>
              <a:ea typeface="Times New Roman" panose="02020603050405020304"/>
              <a:cs typeface="Times New Roman" panose="02020603050405020304"/>
              <a:hlinkClick r:id="rId3"/>
            </a:endParaRPr>
          </a:p>
        </p:txBody>
      </p:sp>
      <p:sp>
        <p:nvSpPr>
          <p:cNvPr id="92" name="Reference 4"/>
          <p:cNvSpPr>
            <a:spLocks noGrp="1"/>
          </p:cNvSpPr>
          <p:nvPr/>
        </p:nvSpPr>
        <p:spPr>
          <a:xfrm>
            <a:off x="352425" y="26003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[4] Lv et al., 2021</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4"/>
              </a:rPr>
              <a:t>10.3390/electronics10070834</a:t>
            </a:r>
            <a:endParaRPr sz="1425" b="0">
              <a:solidFill>
                <a:srgbClr val="000000"/>
              </a:solidFill>
              <a:latin typeface="Times New Roman" panose="02020603050405020304"/>
              <a:ea typeface="Times New Roman" panose="02020603050405020304"/>
              <a:cs typeface="Times New Roman" panose="02020603050405020304"/>
              <a:hlinkClick r:id="rId4"/>
            </a:endParaRPr>
          </a:p>
        </p:txBody>
      </p:sp>
      <p:sp>
        <p:nvSpPr>
          <p:cNvPr id="93" name="Reference 5"/>
          <p:cNvSpPr>
            <a:spLocks noGrp="1"/>
          </p:cNvSpPr>
          <p:nvPr/>
        </p:nvSpPr>
        <p:spPr>
          <a:xfrm>
            <a:off x="352425" y="30956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[5] Guo &amp; Kors, 2021</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5"/>
              </a:rPr>
              <a:t>10.3390/electronics10131562</a:t>
            </a:r>
            <a:endParaRPr sz="1425" b="0">
              <a:solidFill>
                <a:srgbClr val="000000"/>
              </a:solidFill>
              <a:latin typeface="Times New Roman" panose="02020603050405020304"/>
              <a:ea typeface="Times New Roman" panose="02020603050405020304"/>
              <a:cs typeface="Times New Roman" panose="02020603050405020304"/>
              <a:hlinkClick r:id="rId5"/>
            </a:endParaRPr>
          </a:p>
        </p:txBody>
      </p:sp>
      <p:sp>
        <p:nvSpPr>
          <p:cNvPr id="94" name="Reference 6"/>
          <p:cNvSpPr>
            <a:spLocks noGrp="1"/>
          </p:cNvSpPr>
          <p:nvPr/>
        </p:nvSpPr>
        <p:spPr>
          <a:xfrm>
            <a:off x="352425" y="35909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[6] Yusubov &amp; Bekirova, 2023</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6"/>
              </a:rPr>
              <a:t>10.35784/iapgos.5320</a:t>
            </a:r>
            <a:endParaRPr sz="1425" b="0">
              <a:solidFill>
                <a:srgbClr val="000000"/>
              </a:solidFill>
              <a:latin typeface="Times New Roman" panose="02020603050405020304"/>
              <a:ea typeface="Times New Roman" panose="02020603050405020304"/>
              <a:cs typeface="Times New Roman" panose="02020603050405020304"/>
              <a:hlinkClick r:id="rId6"/>
            </a:endParaRPr>
          </a:p>
        </p:txBody>
      </p:sp>
      <p:sp>
        <p:nvSpPr>
          <p:cNvPr id="95" name="Reference 7"/>
          <p:cNvSpPr>
            <a:spLocks noGrp="1"/>
          </p:cNvSpPr>
          <p:nvPr/>
        </p:nvSpPr>
        <p:spPr>
          <a:xfrm>
            <a:off x="352425" y="40862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[7] Basantes et al., 2023</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7"/>
              </a:rPr>
              <a:t>10.3390/en16062912</a:t>
            </a:r>
            <a:endParaRPr sz="1425" b="0">
              <a:solidFill>
                <a:srgbClr val="000000"/>
              </a:solidFill>
              <a:latin typeface="Times New Roman" panose="02020603050405020304"/>
              <a:ea typeface="Times New Roman" panose="02020603050405020304"/>
              <a:cs typeface="Times New Roman" panose="02020603050405020304"/>
              <a:hlinkClick r:id="rId7"/>
            </a:endParaRPr>
          </a:p>
        </p:txBody>
      </p:sp>
      <p:sp>
        <p:nvSpPr>
          <p:cNvPr id="96" name="Reference 8"/>
          <p:cNvSpPr>
            <a:spLocks noGrp="1"/>
          </p:cNvSpPr>
          <p:nvPr/>
        </p:nvSpPr>
        <p:spPr>
          <a:xfrm>
            <a:off x="352425" y="45815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[8] Sepehrzad et al., 2023</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8"/>
              </a:rPr>
              <a:t>10.1016/j.est.2023.109282</a:t>
            </a:r>
            <a:endParaRPr sz="1425" b="0">
              <a:solidFill>
                <a:srgbClr val="000000"/>
              </a:solidFill>
              <a:latin typeface="Times New Roman" panose="02020603050405020304"/>
              <a:ea typeface="Times New Roman" panose="02020603050405020304"/>
              <a:cs typeface="Times New Roman" panose="02020603050405020304"/>
              <a:hlinkClick r:id="rId8"/>
            </a:endParaRPr>
          </a:p>
        </p:txBody>
      </p:sp>
      <p:sp>
        <p:nvSpPr>
          <p:cNvPr id="97" name="Reference 9"/>
          <p:cNvSpPr>
            <a:spLocks noGrp="1"/>
          </p:cNvSpPr>
          <p:nvPr/>
        </p:nvSpPr>
        <p:spPr>
          <a:xfrm>
            <a:off x="352425" y="50768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[9] Khawaja et al., 2023</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9"/>
              </a:rPr>
              <a:t>10.1016/j.solener.2023.01.027</a:t>
            </a:r>
            <a:endParaRPr sz="1425" b="0">
              <a:solidFill>
                <a:srgbClr val="000000"/>
              </a:solidFill>
              <a:latin typeface="Times New Roman" panose="02020603050405020304"/>
              <a:ea typeface="Times New Roman" panose="02020603050405020304"/>
              <a:cs typeface="Times New Roman" panose="02020603050405020304"/>
              <a:hlinkClick r:id="rId9"/>
            </a:endParaRPr>
          </a:p>
        </p:txBody>
      </p:sp>
      <p:sp>
        <p:nvSpPr>
          <p:cNvPr id="98" name="Reference 10"/>
          <p:cNvSpPr>
            <a:spLocks noGrp="1"/>
          </p:cNvSpPr>
          <p:nvPr/>
        </p:nvSpPr>
        <p:spPr>
          <a:xfrm>
            <a:off x="352425" y="55721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[10] Singh &amp; Maulik, 2023</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0"/>
              </a:rPr>
              <a:t>10.1016/j.segan.2023.101137</a:t>
            </a:r>
            <a:endParaRPr sz="1425" b="0">
              <a:solidFill>
                <a:srgbClr val="000000"/>
              </a:solidFill>
              <a:latin typeface="Times New Roman" panose="02020603050405020304"/>
              <a:ea typeface="Times New Roman" panose="02020603050405020304"/>
              <a:cs typeface="Times New Roman" panose="02020603050405020304"/>
              <a:hlinkClick r:id="rId10"/>
            </a:endParaRPr>
          </a:p>
        </p:txBody>
      </p:sp>
      <p:sp>
        <p:nvSpPr>
          <p:cNvPr id="99" name="Reference 11"/>
          <p:cNvSpPr>
            <a:spLocks noGrp="1"/>
          </p:cNvSpPr>
          <p:nvPr/>
        </p:nvSpPr>
        <p:spPr>
          <a:xfrm>
            <a:off x="4686300" y="11144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[11] Movassagh et al., 2021</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1"/>
              </a:rPr>
              <a:t>10.3390/en14144074</a:t>
            </a:r>
            <a:endParaRPr sz="1425" b="0">
              <a:solidFill>
                <a:srgbClr val="000000"/>
              </a:solidFill>
              <a:latin typeface="Times New Roman" panose="02020603050405020304"/>
              <a:ea typeface="Times New Roman" panose="02020603050405020304"/>
              <a:cs typeface="Times New Roman" panose="02020603050405020304"/>
              <a:hlinkClick r:id="rId11"/>
            </a:endParaRPr>
          </a:p>
        </p:txBody>
      </p:sp>
      <p:sp>
        <p:nvSpPr>
          <p:cNvPr id="100" name="Reference 12"/>
          <p:cNvSpPr>
            <a:spLocks noGrp="1"/>
          </p:cNvSpPr>
          <p:nvPr/>
        </p:nvSpPr>
        <p:spPr>
          <a:xfrm>
            <a:off x="4686300" y="16097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[12] Zhang et al., 2018</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2"/>
              </a:rPr>
              <a:t>10.1016/j.energy.2017.10.043</a:t>
            </a:r>
            <a:endParaRPr sz="1425" b="0">
              <a:solidFill>
                <a:srgbClr val="000000"/>
              </a:solidFill>
              <a:latin typeface="Times New Roman" panose="02020603050405020304"/>
              <a:ea typeface="Times New Roman" panose="02020603050405020304"/>
              <a:cs typeface="Times New Roman" panose="02020603050405020304"/>
              <a:hlinkClick r:id="rId12"/>
            </a:endParaRPr>
          </a:p>
        </p:txBody>
      </p:sp>
      <p:sp>
        <p:nvSpPr>
          <p:cNvPr id="101" name="Reference 13"/>
          <p:cNvSpPr>
            <a:spLocks noGrp="1"/>
          </p:cNvSpPr>
          <p:nvPr/>
        </p:nvSpPr>
        <p:spPr>
          <a:xfrm>
            <a:off x="4686300" y="21050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[13] Gismero et al., 2020</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3"/>
              </a:rPr>
              <a:t>10.3390/en13071811</a:t>
            </a:r>
            <a:endParaRPr sz="1425" b="0">
              <a:solidFill>
                <a:srgbClr val="000000"/>
              </a:solidFill>
              <a:latin typeface="Times New Roman" panose="02020603050405020304"/>
              <a:ea typeface="Times New Roman" panose="02020603050405020304"/>
              <a:cs typeface="Times New Roman" panose="02020603050405020304"/>
              <a:hlinkClick r:id="rId13"/>
            </a:endParaRPr>
          </a:p>
        </p:txBody>
      </p:sp>
      <p:sp>
        <p:nvSpPr>
          <p:cNvPr id="102" name="Reference 14"/>
          <p:cNvSpPr>
            <a:spLocks noGrp="1"/>
          </p:cNvSpPr>
          <p:nvPr/>
        </p:nvSpPr>
        <p:spPr>
          <a:xfrm>
            <a:off x="4686300" y="26003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[14] Yang et al., 2021</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4"/>
              </a:rPr>
              <a:t>10.3390/en14041054</a:t>
            </a:r>
            <a:endParaRPr sz="1425" b="0">
              <a:solidFill>
                <a:srgbClr val="000000"/>
              </a:solidFill>
              <a:latin typeface="Times New Roman" panose="02020603050405020304"/>
              <a:ea typeface="Times New Roman" panose="02020603050405020304"/>
              <a:cs typeface="Times New Roman" panose="02020603050405020304"/>
              <a:hlinkClick r:id="rId14"/>
            </a:endParaRPr>
          </a:p>
        </p:txBody>
      </p:sp>
      <p:sp>
        <p:nvSpPr>
          <p:cNvPr id="103" name="Reference 15"/>
          <p:cNvSpPr>
            <a:spLocks noGrp="1"/>
          </p:cNvSpPr>
          <p:nvPr/>
        </p:nvSpPr>
        <p:spPr>
          <a:xfrm>
            <a:off x="4686300" y="30956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[15] Rzepka et al., 2021</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5"/>
              </a:rPr>
              <a:t>10.3390/en14133733</a:t>
            </a:r>
            <a:endParaRPr sz="1425" b="0">
              <a:solidFill>
                <a:srgbClr val="000000"/>
              </a:solidFill>
              <a:latin typeface="Times New Roman" panose="02020603050405020304"/>
              <a:ea typeface="Times New Roman" panose="02020603050405020304"/>
              <a:cs typeface="Times New Roman" panose="02020603050405020304"/>
              <a:hlinkClick r:id="rId15"/>
            </a:endParaRPr>
          </a:p>
        </p:txBody>
      </p:sp>
      <p:sp>
        <p:nvSpPr>
          <p:cNvPr id="104" name="Reference 16"/>
          <p:cNvSpPr>
            <a:spLocks noGrp="1"/>
          </p:cNvSpPr>
          <p:nvPr/>
        </p:nvSpPr>
        <p:spPr>
          <a:xfrm>
            <a:off x="4686300" y="35909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[16] Zine et al., 2022</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6"/>
              </a:rPr>
              <a:t>10.3390/en15218172</a:t>
            </a:r>
            <a:endParaRPr sz="1425" b="0">
              <a:solidFill>
                <a:srgbClr val="000000"/>
              </a:solidFill>
              <a:latin typeface="Times New Roman" panose="02020603050405020304"/>
              <a:ea typeface="Times New Roman" panose="02020603050405020304"/>
              <a:cs typeface="Times New Roman" panose="02020603050405020304"/>
              <a:hlinkClick r:id="rId16"/>
            </a:endParaRPr>
          </a:p>
        </p:txBody>
      </p:sp>
      <p:sp>
        <p:nvSpPr>
          <p:cNvPr id="105" name="Reference 17"/>
          <p:cNvSpPr>
            <a:spLocks noGrp="1"/>
          </p:cNvSpPr>
          <p:nvPr/>
        </p:nvSpPr>
        <p:spPr>
          <a:xfrm>
            <a:off x="4686300" y="40862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[17] Fahmy et al., 2023</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7"/>
              </a:rPr>
              <a:t>10.3390/en16145558</a:t>
            </a:r>
            <a:endParaRPr sz="1425" b="0">
              <a:solidFill>
                <a:srgbClr val="000000"/>
              </a:solidFill>
              <a:latin typeface="Times New Roman" panose="02020603050405020304"/>
              <a:ea typeface="Times New Roman" panose="02020603050405020304"/>
              <a:cs typeface="Times New Roman" panose="02020603050405020304"/>
              <a:hlinkClick r:id="rId17"/>
            </a:endParaRPr>
          </a:p>
        </p:txBody>
      </p:sp>
      <p:sp>
        <p:nvSpPr>
          <p:cNvPr id="106" name="Reference 18"/>
          <p:cNvSpPr>
            <a:spLocks noGrp="1"/>
          </p:cNvSpPr>
          <p:nvPr/>
        </p:nvSpPr>
        <p:spPr>
          <a:xfrm>
            <a:off x="4686300" y="45815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[18] Wang et al., 2023</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8"/>
              </a:rPr>
              <a:t>10.3390/batteries9010043</a:t>
            </a:r>
            <a:endParaRPr sz="1425" b="0">
              <a:solidFill>
                <a:srgbClr val="000000"/>
              </a:solidFill>
              <a:latin typeface="Times New Roman" panose="02020603050405020304"/>
              <a:ea typeface="Times New Roman" panose="02020603050405020304"/>
              <a:cs typeface="Times New Roman" panose="02020603050405020304"/>
              <a:hlinkClick r:id="rId18"/>
            </a:endParaRPr>
          </a:p>
        </p:txBody>
      </p:sp>
      <p:sp>
        <p:nvSpPr>
          <p:cNvPr id="107" name="Reference 19"/>
          <p:cNvSpPr>
            <a:spLocks noGrp="1"/>
          </p:cNvSpPr>
          <p:nvPr/>
        </p:nvSpPr>
        <p:spPr>
          <a:xfrm>
            <a:off x="4686300" y="50768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[19] Turkmanović et al., 2024</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9"/>
              </a:rPr>
              <a:t>10.3390/electronics13214256</a:t>
            </a:r>
            <a:endParaRPr sz="1425" b="0">
              <a:solidFill>
                <a:srgbClr val="000000"/>
              </a:solidFill>
              <a:latin typeface="Times New Roman" panose="02020603050405020304"/>
              <a:ea typeface="Times New Roman" panose="02020603050405020304"/>
              <a:cs typeface="Times New Roman" panose="02020603050405020304"/>
              <a:hlinkClick r:id="rId19"/>
            </a:endParaRPr>
          </a:p>
        </p:txBody>
      </p:sp>
      <p:sp>
        <p:nvSpPr>
          <p:cNvPr id="108" name="Reference 20"/>
          <p:cNvSpPr>
            <a:spLocks noGrp="1"/>
          </p:cNvSpPr>
          <p:nvPr/>
        </p:nvSpPr>
        <p:spPr>
          <a:xfrm>
            <a:off x="4686300" y="55721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[20] Bampi et al., 2025</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20"/>
              </a:rPr>
              <a:t>10.18618/REP.e202521</a:t>
            </a:r>
            <a:endParaRPr sz="1425" b="0">
              <a:solidFill>
                <a:srgbClr val="000000"/>
              </a:solidFill>
              <a:latin typeface="Times New Roman" panose="02020603050405020304"/>
              <a:ea typeface="Times New Roman" panose="02020603050405020304"/>
              <a:cs typeface="Times New Roman" panose="02020603050405020304"/>
              <a:hlinkClick r:id="rId2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 name="Google Shape;179;p17"/>
          <p:cNvSpPr>
            <a:spLocks noGrp="1"/>
          </p:cNvSpPr>
          <p:nvPr>
            <p:ph type="title"/>
          </p:nvPr>
        </p:nvSpPr>
        <p:spPr>
          <a:xfrm>
            <a:off x="227012" y="2547937"/>
            <a:ext cx="8520112" cy="1122362"/>
          </a:xfrm>
          <a:prstGeom prst="rect">
            <a:avLst/>
          </a:prstGeom>
          <a:noFill/>
          <a:ln>
            <a:noFill/>
          </a:ln>
        </p:spPr>
        <p:txBody>
          <a:bodyPr spcFirstLastPara="1" wrap="square" lIns="47625" tIns="38100" rIns="47625" bIns="38100" anchor="ctr">
            <a:noAutofit/>
          </a:bodyPr>
          <a:lstStyle/>
          <a:p>
            <a:pPr marL="0" lvl="0" indent="0" algn="ctr">
              <a:lnSpc>
                <a:spcPct val="100000"/>
              </a:lnSpc>
              <a:spcBef>
                <a:spcPts val="0"/>
              </a:spcBef>
              <a:spcAft>
                <a:spcPts val="0"/>
              </a:spcAft>
              <a:buSzPts val="3600"/>
              <a:buNone/>
              <a:defRPr sz="3300" b="0">
                <a:solidFill>
                  <a:srgbClr val="000000"/>
                </a:solidFill>
                <a:latin typeface="Arial" panose="020B0604020202020204"/>
                <a:ea typeface="Arial" panose="020B0604020202020204"/>
                <a:cs typeface="Arial" panose="020B0604020202020204"/>
              </a:defRPr>
            </a:pPr>
            <a:r>
              <a:rPr sz="3300" b="0" i="0" u="none">
                <a:solidFill>
                  <a:srgbClr val="000000"/>
                </a:solidFill>
                <a:latin typeface="Arial" panose="020B0604020202020204"/>
                <a:ea typeface="Arial" panose="020B0604020202020204"/>
                <a:cs typeface="Arial" panose="020B0604020202020204"/>
              </a:rPr>
              <a:t>Thank You</a:t>
            </a:r>
            <a:endParaRPr sz="3300" b="0" i="0" u="none">
              <a:solidFill>
                <a:srgbClr val="000000"/>
              </a:solidFill>
              <a:latin typeface="Arial" panose="020B0604020202020204"/>
              <a:ea typeface="Arial" panose="020B0604020202020204"/>
              <a:cs typeface="Arial" panose="020B0604020202020204"/>
            </a:endParaRPr>
          </a:p>
          <a:p>
            <a:pPr marL="0" lvl="0" indent="0" algn="ctr">
              <a:lnSpc>
                <a:spcPct val="100000"/>
              </a:lnSpc>
              <a:spcBef>
                <a:spcPts val="0"/>
              </a:spcBef>
              <a:spcAft>
                <a:spcPts val="0"/>
              </a:spcAft>
              <a:buSzPts val="3600"/>
              <a:buNone/>
              <a:defRPr sz="3300" b="0">
                <a:solidFill>
                  <a:srgbClr val="000000"/>
                </a:solidFill>
                <a:latin typeface="Arial" panose="020B0604020202020204"/>
                <a:ea typeface="Arial" panose="020B0604020202020204"/>
                <a:cs typeface="Arial" panose="020B0604020202020204"/>
              </a:defRPr>
            </a:pPr>
            <a:r>
              <a:rPr sz="3300" b="0" i="0" u="none">
                <a:solidFill>
                  <a:srgbClr val="000000"/>
                </a:solidFill>
                <a:latin typeface="Arial" panose="020B0604020202020204"/>
                <a:ea typeface="Arial" panose="020B0604020202020204"/>
                <a:cs typeface="Arial" panose="020B0604020202020204"/>
              </a:rPr>
              <a:t>Questions and Discussion</a:t>
            </a:r>
            <a:endParaRPr sz="3300" b="0" i="0" u="none">
              <a:solidFill>
                <a:srgbClr val="000000"/>
              </a:solidFill>
              <a:latin typeface="Arial" panose="020B0604020202020204"/>
              <a:ea typeface="Arial" panose="020B0604020202020204"/>
              <a:cs typeface="Arial" panose="020B0604020202020204"/>
            </a:endParaRPr>
          </a:p>
        </p:txBody>
      </p:sp>
      <p:sp>
        <p:nvSpPr>
          <p:cNvPr id="180" name="Google Shape;180;p17"/>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327921A4-25C4-3DB4-06B1-32693CEE2241}"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8082</Words>
  <Application>WPS Presentation</Application>
  <PresentationFormat>Converted Presentation</PresentationFormat>
  <Paragraphs>620</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14</vt:i4>
      </vt:variant>
    </vt:vector>
  </HeadingPairs>
  <TitlesOfParts>
    <vt:vector size="24" baseType="lpstr">
      <vt:lpstr>Arial</vt:lpstr>
      <vt:lpstr>SimSun</vt:lpstr>
      <vt:lpstr>Wingdings</vt:lpstr>
      <vt:lpstr>Arial</vt:lpstr>
      <vt:lpstr>Times New Roman</vt:lpstr>
      <vt:lpstr>Cambria</vt:lpstr>
      <vt:lpstr>Microsoft YaHei</vt:lpstr>
      <vt:lpstr>Arial Unicode MS</vt:lpstr>
      <vt:lpstr>Simple Light</vt:lpstr>
      <vt:lpstr>1_Simple Light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Questions and Discussion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dhane</cp:lastModifiedBy>
  <cp:revision>1</cp:revision>
  <dcterms:created xsi:type="dcterms:W3CDTF">2026-10-02T11:09:46Z</dcterms:created>
  <dcterms:modified xsi:type="dcterms:W3CDTF">2026-10-02T11:09:46Z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0B117BFF49B44720B8F69B9AF99857D6_12</vt:lpwstr>
  </property>
  <property fmtid="{D5CDD505-2E9C-101B-9397-08002B2CF9AE}" pid="3" name="KSOProductBuildVer">
    <vt:lpwstr>2057-12.2.0.23206</vt:lpwstr>
  </property>
</Properties>
</file>