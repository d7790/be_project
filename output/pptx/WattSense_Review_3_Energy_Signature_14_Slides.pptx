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043e2a36b345c1" /><Relationship Type="http://schemas.openxmlformats.org/officeDocument/2006/relationships/extended-properties" Target="/docProps/app.xml" Id="R84b3ebbe21044f7a" /><Relationship Type="http://schemas.openxmlformats.org/officeDocument/2006/relationships/officeDocument" Target="/ppt/presentation.xml" Id="R44ce8830d6084959" /></Relationships>
</file>

<file path=ppt/presentation.xml><?xml version="1.0" encoding="utf-8"?>
<p:presentation xmlns:p="http://schemas.openxmlformats.org/presentationml/2006/main">
  <p:sldMasterIdLst>
    <p:sldMasterId xmlns:r="http://schemas.openxmlformats.org/officeDocument/2006/relationships" id="2147483648" r:id="R3035d2e923b444b8"/>
    <p:sldMasterId xmlns:r="http://schemas.openxmlformats.org/officeDocument/2006/relationships" id="2147483659" r:id="R20eddfbaf4b04ba6"/>
  </p:sldMasterIdLst>
  <p:notesMasterIdLst>
    <p:notesMasterId xmlns:r="http://schemas.openxmlformats.org/officeDocument/2006/relationships" r:id="R0ddda2735e884287"/>
  </p:notesMasterIdLst>
  <p:sldIdLst>
    <p:sldId xmlns:r="http://schemas.openxmlformats.org/officeDocument/2006/relationships" id="256" r:id="R9c9c637175bf4031"/>
    <p:sldId xmlns:r="http://schemas.openxmlformats.org/officeDocument/2006/relationships" id="257" r:id="R2cf23bf6cb4a4423"/>
    <p:sldId xmlns:r="http://schemas.openxmlformats.org/officeDocument/2006/relationships" id="258" r:id="R8af5d98b86114841"/>
    <p:sldId xmlns:r="http://schemas.openxmlformats.org/officeDocument/2006/relationships" id="259" r:id="Rdb0bd2c67e5f4aac"/>
    <p:sldId xmlns:r="http://schemas.openxmlformats.org/officeDocument/2006/relationships" id="260" r:id="Rc9794b1f569f42d2"/>
    <p:sldId xmlns:r="http://schemas.openxmlformats.org/officeDocument/2006/relationships" id="261" r:id="R2bfa8c20bc15421f"/>
    <p:sldId xmlns:r="http://schemas.openxmlformats.org/officeDocument/2006/relationships" id="262" r:id="R84abca19ba524f76"/>
    <p:sldId xmlns:r="http://schemas.openxmlformats.org/officeDocument/2006/relationships" id="263" r:id="Rfabe554e0a8641f4"/>
    <p:sldId xmlns:r="http://schemas.openxmlformats.org/officeDocument/2006/relationships" id="264" r:id="R192e5a142f2e458f"/>
    <p:sldId xmlns:r="http://schemas.openxmlformats.org/officeDocument/2006/relationships" id="265" r:id="R083f6a1140324308"/>
    <p:sldId xmlns:r="http://schemas.openxmlformats.org/officeDocument/2006/relationships" id="266" r:id="R3a7998afdd094d1c"/>
    <p:sldId xmlns:r="http://schemas.openxmlformats.org/officeDocument/2006/relationships" id="267" r:id="Ra74f0fcf103b4a6c"/>
    <p:sldId xmlns:r="http://schemas.openxmlformats.org/officeDocument/2006/relationships" id="268" r:id="R1b453e2430e04858"/>
    <p:sldId xmlns:r="http://schemas.openxmlformats.org/officeDocument/2006/relationships" id="269" r:id="R08ad993b9c284b44"/>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4d9358b036e462d" /><Relationship Type="http://schemas.openxmlformats.org/officeDocument/2006/relationships/slideMaster" Target="/ppt/slideMasters/slideMaster1.xml" Id="R3035d2e923b444b8" /><Relationship Type="http://schemas.openxmlformats.org/officeDocument/2006/relationships/slideMaster" Target="/ppt/slideMasters/slideMaster2.xml" Id="R20eddfbaf4b04ba6" /><Relationship Type="http://schemas.openxmlformats.org/officeDocument/2006/relationships/notesMaster" Target="/ppt/notesMasters/notesMaster1.xml" Id="R0ddda2735e884287" /><Relationship Type="http://schemas.openxmlformats.org/officeDocument/2006/relationships/presProps" Target="/ppt/presProps.xml" Id="Rac15eba8ee7947b3" /><Relationship Type="http://schemas.openxmlformats.org/officeDocument/2006/relationships/viewProps" Target="/ppt/viewProps.xml" Id="Rd3b217e5c18948df" /><Relationship Type="http://schemas.openxmlformats.org/officeDocument/2006/relationships/tableStyles" Target="/ppt/tableStyles.xml" Id="R6b1234091ea148fa" /><Relationship Type="http://schemas.openxmlformats.org/officeDocument/2006/relationships/slide" Target="/ppt/slides/slide1.xml" Id="R9c9c637175bf4031" /><Relationship Type="http://schemas.openxmlformats.org/officeDocument/2006/relationships/slide" Target="/ppt/slides/slide2.xml" Id="R2cf23bf6cb4a4423" /><Relationship Type="http://schemas.openxmlformats.org/officeDocument/2006/relationships/slide" Target="/ppt/slides/slide3.xml" Id="R8af5d98b86114841" /><Relationship Type="http://schemas.openxmlformats.org/officeDocument/2006/relationships/slide" Target="/ppt/slides/slide4.xml" Id="Rdb0bd2c67e5f4aac" /><Relationship Type="http://schemas.openxmlformats.org/officeDocument/2006/relationships/slide" Target="/ppt/slides/slide5.xml" Id="Rc9794b1f569f42d2" /><Relationship Type="http://schemas.openxmlformats.org/officeDocument/2006/relationships/slide" Target="/ppt/slides/slide6.xml" Id="R2bfa8c20bc15421f" /><Relationship Type="http://schemas.openxmlformats.org/officeDocument/2006/relationships/slide" Target="/ppt/slides/slide7.xml" Id="R84abca19ba524f76" /><Relationship Type="http://schemas.openxmlformats.org/officeDocument/2006/relationships/slide" Target="/ppt/slides/slide8.xml" Id="Rfabe554e0a8641f4" /><Relationship Type="http://schemas.openxmlformats.org/officeDocument/2006/relationships/slide" Target="/ppt/slides/slide9.xml" Id="R192e5a142f2e458f" /><Relationship Type="http://schemas.openxmlformats.org/officeDocument/2006/relationships/slide" Target="/ppt/slides/slide10.xml" Id="R083f6a1140324308" /><Relationship Type="http://schemas.openxmlformats.org/officeDocument/2006/relationships/slide" Target="/ppt/slides/slide11.xml" Id="R3a7998afdd094d1c" /><Relationship Type="http://schemas.openxmlformats.org/officeDocument/2006/relationships/slide" Target="/ppt/slides/slide12.xml" Id="Ra74f0fcf103b4a6c" /><Relationship Type="http://schemas.openxmlformats.org/officeDocument/2006/relationships/slide" Target="/ppt/slides/slide13.xml" Id="R1b453e2430e04858" /><Relationship Type="http://schemas.openxmlformats.org/officeDocument/2006/relationships/slide" Target="/ppt/slides/slide14.xml" Id="R08ad993b9c284b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4f92199f0f54f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49a87aefe64715" /><Relationship Type="http://schemas.openxmlformats.org/officeDocument/2006/relationships/notesMaster" Target="/ppt/notesMasters/notesMaster1.xml" Id="R4bb38404a08e43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cb11e2e6a249f9" /><Relationship Type="http://schemas.openxmlformats.org/officeDocument/2006/relationships/notesMaster" Target="/ppt/notesMasters/notesMaster1.xml" Id="Raa3299a3b9d241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ccaf7eba7640b9" /><Relationship Type="http://schemas.openxmlformats.org/officeDocument/2006/relationships/notesMaster" Target="/ppt/notesMasters/notesMaster1.xml" Id="R0cc9f5a43c9c41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422587f9246d6" /><Relationship Type="http://schemas.openxmlformats.org/officeDocument/2006/relationships/notesMaster" Target="/ppt/notesMasters/notesMaster1.xml" Id="Rd0d6eecfa87149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f336f942734bea" /><Relationship Type="http://schemas.openxmlformats.org/officeDocument/2006/relationships/notesMaster" Target="/ppt/notesMasters/notesMaster1.xml" Id="R126a7bfeec4142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96f83440b647e3" /><Relationship Type="http://schemas.openxmlformats.org/officeDocument/2006/relationships/notesMaster" Target="/ppt/notesMasters/notesMaster1.xml" Id="R2622f7a5971540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08c4d7f7b44959" /><Relationship Type="http://schemas.openxmlformats.org/officeDocument/2006/relationships/notesMaster" Target="/ppt/notesMasters/notesMaster1.xml" Id="R4081a5475d7d49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997e28a8944edb" /><Relationship Type="http://schemas.openxmlformats.org/officeDocument/2006/relationships/notesMaster" Target="/ppt/notesMasters/notesMaster1.xml" Id="Rb6617a4d63bb4b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570bb8c63f47aa" /><Relationship Type="http://schemas.openxmlformats.org/officeDocument/2006/relationships/notesMaster" Target="/ppt/notesMasters/notesMaster1.xml" Id="Re03dde79d24142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53a07484ab48c0" /><Relationship Type="http://schemas.openxmlformats.org/officeDocument/2006/relationships/notesMaster" Target="/ppt/notesMasters/notesMaster1.xml" Id="Rf585bdd68c5343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1a065836424353" /><Relationship Type="http://schemas.openxmlformats.org/officeDocument/2006/relationships/notesMaster" Target="/ppt/notesMasters/notesMaster1.xml" Id="R12684a8c2ff7469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82d56baf064eee" /><Relationship Type="http://schemas.openxmlformats.org/officeDocument/2006/relationships/notesMaster" Target="/ppt/notesMasters/notesMaster1.xml" Id="R42375f8573f04b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5ba8b2fc074b0e" /><Relationship Type="http://schemas.openxmlformats.org/officeDocument/2006/relationships/notesMaster" Target="/ppt/notesMasters/notesMaster1.xml" Id="Rbb969239acc04c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fe9e54b51543f3" /><Relationship Type="http://schemas.openxmlformats.org/officeDocument/2006/relationships/notesMaster" Target="/ppt/notesMasters/notesMaster1.xml" Id="R3bd572e828e14a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main project focus is energy-signature analysis, load-energy estimation and battery-runtime estimation. Group 7 and guide Mahesh Sapte were confirmed on 3 October 2026. The two unconfirmed roll numbers are intentionally blank. This title replaces the earlier priority-load demonstration framing for this review; existing code and hardware have not been changed by preparing these slides.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steering and confirmed team details, 3 October 2026</a:t>
            </a:r>
            <a:endParaRPr/>
          </a:p>
          <a:p xmlns:a="http://schemas.openxmlformats.org/drawingml/2006/main">
            <a:pPr marL="0" lvl="0" indent="0" algn="l">
              <a:spcBef>
                <a:spcPts val="0"/>
              </a:spcBef>
              <a:spcAft>
                <a:spcPts val="0"/>
              </a:spcAft>
              <a:buNone/>
            </a:pPr>
            <a:r>
              <a:t>sih 2026 shubham.pptx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restored SIH USP is signature-based load detection and energy estimation linked to battery backup. Signature matching and the dataset remain proposed work. The present monitoring foundation comprises firmware, synthetic demonstration, charge/runtime software, local logging and a routed four-layer PCB. The prototype scope is selected known DC loads; the current PCB does not directly measure household AC appliances. Automatic matching after initial training differs from universal zero-configuration recognition. No classifier accuracy or physical energy/runtime measurement is currently available.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wattsense/server.py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our small DC prototype.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Priority switching and NILM are established prior work. The contribution is a reproducible student implementation and evaluation of a known-load DC prototype, not a new universal recognition algorithm. Classifier outputs need UNKNOWN/ambiguous rejection. Similar patterns, combinations, converter efficiency and controller overhead may limit identification and energy attribution. Battery-runtime estimates depend on a valid starting reference and independently established capacity. The present INA219 acquisition chain does not capture AC voltage-current trajectories, reactive power or high-frequency harmonics.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literature.json: Athanasiadis, Mollel, Xiang and Li sources</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work starts with a small known-load library. A signature consists of slow current/power changes and behaviour, not a unique guaranteed fingerprint. Recognition, energy estimation and runtime estimation are separate evaluation tasks. Labels and independent instruments are needed for ground truth. No numeric recognition target is presented as an achieved score. A profile-based estimate states its usage scenario; a battery percentage alone cannot determine duration.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USP correction, 3 October 2026</a:t>
            </a:r>
            <a:endParaRPr/>
          </a:p>
          <a:p xmlns:a="http://schemas.openxmlformats.org/drawingml/2006/main">
            <a:pPr marL="0" lvl="0" indent="0" algn="l">
              <a:spcBef>
                <a:spcPts val="0"/>
              </a:spcBef>
              <a:spcAft>
                <a:spcPts val="0"/>
              </a:spcAft>
              <a:buNone/>
            </a:pPr>
            <a:r>
              <a:t>docs/TEST_PLAN.md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an information-flow diagram, not a wiring diagram. Sensor U1 measures net battery current; U2 measures aggregate converter-input/load demand; U3 is a charging-input channel initially disabled. Individual appliance current is not directly measured by three separate appliance sensors. Selected known-load training uses controlled sessions on the same measurement path. Estimate attributable load energy with reference measurements and consistent converter/controller overhead; do not equate converter-input energy with appliance-terminal energy without calibration. The first signature engine will run in local Python. Firmware currently samples nominally 10 Hz but emits JSON at approximately 1 Hz, so a qualified raw-rate logger must be implemented. Use slow/event features appropriate to verified sampling, not harmonic fingerprints. SOC needs a legitimate full reference and capacity basis; it starts unknown. Existing hardware outputs remain disabled until staged qualification. The four-layer 100 x 90 mm PCB is designed, not assembled. Purchased BMS/charger retain their own protection and charge regulation duties.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firmware/include/controller.h</a:t>
            </a:r>
            <a:endParaRPr/>
          </a:p>
          <a:p xmlns:a="http://schemas.openxmlformats.org/drawingml/2006/main">
            <a:pPr marL="0" lvl="0" indent="0" algn="l">
              <a:spcBef>
                <a:spcPts val="0"/>
              </a:spcBef>
              <a:spcAft>
                <a:spcPts val="0"/>
              </a:spcAft>
              <a:buNone/>
            </a:pPr>
            <a:r>
              <a:t>docs/LAB_START_GUIDE.md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There is no measured signature dataset at present. Start with 4–6 load types whose voltage and current are compatible with the actual converter and PCB limits; exact products have not been selected. Record the true device/state and sample timing. First use one load, then held-out combinations and unseen loads. Split by complete session, preferably across battery levels, rather than neighbouring windows from the same recording. Record source=measured or simulated, instrument calibration, converter conditions and controller supply arrangement. The selected feature set must reflect actual timing and sensor bandwidth; 1 Hz CSV data cannot validate short startup features. Aggregate demand alone may not separate similar devices. Unknown/ambiguous outcomes are required.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wattsense/server.py</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literature.json: Mollel and Xiang 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test counts are from the 30 September 2026 foundation audit and do not validate a signature classifier. Recognition metrics apply only after a labelled dataset exists. Report macro F1/confusion matrices and unseen-device false acceptance separately. Compare energy at the same physical measurement point, accounting for reference uncertainty. Compute power from calibrated voltage and current and integrate with actual sample timing. Runtime estimates should be compared against independently observed normal discharge endpoints under defined usage profiles, with repeated runs. Use the measured usable battery energy rather than treating nominal voltage x capacity as exact. Percentage runtime error is meaningful only for non-zero reference durations. No classifier score, energy savings percentage or household compatibility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simulations/hardware-assumptions.json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months are proposed planning stages, not confirmed delivery dates or completed activity. The user places final submission next semester. The restored signature USP requires dataset collection and new analysis software; prior firmware/software tests cover the monitoring foundation. The existing INR 9,700 allocation has not been confirmed by delivered quotes and does not fund a re-spin or solar purchase. Keep core DC scope practical. No hardware, classifier or cloud module has been created by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 scope correction, 3 October 2026</a:t>
            </a:r>
            <a:endParaRPr/>
          </a:p>
          <a:p xmlns:a="http://schemas.openxmlformats.org/drawingml/2006/main">
            <a:pPr marL="0" lvl="0" indent="0" algn="l">
              <a:spcBef>
                <a:spcPts val="0"/>
              </a:spcBef>
              <a:spcAft>
                <a:spcPts val="0"/>
              </a:spcAft>
              <a:buNone/>
            </a:pPr>
            <a:r>
              <a:t>docs/NEXT_STEPS.md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Our central idea is to connect measured load signatures with energy use and battery backup. Current Review 3 evidence is the monitoring, estimation-software, CAD and model foundation. Next is a calibrated prototype, measured known-load dataset and independent evaluation. The trained matching stage will recognise selected loads and report unknown/ambiguous cases.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fe8a95c49d46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ea7a917c4349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32e82b7e314b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911b121ffd4b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6470dfdac445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a46a255e194a0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61eb2a1ba4f4fd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e7a38a7d5d249d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acc523146004d5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dd98e24fde4453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3093efa8cf0f4b88"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E5B4C0B8-6C64-4EBE-9C33-B2D259E51E40}"/>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874531AB-A6A1-48E8-B4EE-9E7992BB4521}"/>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67E57035-E877-4066-B213-52C075E2ED5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7E1E80E8-C545-4E27-ADA1-0498D735362F}"/>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74631FD0-922F-4D31-89E9-2917049AEDC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14972B93-00F7-4F56-B82E-52C0DE7F583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7C33D9C1-37D3-4A1B-BBA1-E9199206DF8E}"/>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6E76C843-BC4C-4A79-8601-BF7728118B90}"/>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1749F00D-CF16-4ACC-B40D-E9B89CFB87D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D59954F7-1414-4024-8DAA-5FB2E5187667}"/>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D042B894-584C-4E57-A804-425F527BF2AC}"/>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514D2319-0296-462E-A244-40704CCA79A9}"/>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61B53B68-89D9-48AE-B5FA-B7B75E92408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DC6840A9-2984-45DA-8B60-87CB0AF88D28}"/>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7E02C5BD-9A11-4A1D-B450-A0075144F934}"/>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FBDB85B3-B730-4B90-979A-C25994598043}"/>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36396BE8-B2EC-4BD5-BDC2-557139ABF307}"/>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3066CBB9-F296-42F5-BD25-73387B0163E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0AA790E4-3C94-4BDD-90D5-85808CE10A75}"/>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439AD41C-8893-4CFD-BA8A-2D0901637D68}"/>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1EE2F66B-6D14-4A25-9701-5146552D6BAA}"/>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7034417C-E917-4A94-904C-F46C5D2AD92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AE0C1CC1-6189-4558-B6CA-1B218C70A12D}"/>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8CB72EE8-AF37-4F72-A35A-4C70F69C56E7}"/>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9C4BE504-7E64-425B-940A-096D6EF1444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A4445716-51DC-4E6F-ABE0-CE8BB30389D8}"/>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1E21D28B-9389-40AD-9D11-7F51ED0E6F3B}"/>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E8661561-5CA6-4E30-8B8B-DE489EBCF1B8}"/>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162FC17F-4D63-4559-9908-866B31E612D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e6ae381e894c63" /><Relationship Type="http://schemas.openxmlformats.org/officeDocument/2006/relationships/slideLayout" Target="/ppt/slideLayouts/slideLayout1.xml" Id="R5a1a84f6448d47e0" /><Relationship Type="http://schemas.openxmlformats.org/officeDocument/2006/relationships/slideLayout" Target="/ppt/slideLayouts/slideLayout2.xml" Id="R72a708dc6bae4b36" /><Relationship Type="http://schemas.openxmlformats.org/officeDocument/2006/relationships/slideLayout" Target="/ppt/slideLayouts/slideLayout3.xml" Id="R25f242d0dcc74a09" /><Relationship Type="http://schemas.openxmlformats.org/officeDocument/2006/relationships/slideLayout" Target="/ppt/slideLayouts/slideLayout4.xml" Id="R4e082df3535549a3" /><Relationship Type="http://schemas.openxmlformats.org/officeDocument/2006/relationships/slideLayout" Target="/ppt/slideLayouts/slideLayout5.xml" Id="Ra583948de7664263" /><Relationship Type="http://schemas.openxmlformats.org/officeDocument/2006/relationships/slideLayout" Target="/ppt/slideLayouts/slideLayout6.xml" Id="R0feda052a4f44a09" /><Relationship Type="http://schemas.openxmlformats.org/officeDocument/2006/relationships/slideLayout" Target="/ppt/slideLayouts/slideLayout7.xml" Id="R070f6bb3669643db" /><Relationship Type="http://schemas.openxmlformats.org/officeDocument/2006/relationships/slideLayout" Target="/ppt/slideLayouts/slideLayout8.xml" Id="R8492bceffdac4ec9" /><Relationship Type="http://schemas.openxmlformats.org/officeDocument/2006/relationships/slideLayout" Target="/ppt/slideLayouts/slideLayout9.xml" Id="R8a1d3c190c3b45bd" /><Relationship Type="http://schemas.openxmlformats.org/officeDocument/2006/relationships/slideLayout" Target="/ppt/slideLayouts/slideLayout10.xml" Id="R5e9ea8cc67cb40a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fb30b6ef7874716" /><Relationship Type="http://schemas.openxmlformats.org/officeDocument/2006/relationships/slideLayout" Target="/ppt/slideLayouts/slideLayout11.xml" Id="Ra2c26f5018ea4bda"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5668B0CC-AA15-4896-B7C9-319F1814FEC0}"/>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98FBE375-84A6-4789-AB74-C1C4B13ECC83}"/>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24B8F701-DA32-42A7-B702-973810937D4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a1a84f6448d47e0"/>
    <p:sldLayoutId xmlns:r="http://schemas.openxmlformats.org/officeDocument/2006/relationships" id="2147483650" r:id="R72a708dc6bae4b36"/>
    <p:sldLayoutId xmlns:r="http://schemas.openxmlformats.org/officeDocument/2006/relationships" id="2147483651" r:id="R25f242d0dcc74a09"/>
    <p:sldLayoutId xmlns:r="http://schemas.openxmlformats.org/officeDocument/2006/relationships" id="2147483652" r:id="R4e082df3535549a3"/>
    <p:sldLayoutId xmlns:r="http://schemas.openxmlformats.org/officeDocument/2006/relationships" id="2147483653" r:id="Ra583948de7664263"/>
    <p:sldLayoutId xmlns:r="http://schemas.openxmlformats.org/officeDocument/2006/relationships" id="2147483654" r:id="R0feda052a4f44a09"/>
    <p:sldLayoutId xmlns:r="http://schemas.openxmlformats.org/officeDocument/2006/relationships" id="2147483655" r:id="R070f6bb3669643db"/>
    <p:sldLayoutId xmlns:r="http://schemas.openxmlformats.org/officeDocument/2006/relationships" id="2147483656" r:id="R8492bceffdac4ec9"/>
    <p:sldLayoutId xmlns:r="http://schemas.openxmlformats.org/officeDocument/2006/relationships" id="2147483657" r:id="R8a1d3c190c3b45bd"/>
    <p:sldLayoutId xmlns:r="http://schemas.openxmlformats.org/officeDocument/2006/relationships" id="2147483658" r:id="R5e9ea8cc67cb40a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733CCBD7-2EA1-4A0C-99F9-548A630B3816}"/>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23C20F9D-8C6A-43DB-9856-57DE010275DA}"/>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751404BB-4C65-4CAB-9951-154121C8EBB3}"/>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2A869453-843B-456C-A066-5B6B726EC23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a2c26f5018ea4bda"/>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d307f7a4054701" /><Relationship Type="http://schemas.openxmlformats.org/officeDocument/2006/relationships/image" Target="/ppt/media/image.png" Id="R758cdd9df5d444e4" /><Relationship Type="http://schemas.openxmlformats.org/officeDocument/2006/relationships/image" Target="/ppt/media/image2.png" Id="Rd1781d4bd5a140cc" /><Relationship Type="http://schemas.openxmlformats.org/officeDocument/2006/relationships/notesSlide" Target="/ppt/notesSlides/notesSlide1.xml" Id="Ra641152df78044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4f13a9e925c4404" /><Relationship Type="http://schemas.openxmlformats.org/officeDocument/2006/relationships/notesSlide" Target="/ppt/notesSlides/notesSlide2.xml" Id="R3ea6d1f7441e40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85c749b207242b5" /><Relationship Type="http://schemas.openxmlformats.org/officeDocument/2006/relationships/notesSlide" Target="/ppt/notesSlides/notesSlide3.xml" Id="Rfe9120b25ef945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46b5fcaa9b94fd5" /><Relationship Type="http://schemas.openxmlformats.org/officeDocument/2006/relationships/notesSlide" Target="/ppt/notesSlides/notesSlide4.xml" Id="R2c92852d61124b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71e60b62d374fa6" /><Relationship Type="http://schemas.openxmlformats.org/officeDocument/2006/relationships/notesSlide" Target="/ppt/notesSlides/notesSlide5.xml" Id="R8d2acbb839574d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c558843855144ec" /><Relationship Type="http://schemas.openxmlformats.org/officeDocument/2006/relationships/notesSlide" Target="/ppt/notesSlides/notesSlide6.xml" Id="Rc63834b9093a41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9e5b037ca15410d" /><Relationship Type="http://schemas.openxmlformats.org/officeDocument/2006/relationships/notesSlide" Target="/ppt/notesSlides/notesSlide7.xml" Id="Re176760fbcbd42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3ed78cbd1614a45" /><Relationship Type="http://schemas.openxmlformats.org/officeDocument/2006/relationships/notesSlide" Target="/ppt/notesSlides/notesSlide8.xml" Id="R6dae56c9079245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06effb06166406d" /><Relationship Type="http://schemas.openxmlformats.org/officeDocument/2006/relationships/notesSlide" Target="/ppt/notesSlides/notesSlide9.xml" Id="R8ea43a06e113464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77e7d4870a024f6a" /><Relationship Type="http://schemas.openxmlformats.org/officeDocument/2006/relationships/notesSlide" Target="/ppt/notesSlides/notesSlide10.xml" Id="R81aa22363c3f45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58548fbcc4c4476" /><Relationship Type="http://schemas.openxmlformats.org/officeDocument/2006/relationships/notesSlide" Target="/ppt/notesSlides/notesSlide11.xml" Id="R3def409e67a149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8189cd18c074c6b" /><Relationship Type="http://schemas.openxmlformats.org/officeDocument/2006/relationships/notesSlide" Target="/ppt/notesSlides/notesSlide12.xml" Id="Re835cbea12a74e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e7ae697e11b849a6" /><Relationship Type="http://schemas.openxmlformats.org/officeDocument/2006/relationships/hyperlink" Target="https://doi.org/10.3390/en14030767" TargetMode="External" Id="Rdce15443b59a41dd" /><Relationship Type="http://schemas.openxmlformats.org/officeDocument/2006/relationships/hyperlink" Target="https://doi.org/10.3390/s23104845" TargetMode="External" Id="R9b7040513df04002" /><Relationship Type="http://schemas.openxmlformats.org/officeDocument/2006/relationships/hyperlink" Target="https://doi.org/10.3390/inventions11020029" TargetMode="External" Id="R8c847194f167426b" /><Relationship Type="http://schemas.openxmlformats.org/officeDocument/2006/relationships/hyperlink" Target="https://doi.org/10.3390/en19081883" TargetMode="External" Id="R9c075b984dd9499a" /><Relationship Type="http://schemas.openxmlformats.org/officeDocument/2006/relationships/hyperlink" Target="https://doi.org/10.3390/en19133131" TargetMode="External" Id="Rc6248745efa44b08" /><Relationship Type="http://schemas.openxmlformats.org/officeDocument/2006/relationships/hyperlink" Target="https://doi.org/10.3390/en14144074" TargetMode="External" Id="Rfdc99374926a49ec" /><Relationship Type="http://schemas.openxmlformats.org/officeDocument/2006/relationships/hyperlink" Target="https://doi.org/10.1016/j.energy.2017.10.043" TargetMode="External" Id="Rd09ec7ecc34e4170" /><Relationship Type="http://schemas.openxmlformats.org/officeDocument/2006/relationships/hyperlink" Target="https://doi.org/10.3390/en13071811" TargetMode="External" Id="R535aaf29e2884e94" /><Relationship Type="http://schemas.openxmlformats.org/officeDocument/2006/relationships/hyperlink" Target="https://doi.org/10.3390/en14041054" TargetMode="External" Id="Reeb71ff998e7479e" /><Relationship Type="http://schemas.openxmlformats.org/officeDocument/2006/relationships/hyperlink" Target="https://doi.org/10.3390/en14133733" TargetMode="External" Id="R768f39802b214495" /><Relationship Type="http://schemas.openxmlformats.org/officeDocument/2006/relationships/hyperlink" Target="https://doi.org/10.3390/en15218172" TargetMode="External" Id="R22f4640f83eb46ef" /><Relationship Type="http://schemas.openxmlformats.org/officeDocument/2006/relationships/hyperlink" Target="https://doi.org/10.3390/en16145558" TargetMode="External" Id="Reff288298a0e4a9f" /><Relationship Type="http://schemas.openxmlformats.org/officeDocument/2006/relationships/hyperlink" Target="https://doi.org/10.3390/batteries9010043" TargetMode="External" Id="R9e90e91dcff64a8d" /><Relationship Type="http://schemas.openxmlformats.org/officeDocument/2006/relationships/hyperlink" Target="https://doi.org/10.3390/electronics13214256" TargetMode="External" Id="Rd7c0e6b336bf4ced" /><Relationship Type="http://schemas.openxmlformats.org/officeDocument/2006/relationships/hyperlink" Target="https://doi.org/10.18618/REP.e202521" TargetMode="External" Id="Rcc9937e126554f05" /><Relationship Type="http://schemas.openxmlformats.org/officeDocument/2006/relationships/hyperlink" Target="https://doi.org/10.1016/j.egyr.2020.11.030" TargetMode="External" Id="Rcc0d98b2aa78455d" /><Relationship Type="http://schemas.openxmlformats.org/officeDocument/2006/relationships/hyperlink" Target="https://doi.org/10.1049/stg2.12151" TargetMode="External" Id="R6ba646bbaf704326" /><Relationship Type="http://schemas.openxmlformats.org/officeDocument/2006/relationships/hyperlink" Target="https://doi.org/10.3390/electronics10131562" TargetMode="External" Id="Rf6e563dffa3e4794" /><Relationship Type="http://schemas.openxmlformats.org/officeDocument/2006/relationships/hyperlink" Target="https://doi.org/10.35784/iapgos.5320" TargetMode="External" Id="R2a96f4cd3a49422a" /><Relationship Type="http://schemas.openxmlformats.org/officeDocument/2006/relationships/hyperlink" Target="https://doi.org/10.3390/en16062912" TargetMode="External" Id="Rdd1008f2c9c94970" /><Relationship Type="http://schemas.openxmlformats.org/officeDocument/2006/relationships/notesSlide" Target="/ppt/notesSlides/notesSlide13.xml" Id="R280054218a6d43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effe0c56ff14a0e" /><Relationship Type="http://schemas.openxmlformats.org/officeDocument/2006/relationships/notesSlide" Target="/ppt/notesSlides/notesSlide14.xml" Id="R7f9d47fb984d4115"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5BD935C8-C207-48A9-BB84-FBC0FA0DC024}"/>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B286C5A7-412A-4531-B597-767B324CF0EE}"/>
              </a:ext>
            </a:extLst>
          </p:cNvPr>
          <p:cNvSpPr>
            <a:spLocks xmlns:a="http://schemas.openxmlformats.org/drawingml/2006/main" noGrp="1"/>
          </p:cNvSpPr>
          <p:nvPr/>
        </p:nvSpPr>
        <p:spPr>
          <a:xfrm xmlns:a="http://schemas.openxmlformats.org/drawingml/2006/main">
            <a:off x="190500" y="1438275"/>
            <a:ext cx="8763000" cy="93345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E5C1A0AB-8CDC-4646-AB6A-8FACF726DD3A}"/>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A332D95C-7CDF-44D7-9DA4-3C73F908FFD3}"/>
              </a:ext>
            </a:extLst>
          </p:cNvPr>
          <p:cNvSpPr>
            <a:spLocks xmlns:a="http://schemas.openxmlformats.org/drawingml/2006/main" noGrp="1"/>
          </p:cNvSpPr>
          <p:nvPr/>
        </p:nvSpPr>
        <p:spPr>
          <a:xfrm xmlns:a="http://schemas.openxmlformats.org/drawingml/2006/main">
            <a:off x="552450" y="4362450"/>
            <a:ext cx="4857750" cy="219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Name of Students</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(____)</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(____)</a:t>
            </a:r>
            <a:endParaRPr/>
          </a:p>
        </p:txBody>
      </p:sp>
      <p:sp>
        <p:nvSpPr>
          <p:cNvPr id="62" name="Google Shape;62;p1">
            <a:extLst xmlns:a="http://schemas.openxmlformats.org/drawingml/2006/main">
              <a:ext uri="{FF2B5EF4-FFF2-40B4-BE49-F238E27FC236}">
                <a16:creationId xmlns:a16="http://schemas.microsoft.com/office/drawing/2014/main" id="{8F674A79-1491-4129-AA14-B2C34AED58CB}"/>
              </a:ext>
            </a:extLst>
          </p:cNvPr>
          <p:cNvSpPr>
            <a:spLocks xmlns:a="http://schemas.openxmlformats.org/drawingml/2006/main" noGrp="1"/>
          </p:cNvSpPr>
          <p:nvPr/>
        </p:nvSpPr>
        <p:spPr>
          <a:xfrm xmlns:a="http://schemas.openxmlformats.org/drawingml/2006/main">
            <a:off x="5572125" y="4514850"/>
            <a:ext cx="3048000" cy="3017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ctr">
              <a:lnSpc>
                <a:spcPct val="150000"/>
              </a:lnSpc>
              <a:spcBef>
                <a:spcPts val="0"/>
              </a:spcBef>
              <a:spcAft>
                <a:spcPts val="0"/>
              </a:spcAft>
              <a:buClr>
                <a:schemeClr val="dk1"/>
              </a:buClr>
              <a:buSzPts val="2800"/>
              <a:buFont typeface="Times New Roman"/>
              <a:buNone/>
              <a:defRPr sz="2100" b="0">
                <a:solidFill>
                  <a:srgbClr val="000000"/>
                </a:solidFill>
                <a:latin typeface="Times New Roman"/>
                <a:ea typeface="Times New Roman"/>
                <a:cs typeface="Times New Roman"/>
              </a:defRPr>
            </a:pPr>
            <a:r>
              <a:rPr sz="2100" b="0" i="0" u="none" cap="none">
                <a:solidFill>
                  <a:srgbClr val="000000"/>
                </a:solidFill>
                <a:latin typeface="Times New Roman"/>
                <a:ea typeface="Times New Roman"/>
                <a:cs typeface="Times New Roman"/>
              </a:rPr>
              <a:t>Under the guidance of</a:t>
            </a:r>
            <a:endParaRPr/>
          </a:p>
          <a:p xmlns:a="http://schemas.openxmlformats.org/drawingml/2006/main">
            <a:pPr marL="0" marR="0" lvl="0" indent="0" algn="ctr">
              <a:lnSpc>
                <a:spcPct val="150000"/>
              </a:lnSpc>
              <a:spcBef>
                <a:spcPts val="0"/>
              </a:spcBef>
              <a:spcAft>
                <a:spcPts val="0"/>
              </a:spcAft>
              <a:buClr>
                <a:schemeClr val="dk1"/>
              </a:buClr>
              <a:buSzPts val="2400"/>
              <a:buFont typeface="Times New Roman"/>
              <a:buNone/>
              <a:defRPr sz="2100" b="0">
                <a:solidFill>
                  <a:srgbClr val="000000"/>
                </a:solidFill>
                <a:latin typeface="Times New Roman"/>
                <a:ea typeface="Times New Roman"/>
                <a:cs typeface="Times New Roman"/>
              </a:defRPr>
            </a:pPr>
            <a:r>
              <a:rPr sz="2100" b="0" i="0" u="none">
                <a:solidFill>
                  <a:srgbClr val="000000"/>
                </a:solidFill>
                <a:latin typeface="Times New Roman"/>
                <a:ea typeface="Times New Roman"/>
                <a:cs typeface="Times New Roman"/>
              </a:rPr>
              <a:t>Mahesh Sapte</a:t>
            </a:r>
            <a:endParaRPr/>
          </a:p>
          <a:p xmlns:a="http://schemas.openxmlformats.org/drawingml/2006/main">
            <a:pPr marL="0" marR="0" lvl="0" indent="0" algn="ctr">
              <a:lnSpc>
                <a:spcPct val="150000"/>
              </a:lnSpc>
              <a:spcBef>
                <a:spcPts val="0"/>
              </a:spcBef>
              <a:spcAft>
                <a:spcPts val="0"/>
              </a:spcAft>
              <a:buClr>
                <a:schemeClr val="dk1"/>
              </a:buClr>
              <a:buSzPts val="2400"/>
              <a:buFont typeface="Times New Roman"/>
              <a:buNone/>
            </a:pPr>
            <a:r>
              <a:rPr sz="2400" b="0" i="0" u="none">
                <a:solidFill>
                  <a:schemeClr val="dk1"/>
                </a:solidFill>
                <a:latin typeface="Times New Roman"/>
                <a:ea typeface="Times New Roman"/>
                <a:cs typeface="Times New Roman"/>
              </a:rPr>
              <a:t/>
            </a:r>
            <a:endParaRPr/>
          </a:p>
          <a:p xmlns:a="http://schemas.openxmlformats.org/drawingml/2006/main">
            <a:pPr marL="0" marR="0" lvl="0" indent="0" algn="ctr">
              <a:lnSpc>
                <a:spcPct val="150000"/>
              </a:lnSpc>
              <a:spcBef>
                <a:spcPts val="0"/>
              </a:spcBef>
              <a:spcAft>
                <a:spcPts val="0"/>
              </a:spcAft>
              <a:buClr>
                <a:schemeClr val="dk1"/>
              </a:buClr>
              <a:buSzPts val="2400"/>
              <a:buFont typeface="Times New Roman"/>
              <a:buNone/>
              <a:defRPr sz="2100" b="0">
                <a:solidFill>
                  <a:srgbClr val="000000"/>
                </a:solidFill>
                <a:latin typeface="Times New Roman"/>
                <a:ea typeface="Times New Roman"/>
                <a:cs typeface="Times New Roman"/>
              </a:defRPr>
            </a:pPr>
            <a:r>
              <a:rPr sz="2100" b="0" i="0" u="none">
                <a:solidFill>
                  <a:srgbClr val="000000"/>
                </a:solidFill>
                <a:latin typeface="Times New Roman"/>
                <a:ea typeface="Times New Roman"/>
                <a:cs typeface="Times New Roman"/>
              </a:rPr>
              <a:t>Group 7</a:t>
            </a:r>
            <a:endParaRPr/>
          </a:p>
        </p:txBody>
      </p:sp>
      <p:sp>
        <p:nvSpPr>
          <p:cNvPr id="63" name="Google Shape;63;p1">
            <a:extLst xmlns:a="http://schemas.openxmlformats.org/drawingml/2006/main">
              <a:ext uri="{FF2B5EF4-FFF2-40B4-BE49-F238E27FC236}">
                <a16:creationId xmlns:a16="http://schemas.microsoft.com/office/drawing/2014/main" id="{4C8DFC0F-68AE-462F-AAFA-D9F767B50A44}"/>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758cdd9df5d444e4">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70D3C6AF-9A63-4B5C-9965-849F53196460}"/>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d1781d4bd5a140cc">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0904829D-A7D1-46D3-8A62-9DD86DC174B3}"/>
              </a:ext>
            </a:extLst>
          </p:cNvPr>
          <p:cNvSpPr>
            <a:spLocks xmlns:a="http://schemas.openxmlformats.org/drawingml/2006/main" noGrp="1"/>
          </p:cNvSpPr>
          <p:nvPr/>
        </p:nvSpPr>
        <p:spPr>
          <a:xfrm xmlns:a="http://schemas.openxmlformats.org/drawingml/2006/main">
            <a:off x="2333625" y="3695700"/>
            <a:ext cx="447675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339FBBF1-8267-45BC-AB43-D03D3BFBF243}"/>
              </a:ext>
            </a:extLst>
          </p:cNvPr>
          <p:cNvSpPr>
            <a:spLocks xmlns:a="http://schemas.openxmlformats.org/drawingml/2006/main" noGrp="1"/>
          </p:cNvSpPr>
          <p:nvPr/>
        </p:nvSpPr>
        <p:spPr>
          <a:xfrm xmlns:a="http://schemas.openxmlformats.org/drawingml/2006/main">
            <a:off x="285750" y="2571750"/>
            <a:ext cx="8572500" cy="10668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Energy Signature Analysis and Battery Runtime Estimation</a:t>
            </a:r>
            <a:endParaRPr sz="3200" b="1" i="0" u="none">
              <a:solidFill>
                <a:srgbClr val="7030A0"/>
              </a:solidFill>
              <a:latin typeface="Times New Roman"/>
              <a:ea typeface="Times New Roman"/>
              <a:cs typeface="Times New Roman"/>
            </a:endParaRPr>
          </a:p>
        </p:txBody>
      </p:sp>
    </p:spTree>
    <p:extLst>
      <p:ext uri="{BB962C8B-B14F-4D97-AF65-F5344CB8AC3E}">
        <p14:creationId xmlns:p14="http://schemas.microsoft.com/office/powerpoint/2010/main" val="13322546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7F0CECCE-E4C5-41BF-BB02-8F268137516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BECA36D0-3925-44C5-AF7B-09244F90A2B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Signature definition">
            <a:extLst xmlns:a="http://schemas.openxmlformats.org/drawingml/2006/main">
              <a:ext uri="{FF2B5EF4-FFF2-40B4-BE49-F238E27FC236}">
                <a16:creationId xmlns:a16="http://schemas.microsoft.com/office/drawing/2014/main" id="{30DABE63-2E28-4CE2-8F57-9698CA77E056}"/>
              </a:ext>
            </a:extLst>
          </p:cNvPr>
          <p:cNvSpPr>
            <a:spLocks xmlns:a="http://schemas.openxmlformats.org/drawingml/2006/main" noGrp="1"/>
          </p:cNvSpPr>
          <p:nvPr/>
        </p:nvSpPr>
        <p:spPr>
          <a:xfrm xmlns:a="http://schemas.openxmlformats.org/drawingml/2006/main">
            <a:off x="762000" y="1219200"/>
            <a:ext cx="7677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An energy signature is a load’s measured current and power pattern over time.</a:t>
            </a:r>
          </a:p>
        </p:txBody>
      </p:sp>
      <p:sp>
        <p:nvSpPr>
          <p:cNvPr id="73" name="Project motivation">
            <a:extLst xmlns:a="http://schemas.openxmlformats.org/drawingml/2006/main">
              <a:ext uri="{FF2B5EF4-FFF2-40B4-BE49-F238E27FC236}">
                <a16:creationId xmlns:a16="http://schemas.microsoft.com/office/drawing/2014/main" id="{A4F4E1B1-53F0-4473-A4A3-470CF9FE7C9B}"/>
              </a:ext>
            </a:extLst>
          </p:cNvPr>
          <p:cNvSpPr>
            <a:spLocks xmlns:a="http://schemas.openxmlformats.org/drawingml/2006/main" noGrp="1"/>
          </p:cNvSpPr>
          <p:nvPr/>
        </p:nvSpPr>
        <p:spPr>
          <a:xfrm xmlns:a="http://schemas.openxmlformats.org/drawingml/2006/main">
            <a:off x="895350" y="2371725"/>
            <a:ext cx="74390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Battery percentage alone does not explain how device use changes backup time.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WattSense will learn profiles of selected DC loads and estimate their energy use.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Available battery energy and load demand will produce a runtime estimate.</a:t>
            </a:r>
          </a:p>
          <a:p xmlns:a="http://schemas.openxmlformats.org/drawingml/2006/main">
            <a:pPr marL="304800" indent="-203200" algn="l">
              <a:spcAft>
                <a:spcPts val="12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Applications include portable DC equipment and renewable-energy demonstrators.</a:t>
            </a:r>
          </a:p>
        </p:txBody>
      </p:sp>
      <p:sp>
        <p:nvSpPr>
          <p:cNvPr id="74" name="Review status">
            <a:extLst xmlns:a="http://schemas.openxmlformats.org/drawingml/2006/main">
              <a:ext uri="{FF2B5EF4-FFF2-40B4-BE49-F238E27FC236}">
                <a16:creationId xmlns:a16="http://schemas.microsoft.com/office/drawing/2014/main" id="{76C3AD34-AA04-4CF4-AB21-BC10857A9AFD}"/>
              </a:ext>
            </a:extLst>
          </p:cNvPr>
          <p:cNvSpPr>
            <a:spLocks xmlns:a="http://schemas.openxmlformats.org/drawingml/2006/main" noGrp="1"/>
          </p:cNvSpPr>
          <p:nvPr/>
        </p:nvSpPr>
        <p:spPr>
          <a:xfrm xmlns:a="http://schemas.openxmlformats.org/drawingml/2006/main">
            <a:off x="876300" y="5676900"/>
            <a:ext cx="7610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Review 3: monitoring software and PCB design prepared.</a:t>
            </a:r>
          </a:p>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Next stage: signature data, classification and measured validation.</a:t>
            </a:r>
          </a:p>
        </p:txBody>
      </p:sp>
    </p:spTree>
    <p:extLst>
      <p:ext uri="{BB962C8B-B14F-4D97-AF65-F5344CB8AC3E}">
        <p14:creationId xmlns:p14="http://schemas.microsoft.com/office/powerpoint/2010/main" val="16803701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030AD35-B097-4088-B21F-0CE0017D43B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9673A9F3-6178-4992-AE11-3141BB36A2B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Athanasiadis et al.</a:t>
                      </a:r>
                    </a:p>
                    <a:p>
                      <a:pPr algn="l"/>
                      <a:r>
                        <a:rPr sz="1425" b="0">
                          <a:solidFill>
                            <a:srgbClr val="000000"/>
                          </a:solidFill>
                          <a:latin typeface="Times New Roman"/>
                          <a:ea typeface="Times New Roman"/>
                          <a:cs typeface="Times New Roman"/>
                        </a:rPr>
                        <a:t>2021</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Aggregate load</a:t>
                      </a:r>
                    </a:p>
                    <a:p>
                      <a:pPr algn="l"/>
                      <a:r>
                        <a:rPr sz="1425" b="0">
                          <a:solidFill>
                            <a:srgbClr val="000000"/>
                          </a:solidFill>
                          <a:latin typeface="Times New Roman"/>
                          <a:ea typeface="Times New Roman"/>
                          <a:cs typeface="Times New Roman"/>
                        </a:rPr>
                        <a:t>energy estimation</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Event detection + CNN + power estimate</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Reported experimental evaluation</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Real-time consumption estimates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Transient data needed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Mollel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Opaque or confused load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Decision trees + feature explanations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REFIT training; UK-DALE transfer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Feature selection improves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Cross-house transfer needs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3</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Jaime et al.</a:t>
                      </a:r>
                      <a:endParaRPr>
                        <a:latin typeface="Cambria"/>
                        <a:ea typeface="Cambria"/>
                        <a:cs typeface="Cambria"/>
                      </a:endParaRPr>
                    </a:p>
                    <a:p>
                      <a:pPr algn="l"/>
                      <a:r>
                        <a:rPr sz="1425" b="0">
                          <a:solidFill>
                            <a:srgbClr val="000000"/>
                          </a:solidFill>
                          <a:latin typeface="Times New Roman"/>
                          <a:ea typeface="Times New Roman"/>
                          <a:cs typeface="Times New Roman"/>
                        </a:rPr>
                        <a:t>2026</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Inconsistent model evaluation evidence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PRISMA + random-effects meta-analysis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30 studies; 2017-2024 publications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Performance varies across study settings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High heterogeneity; standardisation needed</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4</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Xiang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Practical</a:t>
                      </a:r>
                      <a:endParaRPr sz="1400">
                        <a:latin typeface="Cambria"/>
                        <a:ea typeface="Cambria"/>
                        <a:cs typeface="Cambria"/>
                      </a:endParaRPr>
                    </a:p>
                    <a:p>
                      <a:pPr algn="l"/>
                      <a:r>
                        <a:rPr sz="1425" b="0">
                          <a:solidFill>
                            <a:srgbClr val="000000"/>
                          </a:solidFill>
                          <a:latin typeface="Times New Roman"/>
                          <a:ea typeface="Times New Roman"/>
                          <a:cs typeface="Times New Roman"/>
                        </a:rPr>
                        <a:t>deployment barriers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Event/state methods; scenario review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Review of published NILM studies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Maps deployment needs and trade-offs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Unknown loads; transfer and data quality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5</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Similar load</a:t>
                      </a:r>
                      <a:endParaRPr sz="1400">
                        <a:latin typeface="Cambria"/>
                        <a:ea typeface="Cambria"/>
                        <a:cs typeface="Cambria"/>
                      </a:endParaRPr>
                    </a:p>
                    <a:p>
                      <a:pPr algn="l"/>
                      <a:r>
                        <a:rPr sz="1425" b="0">
                          <a:solidFill>
                            <a:srgbClr val="000000"/>
                          </a:solidFill>
                          <a:latin typeface="Times New Roman"/>
                          <a:ea typeface="Times New Roman"/>
                          <a:cs typeface="Times New Roman"/>
                        </a:rPr>
                        <a:t>signatures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 V-I features + dual-branch network</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PLAID AC appliance recordings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Feature fusion aids classification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AC waveforms absent from INA219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3325139C-E36B-46E1-A60C-BF009A932645}"/>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Energy signatures and load estimation</a:t>
            </a:r>
          </a:p>
        </p:txBody>
      </p:sp>
    </p:spTree>
    <p:extLst>
      <p:ext uri="{BB962C8B-B14F-4D97-AF65-F5344CB8AC3E}">
        <p14:creationId xmlns:p14="http://schemas.microsoft.com/office/powerpoint/2010/main" val="160215882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BC8B70D-5F48-4253-A11E-B5A70034C82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19E7033F-D2D7-47B0-A81C-E04290B4A2FA}"/>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Movassagh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Accumulated SOC error</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Quantifies four SOC error sources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Zhang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Actual pack characterisation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Gismero et al.</a:t>
                      </a:r>
                      <a:endParaRPr>
                        <a:latin typeface="Cambria"/>
                        <a:ea typeface="Cambria"/>
                        <a:cs typeface="Cambria"/>
                      </a:endParaRPr>
                    </a:p>
                    <a:p>
                      <a:pPr algn="l"/>
                      <a:r>
                        <a:rPr sz="1425" b="0">
                          <a:solidFill>
                            <a:srgbClr val="000000"/>
                          </a:solidFill>
                          <a:latin typeface="Times New Roman"/>
                          <a:ea typeface="Times New Roman"/>
                          <a:cs typeface="Times New Roman"/>
                        </a:rPr>
                        <a:t>2020</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Yang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Separated RLS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Rzepka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Circuit model + hysteresis + EKF tuning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1967D9A3-E032-4E94-882E-0E82638A265D}"/>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Battery state-of-charge estimation</a:t>
            </a:r>
          </a:p>
        </p:txBody>
      </p:sp>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8F6C9959-A7FE-4ED4-A509-869334A1FA2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6C3019CE-46FA-4685-A259-7C8027B3BDC6}"/>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Zine et al.</a:t>
                      </a:r>
                      <a:endParaRPr sz="1400">
                        <a:latin typeface="Cambria"/>
                        <a:ea typeface="Cambria"/>
                        <a:cs typeface="Cambria"/>
                      </a:endParaRPr>
                    </a:p>
                    <a:p>
                      <a:pPr algn="l"/>
                      <a:r>
                        <a:rPr sz="1425" b="0">
                          <a:solidFill>
                            <a:srgbClr val="000000"/>
                          </a:solidFill>
                          <a:latin typeface="Times New Roman"/>
                          <a:ea typeface="Times New Roman"/>
                          <a:cs typeface="Times New Roman"/>
                        </a:rPr>
                        <a:t>2022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Bench SOC workflow</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12</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Fahmy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SOC under changing battery conditions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Wang et al.</a:t>
                      </a:r>
                      <a:endParaRPr>
                        <a:latin typeface="Cambria"/>
                        <a:ea typeface="Cambria"/>
                        <a:cs typeface="Cambria"/>
                      </a:endParaRPr>
                    </a:p>
                    <a:p>
                      <a:pPr algn="l"/>
                      <a:r>
                        <a:rPr sz="1425" b="0">
                          <a:solidFill>
                            <a:srgbClr val="000000"/>
                          </a:solidFill>
                          <a:latin typeface="Times New Roman"/>
                          <a:ea typeface="Times New Roman"/>
                          <a:cs typeface="Times New Roman"/>
                        </a:rPr>
                        <a:t>2023</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plateau and temperature variation</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LFP chamber / load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Temperature-aware estimate</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Needs pack-specific data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Turkmanović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Bampi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2025</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Different test rig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E61F73F5-A693-44B2-BA27-2B0AF5E81E24}"/>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Battery measurement and validation</a:t>
            </a:r>
          </a:p>
        </p:txBody>
      </p:sp>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548FD02E-8B6C-4869-AB6C-D48BD8A89284}"/>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CACACD4A-60DC-4638-BA05-9D3A24CE078B}"/>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5" name="Table 2"/>
          <p:cNvGraphicFramePr/>
          <p:nvPr/>
        </p:nvGraphicFramePr>
        <p:xfrm>
          <a:off xmlns:a="http://schemas.openxmlformats.org/drawingml/2006/main" x="285750" y="1133475"/>
          <a:ext xmlns:a="http://schemas.openxmlformats.org/drawingml/2006/main" cx="8524875" cy="4924425"/>
        </p:xfrm>
        <a:graphic xmlns:a="http://schemas.openxmlformats.org/drawingml/2006/main">
          <a:graphicData uri="http://schemas.openxmlformats.org/drawingml/2006/table">
            <a:tbl>
              <a:tblPr/>
              <a:tblGrid>
                <a:gridCol w="400050"/>
                <a:gridCol w="1400175"/>
                <a:gridCol w="1247775"/>
                <a:gridCol w="1323975"/>
                <a:gridCol w="1304925"/>
                <a:gridCol w="1514475"/>
                <a:gridCol w="1333500"/>
              </a:tblGrid>
              <a:tr h="495300">
                <a:tc>
                  <a:txBody>
                    <a:bodyPr>
                      <a:noAutofit/>
                    </a:bodyPr>
                    <a:lstStyle/>
                    <a:p>
                      <a:pPr algn="ctr">
                        <a:buNone/>
                      </a:pPr>
                      <a:r>
                        <a:rPr sz="1500" b="1">
                          <a:solidFill>
                            <a:srgbClr val="000000"/>
                          </a:solidFill>
                          <a:latin typeface="Times New Roman"/>
                          <a:ea typeface="Times New Roman"/>
                          <a:cs typeface="Times New Roman"/>
                        </a:rPr>
                        <a:t>No</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Author, Year</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Problem</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Method</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Data / tests</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Finding</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buNone/>
                      </a:pPr>
                      <a:r>
                        <a:rPr sz="1500" b="1">
                          <a:solidFill>
                            <a:srgbClr val="000000"/>
                          </a:solidFill>
                          <a:latin typeface="Times New Roman"/>
                          <a:ea typeface="Times New Roman"/>
                          <a:cs typeface="Times New Roman"/>
                        </a:rPr>
                        <a:t>Scope limit</a:t>
                      </a: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885825">
                <a:tc>
                  <a:txBody>
                    <a:bodyPr>
                      <a:noAutofit/>
                    </a:bodyPr>
                    <a:lstStyle/>
                    <a:p>
                      <a:pPr algn="ctr">
                        <a:buNone/>
                      </a:pPr>
                      <a:r>
                        <a:rPr sz="1425" b="0">
                          <a:solidFill>
                            <a:srgbClr val="000000"/>
                          </a:solidFill>
                          <a:latin typeface="Times New Roman"/>
                          <a:ea typeface="Times New Roman"/>
                          <a:cs typeface="Times New Roman"/>
                        </a:rPr>
                        <a:t>16</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Marahatta et al.</a:t>
                      </a:r>
                      <a:endParaRPr sz="1400">
                        <a:latin typeface="Cambria"/>
                        <a:ea typeface="Cambria"/>
                        <a:cs typeface="Cambria"/>
                      </a:endParaRPr>
                    </a:p>
                    <a:p>
                      <a:pPr algn="l"/>
                      <a:r>
                        <a:rPr sz="1425" b="0">
                          <a:solidFill>
                            <a:srgbClr val="000000"/>
                          </a:solidFill>
                          <a:latin typeface="Times New Roman"/>
                          <a:ea typeface="Times New Roman"/>
                          <a:cs typeface="Times New Roman"/>
                        </a:rPr>
                        <a:t>2021</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Limited rural energy supply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Priority switching + SCADA</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Laboratory solar-battery microgrid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Maintains essential-load service</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Three-level solar system</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17</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Rajbhandari et al.</a:t>
                      </a:r>
                      <a:endParaRPr sz="1400">
                        <a:latin typeface="Cambria"/>
                        <a:ea typeface="Cambria"/>
                        <a:cs typeface="Cambria"/>
                      </a:endParaRPr>
                    </a:p>
                    <a:p>
                      <a:pPr algn="l"/>
                      <a:r>
                        <a:rPr sz="1425" b="0">
                          <a:solidFill>
                            <a:srgbClr val="000000"/>
                          </a:solidFill>
                          <a:latin typeface="Times New Roman"/>
                          <a:ea typeface="Times New Roman"/>
                          <a:cs typeface="Times New Roman"/>
                        </a:rPr>
                        <a:t>2024</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solar energy availability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Stochastic generation/load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18</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Guo &amp; Kors</a:t>
                      </a:r>
                      <a:endParaRPr>
                        <a:latin typeface="Cambria"/>
                        <a:ea typeface="Cambria"/>
                        <a:cs typeface="Cambria"/>
                      </a:endParaRPr>
                    </a:p>
                    <a:p>
                      <a:pPr algn="l"/>
                      <a:r>
                        <a:rPr sz="1425" b="0">
                          <a:solidFill>
                            <a:srgbClr val="000000"/>
                          </a:solidFill>
                          <a:latin typeface="Times New Roman"/>
                          <a:ea typeface="Times New Roman"/>
                          <a:cs typeface="Times New Roman"/>
                        </a:rPr>
                        <a:t>2021</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Renewable energy teaching</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Sensors, Raspberry Pi, SCADA</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Outdoor rig + student tests</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Integrated educational platform</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Educational system; no signature estimator</a:t>
                      </a:r>
                      <a:endParaRPr>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19</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Yusubov &amp; Bekirova</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885825">
                <a:tc>
                  <a:txBody>
                    <a:bodyPr>
                      <a:noAutofit/>
                    </a:bodyPr>
                    <a:lstStyle/>
                    <a:p>
                      <a:pPr algn="ctr">
                        <a:buNone/>
                      </a:pPr>
                      <a:r>
                        <a:rPr sz="1425" b="0">
                          <a:solidFill>
                            <a:srgbClr val="000000"/>
                          </a:solidFill>
                          <a:latin typeface="Times New Roman"/>
                          <a:ea typeface="Times New Roman"/>
                          <a:cs typeface="Times New Roman"/>
                        </a:rPr>
                        <a:t>20</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Basantes et al.</a:t>
                      </a:r>
                      <a:endParaRPr sz="1400">
                        <a:latin typeface="Cambria"/>
                        <a:ea typeface="Cambria"/>
                        <a:cs typeface="Cambria"/>
                      </a:endParaRPr>
                    </a:p>
                    <a:p>
                      <a:pPr algn="l"/>
                      <a:r>
                        <a:rPr sz="1425" b="0">
                          <a:solidFill>
                            <a:srgbClr val="000000"/>
                          </a:solidFill>
                          <a:latin typeface="Times New Roman"/>
                          <a:ea typeface="Times New Roman"/>
                          <a:cs typeface="Times New Roman"/>
                        </a:rPr>
                        <a:t>2023</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Hierarchical control + MPC optimisation</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r>
                        <a:rPr sz="142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47625" marR="47625" marT="47625" marB="4762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82" name="Literature topic">
            <a:extLst xmlns:a="http://schemas.openxmlformats.org/drawingml/2006/main">
              <a:ext uri="{FF2B5EF4-FFF2-40B4-BE49-F238E27FC236}">
                <a16:creationId xmlns:a16="http://schemas.microsoft.com/office/drawing/2014/main" id="{392A1C96-8043-4E6C-8644-CAFB6233F177}"/>
              </a:ext>
            </a:extLst>
          </p:cNvPr>
          <p:cNvSpPr>
            <a:spLocks xmlns:a="http://schemas.openxmlformats.org/drawingml/2006/main" noGrp="1"/>
          </p:cNvSpPr>
          <p:nvPr/>
        </p:nvSpPr>
        <p:spPr>
          <a:xfrm xmlns:a="http://schemas.openxmlformats.org/drawingml/2006/main">
            <a:off x="457200" y="6238875"/>
            <a:ext cx="8020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0">
                <a:solidFill>
                  <a:srgbClr val="595959"/>
                </a:solidFill>
                <a:latin typeface="Times New Roman"/>
                <a:ea typeface="Times New Roman"/>
                <a:cs typeface="Times New Roman"/>
              </a:defRPr>
            </a:pPr>
            <a:r>
              <a:rPr sz="1575" b="0">
                <a:solidFill>
                  <a:srgbClr val="595959"/>
                </a:solidFill>
                <a:latin typeface="Times New Roman"/>
                <a:ea typeface="Times New Roman"/>
                <a:cs typeface="Times New Roman"/>
              </a:rPr>
              <a:t>Monitoring and energy-management integration</a:t>
            </a:r>
          </a:p>
        </p:txBody>
      </p:sp>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F792365-9805-4222-B66C-9A5210417E8B}"/>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47C0CECE-B8B2-414B-B9F6-B1D3986B7CD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Research Gap / Problem Identification</a:t>
            </a:r>
            <a:endParaRPr/>
          </a:p>
        </p:txBody>
      </p:sp>
      <p:sp>
        <p:nvSpPr>
          <p:cNvPr id="81" name="Research gap">
            <a:extLst xmlns:a="http://schemas.openxmlformats.org/drawingml/2006/main">
              <a:ext uri="{FF2B5EF4-FFF2-40B4-BE49-F238E27FC236}">
                <a16:creationId xmlns:a16="http://schemas.microsoft.com/office/drawing/2014/main" id="{F9CAD0D1-9169-445C-96AD-E33F16521CE6}"/>
              </a:ext>
            </a:extLst>
          </p:cNvPr>
          <p:cNvSpPr>
            <a:spLocks xmlns:a="http://schemas.openxmlformats.org/drawingml/2006/main" noGrp="1"/>
          </p:cNvSpPr>
          <p:nvPr/>
        </p:nvSpPr>
        <p:spPr>
          <a:xfrm xmlns:a="http://schemas.openxmlformats.org/drawingml/2006/main">
            <a:off x="876300" y="1323975"/>
            <a:ext cx="75914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Published recognition results depend on sensors, sampling rate and dataset.</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Similar load profiles and unseen devices can make identification uncertain.</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Runtime also depends on usable capacity, charge reference and actual demand.</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A low-cost DC prototype must evaluate the complete measurement chain.</a:t>
            </a:r>
          </a:p>
          <a:p xmlns:a="http://schemas.openxmlformats.org/drawingml/2006/main">
            <a:pPr marL="304800" indent="-203200" algn="l">
              <a:spcAft>
                <a:spcPts val="1300"/>
              </a:spcAft>
              <a:buChar char="•"/>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Our focus is signature matching with uncertainty, energy estimates and runtime error.</a:t>
            </a:r>
          </a:p>
        </p:txBody>
      </p:sp>
      <p:sp>
        <p:nvSpPr>
          <p:cNvPr id="82" name="Project contribution">
            <a:extLst xmlns:a="http://schemas.openxmlformats.org/drawingml/2006/main">
              <a:ext uri="{FF2B5EF4-FFF2-40B4-BE49-F238E27FC236}">
                <a16:creationId xmlns:a16="http://schemas.microsoft.com/office/drawing/2014/main" id="{E87E9B71-9C2C-49F9-9429-FA1AC0ABC3AF}"/>
              </a:ext>
            </a:extLst>
          </p:cNvPr>
          <p:cNvSpPr>
            <a:spLocks xmlns:a="http://schemas.openxmlformats.org/drawingml/2006/main" noGrp="1"/>
          </p:cNvSpPr>
          <p:nvPr/>
        </p:nvSpPr>
        <p:spPr>
          <a:xfrm xmlns:a="http://schemas.openxmlformats.org/drawingml/2006/main">
            <a:off x="876300" y="5629275"/>
            <a:ext cx="7591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Proposed contribution: connect measured load behaviour with available battery energy.</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66DE192C-A10A-489B-8EB2-E82B7AB30DBA}"/>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ED9F4D1F-5E81-4444-829A-EE188E5B894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1E55C03F-D7B2-4B1F-93E1-54ED80EC6A11}"/>
              </a:ext>
            </a:extLst>
          </p:cNvPr>
          <p:cNvSpPr>
            <a:spLocks xmlns:a="http://schemas.openxmlformats.org/drawingml/2006/main" noGrp="1"/>
          </p:cNvSpPr>
          <p:nvPr/>
        </p:nvSpPr>
        <p:spPr>
          <a:xfrm xmlns:a="http://schemas.openxmlformats.org/drawingml/2006/main">
            <a:off x="1562100" y="2952750"/>
            <a:ext cx="6134100" cy="52387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81" name="Problem statement">
            <a:extLst xmlns:a="http://schemas.openxmlformats.org/drawingml/2006/main">
              <a:ext uri="{FF2B5EF4-FFF2-40B4-BE49-F238E27FC236}">
                <a16:creationId xmlns:a16="http://schemas.microsoft.com/office/drawing/2014/main" id="{907DF8ED-FA2A-40F4-AC37-86C256F154C1}"/>
              </a:ext>
            </a:extLst>
          </p:cNvPr>
          <p:cNvSpPr>
            <a:spLocks xmlns:a="http://schemas.openxmlformats.org/drawingml/2006/main" noGrp="1"/>
          </p:cNvSpPr>
          <p:nvPr/>
        </p:nvSpPr>
        <p:spPr>
          <a:xfrm xmlns:a="http://schemas.openxmlformats.org/drawingml/2006/main">
            <a:off x="800100" y="1133475"/>
            <a:ext cx="766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Develop a battery-powered DC system that uses measured electrical profiles to estimate load energy consumption and battery runtime, while reporting uncertainty for unrecognised loads.</a:t>
            </a:r>
          </a:p>
        </p:txBody>
      </p:sp>
      <p:sp>
        <p:nvSpPr>
          <p:cNvPr id="82" name="Objectives">
            <a:extLst xmlns:a="http://schemas.openxmlformats.org/drawingml/2006/main">
              <a:ext uri="{FF2B5EF4-FFF2-40B4-BE49-F238E27FC236}">
                <a16:creationId xmlns:a16="http://schemas.microsoft.com/office/drawing/2014/main" id="{E9D248A5-12E7-428C-83DE-DB9837069042}"/>
              </a:ext>
            </a:extLst>
          </p:cNvPr>
          <p:cNvSpPr>
            <a:spLocks xmlns:a="http://schemas.openxmlformats.org/drawingml/2006/main" noGrp="1"/>
          </p:cNvSpPr>
          <p:nvPr/>
        </p:nvSpPr>
        <p:spPr>
          <a:xfrm xmlns:a="http://schemas.openxmlformats.org/drawingml/2006/main">
            <a:off x="895350" y="3714750"/>
            <a:ext cx="75819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Acquire and calibrate battery/load measurements.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Build a labelled signature dataset for selected DC loads.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Compare feature matching and a classifier with unknown rejection.</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Estimate charge, energy use and runtime under stated usage.</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Evaluate errors using independent recording sessions.</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B11299F8-C416-4411-96F8-AADAEAD6ACF4}"/>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B2E497C8-5BEB-44D1-A01B-BB70135F969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DC prototype scope">
            <a:extLst xmlns:a="http://schemas.openxmlformats.org/drawingml/2006/main">
              <a:ext uri="{FF2B5EF4-FFF2-40B4-BE49-F238E27FC236}">
                <a16:creationId xmlns:a16="http://schemas.microsoft.com/office/drawing/2014/main" id="{923025B8-58E6-4286-9ACA-702B20D7DF8A}"/>
              </a:ext>
            </a:extLst>
          </p:cNvPr>
          <p:cNvSpPr>
            <a:spLocks xmlns:a="http://schemas.openxmlformats.org/drawingml/2006/main" noGrp="1"/>
          </p:cNvSpPr>
          <p:nvPr/>
        </p:nvSpPr>
        <p:spPr>
          <a:xfrm xmlns:a="http://schemas.openxmlformats.org/drawingml/2006/main">
            <a:off x="476250" y="1162050"/>
            <a:ext cx="820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Protected battery, regulated DC supply and selected compatible loads</a:t>
            </a:r>
          </a:p>
        </p:txBody>
      </p:sp>
      <p:sp>
        <p:nvSpPr>
          <p:cNvPr id="90" name="Sensors">
            <a:extLst xmlns:a="http://schemas.openxmlformats.org/drawingml/2006/main">
              <a:ext uri="{FF2B5EF4-FFF2-40B4-BE49-F238E27FC236}">
                <a16:creationId xmlns:a16="http://schemas.microsoft.com/office/drawing/2014/main" id="{8B4F2999-8EC9-4942-BB1E-2F84C0C6913A}"/>
              </a:ext>
            </a:extLst>
          </p:cNvPr>
          <p:cNvSpPr>
            <a:spLocks xmlns:a="http://schemas.openxmlformats.org/drawingml/2006/main" noGrp="1"/>
          </p:cNvSpPr>
          <p:nvPr/>
        </p:nvSpPr>
        <p:spPr>
          <a:xfrm xmlns:a="http://schemas.openxmlformats.org/drawingml/2006/main">
            <a:off x="457200" y="197167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Sensing PCB</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Current / voltage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Temperature</a:t>
            </a:r>
          </a:p>
        </p:txBody>
      </p:sp>
      <p:sp>
        <p:nvSpPr>
          <p:cNvPr id="91" name="ESP32">
            <a:extLst xmlns:a="http://schemas.openxmlformats.org/drawingml/2006/main">
              <a:ext uri="{FF2B5EF4-FFF2-40B4-BE49-F238E27FC236}">
                <a16:creationId xmlns:a16="http://schemas.microsoft.com/office/drawing/2014/main" id="{1DEC9D83-DD56-4698-9DBE-6B1A1A6BDD45}"/>
              </a:ext>
            </a:extLst>
          </p:cNvPr>
          <p:cNvSpPr>
            <a:spLocks xmlns:a="http://schemas.openxmlformats.org/drawingml/2006/main" noGrp="1"/>
          </p:cNvSpPr>
          <p:nvPr/>
        </p:nvSpPr>
        <p:spPr>
          <a:xfrm xmlns:a="http://schemas.openxmlformats.org/drawingml/2006/main">
            <a:off x="3419475" y="197167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ESP32</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Calibration and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raw measurements</a:t>
            </a:r>
          </a:p>
        </p:txBody>
      </p:sp>
      <p:sp>
        <p:nvSpPr>
          <p:cNvPr id="92" name="Signature analysis">
            <a:extLst xmlns:a="http://schemas.openxmlformats.org/drawingml/2006/main">
              <a:ext uri="{FF2B5EF4-FFF2-40B4-BE49-F238E27FC236}">
                <a16:creationId xmlns:a16="http://schemas.microsoft.com/office/drawing/2014/main" id="{41716426-A7B9-4626-B9A7-5848FC7B697A}"/>
              </a:ext>
            </a:extLst>
          </p:cNvPr>
          <p:cNvSpPr>
            <a:spLocks xmlns:a="http://schemas.openxmlformats.org/drawingml/2006/main" noGrp="1"/>
          </p:cNvSpPr>
          <p:nvPr/>
        </p:nvSpPr>
        <p:spPr>
          <a:xfrm xmlns:a="http://schemas.openxmlformats.org/drawingml/2006/main">
            <a:off x="6381750" y="197167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Signature engine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Features and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profile / UNKNOWN</a:t>
            </a:r>
          </a:p>
        </p:txBody>
      </p:sp>
      <p:cxnSp>
        <p:nvCxnSpPr>
          <p:cNvPr id="110" name=""/>
          <p:cNvCxnSpPr>
            <a:stCxn xmlns:a="http://schemas.openxmlformats.org/drawingml/2006/main" id="90" idx="3"/>
            <a:endCxn xmlns:a="http://schemas.openxmlformats.org/drawingml/2006/main" id="91" idx="1"/>
          </p:cNvCxnSpPr>
          <p:nvPr/>
        </p:nvCxnSpPr>
        <p:spPr>
          <a:xfrm xmlns:a="http://schemas.openxmlformats.org/drawingml/2006/main">
            <a:off x="2762250" y="2528888"/>
            <a:ext cx="6572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cxnSp>
        <p:nvCxnSpPr>
          <p:cNvPr id="111" name=""/>
          <p:cNvCxnSpPr>
            <a:stCxn xmlns:a="http://schemas.openxmlformats.org/drawingml/2006/main" id="91" idx="3"/>
            <a:endCxn xmlns:a="http://schemas.openxmlformats.org/drawingml/2006/main" id="92" idx="1"/>
          </p:cNvCxnSpPr>
          <p:nvPr/>
        </p:nvCxnSpPr>
        <p:spPr>
          <a:xfrm xmlns:a="http://schemas.openxmlformats.org/drawingml/2006/main">
            <a:off x="5724525" y="2528888"/>
            <a:ext cx="65722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95" name="USB link">
            <a:extLst xmlns:a="http://schemas.openxmlformats.org/drawingml/2006/main">
              <a:ext uri="{FF2B5EF4-FFF2-40B4-BE49-F238E27FC236}">
                <a16:creationId xmlns:a16="http://schemas.microsoft.com/office/drawing/2014/main" id="{3D706644-0B7D-4E2E-8618-ED6C910A9327}"/>
              </a:ext>
            </a:extLst>
          </p:cNvPr>
          <p:cNvSpPr>
            <a:spLocks xmlns:a="http://schemas.openxmlformats.org/drawingml/2006/main" noGrp="1"/>
          </p:cNvSpPr>
          <p:nvPr/>
        </p:nvSpPr>
        <p:spPr>
          <a:xfrm xmlns:a="http://schemas.openxmlformats.org/drawingml/2006/main">
            <a:off x="5781675" y="16954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USB serial</a:t>
            </a:r>
          </a:p>
        </p:txBody>
      </p:sp>
      <p:sp>
        <p:nvSpPr>
          <p:cNvPr id="96" name="Load energy">
            <a:extLst xmlns:a="http://schemas.openxmlformats.org/drawingml/2006/main">
              <a:ext uri="{FF2B5EF4-FFF2-40B4-BE49-F238E27FC236}">
                <a16:creationId xmlns:a16="http://schemas.microsoft.com/office/drawing/2014/main" id="{DE518147-DB2A-441E-8F51-68B1D043E7A7}"/>
              </a:ext>
            </a:extLst>
          </p:cNvPr>
          <p:cNvSpPr>
            <a:spLocks xmlns:a="http://schemas.openxmlformats.org/drawingml/2006/main" noGrp="1"/>
          </p:cNvSpPr>
          <p:nvPr/>
        </p:nvSpPr>
        <p:spPr>
          <a:xfrm xmlns:a="http://schemas.openxmlformats.org/drawingml/2006/main">
            <a:off x="6229350" y="4048125"/>
            <a:ext cx="2524125" cy="10382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Load-energy estimate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Power, state, duration</a:t>
            </a:r>
          </a:p>
        </p:txBody>
      </p:sp>
      <p:cxnSp>
        <p:nvCxnSpPr>
          <p:cNvPr id="114" name=""/>
          <p:cNvCxnSpPr>
            <a:stCxn xmlns:a="http://schemas.openxmlformats.org/drawingml/2006/main" id="92" idx="2"/>
            <a:endCxn xmlns:a="http://schemas.openxmlformats.org/drawingml/2006/main" id="96" idx="0"/>
          </p:cNvCxnSpPr>
          <p:nvPr/>
        </p:nvCxnSpPr>
        <p:spPr>
          <a:xfrm xmlns:a="http://schemas.openxmlformats.org/drawingml/2006/main" flipH="1">
            <a:off x="7491413" y="3086100"/>
            <a:ext cx="42863" cy="96202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sp>
        <p:nvSpPr>
          <p:cNvPr id="98" name="Runtime">
            <a:extLst xmlns:a="http://schemas.openxmlformats.org/drawingml/2006/main">
              <a:ext uri="{FF2B5EF4-FFF2-40B4-BE49-F238E27FC236}">
                <a16:creationId xmlns:a16="http://schemas.microsoft.com/office/drawing/2014/main" id="{DB1E4FF6-48A0-4747-8B31-244C39FDEFEE}"/>
              </a:ext>
            </a:extLst>
          </p:cNvPr>
          <p:cNvSpPr>
            <a:spLocks xmlns:a="http://schemas.openxmlformats.org/drawingml/2006/main" noGrp="1"/>
          </p:cNvSpPr>
          <p:nvPr/>
        </p:nvSpPr>
        <p:spPr>
          <a:xfrm xmlns:a="http://schemas.openxmlformats.org/drawingml/2006/main">
            <a:off x="3314700" y="4048125"/>
            <a:ext cx="2419350" cy="10382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Energy and runtime</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SOC + usable Wh</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 demand estimate</a:t>
            </a:r>
          </a:p>
        </p:txBody>
      </p:sp>
      <p:cxnSp>
        <p:nvCxnSpPr>
          <p:cNvPr id="116" name=""/>
          <p:cNvCxnSpPr>
            <a:stCxn xmlns:a="http://schemas.openxmlformats.org/drawingml/2006/main" id="91" idx="2"/>
            <a:endCxn xmlns:a="http://schemas.openxmlformats.org/drawingml/2006/main" id="98" idx="0"/>
          </p:cNvCxnSpPr>
          <p:nvPr/>
        </p:nvCxnSpPr>
        <p:spPr>
          <a:xfrm xmlns:a="http://schemas.openxmlformats.org/drawingml/2006/main" flipH="1">
            <a:off x="4524375" y="3086100"/>
            <a:ext cx="47625" cy="962025"/>
          </a:xfrm>
          <a:prstGeom xmlns:a="http://schemas.openxmlformats.org/drawingml/2006/main" prst="bentConnector4">
            <a:avLst>
              <a:gd name="adj1" fmla="val 0"/>
              <a:gd name="adj2" fmla="val 50000"/>
            </a:avLst>
          </a:prstGeom>
          <a:ln xmlns:a="http://schemas.openxmlformats.org/drawingml/2006/main" w="19050">
            <a:solidFill>
              <a:srgbClr val="333333"/>
            </a:solidFill>
            <a:prstDash val="solid"/>
            <a:tailEnd type="triangle" w="med" len="med"/>
          </a:ln>
        </p:spPr>
      </p:cxnSp>
      <p:cxnSp>
        <p:nvCxnSpPr>
          <p:cNvPr id="117" name=""/>
          <p:cNvCxnSpPr>
            <a:stCxn xmlns:a="http://schemas.openxmlformats.org/drawingml/2006/main" id="96" idx="1"/>
            <a:endCxn xmlns:a="http://schemas.openxmlformats.org/drawingml/2006/main" id="98" idx="3"/>
          </p:cNvCxnSpPr>
          <p:nvPr/>
        </p:nvCxnSpPr>
        <p:spPr>
          <a:xfrm xmlns:a="http://schemas.openxmlformats.org/drawingml/2006/main" flipH="1">
            <a:off x="5734050" y="4567238"/>
            <a:ext cx="495300"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101" name="Dashboard">
            <a:extLst xmlns:a="http://schemas.openxmlformats.org/drawingml/2006/main">
              <a:ext uri="{FF2B5EF4-FFF2-40B4-BE49-F238E27FC236}">
                <a16:creationId xmlns:a16="http://schemas.microsoft.com/office/drawing/2014/main" id="{36549E23-F691-4617-9EE1-1F4465ABE688}"/>
              </a:ext>
            </a:extLst>
          </p:cNvPr>
          <p:cNvSpPr>
            <a:spLocks xmlns:a="http://schemas.openxmlformats.org/drawingml/2006/main" noGrp="1"/>
          </p:cNvSpPr>
          <p:nvPr/>
        </p:nvSpPr>
        <p:spPr>
          <a:xfrm xmlns:a="http://schemas.openxmlformats.org/drawingml/2006/main">
            <a:off x="457200" y="4048125"/>
            <a:ext cx="2333625" cy="10382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Local dashboard</a:t>
            </a:r>
          </a:p>
          <a:p xmlns:a="http://schemas.openxmlformats.org/drawingml/2006/main">
            <a:pPr algn="ctr">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Estimates and CSV</a:t>
            </a:r>
          </a:p>
        </p:txBody>
      </p:sp>
      <p:cxnSp>
        <p:nvCxnSpPr>
          <p:cNvPr id="119" name=""/>
          <p:cNvCxnSpPr>
            <a:stCxn xmlns:a="http://schemas.openxmlformats.org/drawingml/2006/main" id="98" idx="1"/>
            <a:endCxn xmlns:a="http://schemas.openxmlformats.org/drawingml/2006/main" id="101" idx="3"/>
          </p:cNvCxnSpPr>
          <p:nvPr/>
        </p:nvCxnSpPr>
        <p:spPr>
          <a:xfrm xmlns:a="http://schemas.openxmlformats.org/drawingml/2006/main" flipH="1">
            <a:off x="2790825" y="4567238"/>
            <a:ext cx="523875" cy="0"/>
          </a:xfrm>
          <a:prstGeom xmlns:a="http://schemas.openxmlformats.org/drawingml/2006/main" prst="straightConnector1">
            <a:avLst/>
          </a:prstGeom>
          <a:ln xmlns:a="http://schemas.openxmlformats.org/drawingml/2006/main" w="19050">
            <a:solidFill>
              <a:srgbClr val="333333"/>
            </a:solidFill>
            <a:prstDash val="solid"/>
            <a:tailEnd type="triangle" w="med" len="med"/>
          </a:ln>
        </p:spPr>
      </p:cxnSp>
      <p:sp>
        <p:nvSpPr>
          <p:cNvPr id="103" name="Architecture status">
            <a:extLst xmlns:a="http://schemas.openxmlformats.org/drawingml/2006/main">
              <a:ext uri="{FF2B5EF4-FFF2-40B4-BE49-F238E27FC236}">
                <a16:creationId xmlns:a16="http://schemas.microsoft.com/office/drawing/2014/main" id="{DF837966-931F-4AD9-A931-D2BB28BC3D66}"/>
              </a:ext>
            </a:extLst>
          </p:cNvPr>
          <p:cNvSpPr>
            <a:spLocks xmlns:a="http://schemas.openxmlformats.org/drawingml/2006/main" noGrp="1"/>
          </p:cNvSpPr>
          <p:nvPr/>
        </p:nvSpPr>
        <p:spPr>
          <a:xfrm xmlns:a="http://schemas.openxmlformats.org/drawingml/2006/main">
            <a:off x="523875" y="5514975"/>
            <a:ext cx="81343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Foundation: sensing firmware, charge/runtime software, dashboard and Rev B CAD.</a:t>
            </a:r>
          </a:p>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Proposed: raw signature logging, trained profiles and profile-based estimates.</a:t>
            </a:r>
          </a:p>
        </p:txBody>
      </p:sp>
    </p:spTree>
    <p:extLst>
      <p:ext uri="{BB962C8B-B14F-4D97-AF65-F5344CB8AC3E}">
        <p14:creationId xmlns:p14="http://schemas.microsoft.com/office/powerpoint/2010/main" val="13455382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117A7CF-2E0A-4A4C-BF13-8464DC50C7A4}"/>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9D1298AF-C6F8-4138-A5B4-2BF779FA5B20}"/>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 Data Collection</a:t>
            </a:r>
            <a:endParaRPr sz="1050"/>
          </a:p>
        </p:txBody>
      </p:sp>
      <p:graphicFrame>
        <p:nvGraphicFramePr>
          <p:cNvPr id="94" name=""/>
          <p:cNvGraphicFramePr/>
          <p:nvPr/>
        </p:nvGraphicFramePr>
        <p:xfrm>
          <a:off xmlns:a="http://schemas.openxmlformats.org/drawingml/2006/main" x="457200" y="1209675"/>
          <a:ext xmlns:a="http://schemas.openxmlformats.org/drawingml/2006/main" cx="8229600" cy="3552825"/>
        </p:xfrm>
        <a:graphic xmlns:a="http://schemas.openxmlformats.org/drawingml/2006/main">
          <a:graphicData uri="http://schemas.openxmlformats.org/drawingml/2006/table">
            <a:tbl>
              <a:tblPr/>
              <a:tblGrid>
                <a:gridCol w="2286000"/>
                <a:gridCol w="5943600"/>
              </a:tblGrid>
              <a:tr h="592138">
                <a:tc>
                  <a:txBody>
                    <a:bodyPr>
                      <a:noAutofit/>
                    </a:bodyPr>
                    <a:lstStyle/>
                    <a:p>
                      <a:pPr algn="l"/>
                      <a:r>
                        <a:rPr sz="1875" b="1">
                          <a:solidFill>
                            <a:srgbClr val="000000"/>
                          </a:solidFill>
                          <a:latin typeface="Times New Roman"/>
                          <a:ea typeface="Times New Roman"/>
                          <a:cs typeface="Times New Roman"/>
                        </a:rPr>
                        <a:t>Data item</a:t>
                      </a:r>
                    </a:p>
                  </a:txBody>
                  <a:tcPr marL="95250" marR="95250" marT="66675" marB="66675" anchor="ctr">
                    <a:solidFill>
                      <a:srgbClr val="F2F2F2"/>
                    </a:solidFill>
                  </a:tcPr>
                </a:tc>
                <a:tc>
                  <a:txBody>
                    <a:bodyPr>
                      <a:noAutofit/>
                    </a:bodyPr>
                    <a:lstStyle/>
                    <a:p>
                      <a:pPr algn="l"/>
                      <a:r>
                        <a:rPr sz="1875" b="1">
                          <a:solidFill>
                            <a:srgbClr val="000000"/>
                          </a:solidFill>
                          <a:latin typeface="Times New Roman"/>
                          <a:ea typeface="Times New Roman"/>
                          <a:cs typeface="Times New Roman"/>
                        </a:rPr>
                        <a:t>Collection plan</a:t>
                      </a:r>
                    </a:p>
                  </a:txBody>
                  <a:tcPr marL="95250" marR="95250" marT="66675" marB="66675" anchor="ctr">
                    <a:solidFill>
                      <a:srgbClr val="F2F2F2"/>
                    </a:solidFill>
                  </a:tcPr>
                </a:tc>
              </a:tr>
              <a:tr h="592138">
                <a:tc>
                  <a:txBody>
                    <a:bodyPr>
                      <a:noAutofit/>
                    </a:bodyPr>
                    <a:lstStyle/>
                    <a:p>
                      <a:pPr algn="l"/>
                      <a:r>
                        <a:rPr sz="1875" b="0">
                          <a:solidFill>
                            <a:srgbClr val="000000"/>
                          </a:solidFill>
                          <a:latin typeface="Times New Roman"/>
                          <a:ea typeface="Times New Roman"/>
                          <a:cs typeface="Times New Roman"/>
                        </a:rPr>
                        <a:t>Initial scope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4–6 known compatible DC load types, one per run</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Recorded fields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Time, voltage, current, power, device label and state</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Conditions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Repeated sessions, battery levels and operating states</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Features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Power steps, mean, variation, slope and duration</a:t>
                      </a:r>
                    </a:p>
                  </a:txBody>
                  <a:tcPr marL="95250" marR="95250" marT="66675" marB="66675" anchor="ctr">
                    <a:solidFill>
                      <a:srgbClr val="FFFFFF"/>
                    </a:solidFill>
                  </a:tcPr>
                </a:tc>
              </a:tr>
              <a:tr h="592138">
                <a:tc>
                  <a:txBody>
                    <a:bodyPr>
                      <a:noAutofit/>
                    </a:bodyPr>
                    <a:lstStyle/>
                    <a:p>
                      <a:pPr algn="l"/>
                      <a:r>
                        <a:rPr sz="1875" b="0">
                          <a:solidFill>
                            <a:srgbClr val="000000"/>
                          </a:solidFill>
                          <a:latin typeface="Times New Roman"/>
                          <a:ea typeface="Times New Roman"/>
                          <a:cs typeface="Times New Roman"/>
                        </a:rPr>
                        <a:t>Train / test split</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Separate complete sessions, then test combinations</a:t>
                      </a:r>
                    </a:p>
                  </a:txBody>
                  <a:tcPr marL="95250" marR="95250" marT="66675" marB="66675" anchor="ctr">
                    <a:solidFill>
                      <a:srgbClr val="FFFFFF"/>
                    </a:solidFill>
                  </a:tcPr>
                </a:tc>
              </a:tr>
            </a:tbl>
          </a:graphicData>
        </a:graphic>
      </p:graphicFrame>
      <p:sp>
        <p:nvSpPr>
          <p:cNvPr id="90" name="Sampling plan">
            <a:extLst xmlns:a="http://schemas.openxmlformats.org/drawingml/2006/main">
              <a:ext uri="{FF2B5EF4-FFF2-40B4-BE49-F238E27FC236}">
                <a16:creationId xmlns:a16="http://schemas.microsoft.com/office/drawing/2014/main" id="{03AE7882-9D7E-4D5E-BBE7-F04C7995E276}"/>
              </a:ext>
            </a:extLst>
          </p:cNvPr>
          <p:cNvSpPr>
            <a:spLocks xmlns:a="http://schemas.openxmlformats.org/drawingml/2006/main" noGrp="1"/>
          </p:cNvSpPr>
          <p:nvPr/>
        </p:nvSpPr>
        <p:spPr>
          <a:xfrm xmlns:a="http://schemas.openxmlformats.org/drawingml/2006/main">
            <a:off x="523875" y="5010150"/>
            <a:ext cx="8115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Nominal acquisition: 10 Hz. Current telemetry: approximately 1 Hz.</a:t>
            </a:r>
          </a:p>
          <a:p xmlns:a="http://schemas.openxmlformats.org/drawingml/2006/main">
            <a:pPr algn="l">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Add and qualify raw logging before collecting signature features.</a:t>
            </a:r>
          </a:p>
        </p:txBody>
      </p:sp>
      <p:sp>
        <p:nvSpPr>
          <p:cNvPr id="91" name="Dataset status">
            <a:extLst xmlns:a="http://schemas.openxmlformats.org/drawingml/2006/main">
              <a:ext uri="{FF2B5EF4-FFF2-40B4-BE49-F238E27FC236}">
                <a16:creationId xmlns:a16="http://schemas.microsoft.com/office/drawing/2014/main" id="{4835029D-1788-4810-BC60-674235ADE192}"/>
              </a:ext>
            </a:extLst>
          </p:cNvPr>
          <p:cNvSpPr>
            <a:spLocks xmlns:a="http://schemas.openxmlformats.org/drawingml/2006/main" noGrp="1"/>
          </p:cNvSpPr>
          <p:nvPr/>
        </p:nvSpPr>
        <p:spPr>
          <a:xfrm xmlns:a="http://schemas.openxmlformats.org/drawingml/2006/main">
            <a:off x="523875" y="5943600"/>
            <a:ext cx="8115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7030A0"/>
                </a:solidFill>
                <a:latin typeface="Times New Roman"/>
                <a:ea typeface="Times New Roman"/>
                <a:cs typeface="Times New Roman"/>
              </a:defRPr>
            </a:pPr>
            <a:r>
              <a:rPr sz="1800" b="1">
                <a:solidFill>
                  <a:srgbClr val="7030A0"/>
                </a:solidFill>
                <a:latin typeface="Times New Roman"/>
                <a:ea typeface="Times New Roman"/>
                <a:cs typeface="Times New Roman"/>
              </a:rPr>
              <a:t>Physical signature records are the next stage.</a:t>
            </a:r>
          </a:p>
          <a:p xmlns:a="http://schemas.openxmlformats.org/drawingml/2006/main">
            <a:pPr algn="l">
              <a:defRPr sz="1800" b="1">
                <a:solidFill>
                  <a:srgbClr val="7030A0"/>
                </a:solidFill>
                <a:latin typeface="Times New Roman"/>
                <a:ea typeface="Times New Roman"/>
                <a:cs typeface="Times New Roman"/>
              </a:defRPr>
            </a:pPr>
            <a:r>
              <a:rPr sz="1800" b="1">
                <a:solidFill>
                  <a:srgbClr val="7030A0"/>
                </a:solidFill>
                <a:latin typeface="Times New Roman"/>
                <a:ea typeface="Times New Roman"/>
                <a:cs typeface="Times New Roman"/>
              </a:rPr>
              <a:t>Existing synthetic records support development and demonstration.</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BB210429-D48D-49A2-A798-4FD643CBEF43}"/>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3956F633-02B1-4C8B-B30C-5544204B1FF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Expected Outcomes and Evaluation</a:t>
            </a:r>
            <a:endParaRPr sz="1050"/>
          </a:p>
        </p:txBody>
      </p:sp>
      <p:graphicFrame>
        <p:nvGraphicFramePr>
          <p:cNvPr id="94" name=""/>
          <p:cNvGraphicFramePr/>
          <p:nvPr/>
        </p:nvGraphicFramePr>
        <p:xfrm>
          <a:off xmlns:a="http://schemas.openxmlformats.org/drawingml/2006/main" x="457200" y="1209675"/>
          <a:ext xmlns:a="http://schemas.openxmlformats.org/drawingml/2006/main" cx="8229600" cy="3600450"/>
        </p:xfrm>
        <a:graphic xmlns:a="http://schemas.openxmlformats.org/drawingml/2006/main">
          <a:graphicData uri="http://schemas.openxmlformats.org/drawingml/2006/table">
            <a:tbl>
              <a:tblPr/>
              <a:tblGrid>
                <a:gridCol w="2724150"/>
                <a:gridCol w="5505450"/>
              </a:tblGrid>
              <a:tr h="600075">
                <a:tc>
                  <a:txBody>
                    <a:bodyPr>
                      <a:noAutofit/>
                    </a:bodyPr>
                    <a:lstStyle/>
                    <a:p>
                      <a:pPr algn="l"/>
                      <a:r>
                        <a:rPr sz="1875" b="1">
                          <a:solidFill>
                            <a:srgbClr val="000000"/>
                          </a:solidFill>
                          <a:latin typeface="Times New Roman"/>
                          <a:ea typeface="Times New Roman"/>
                          <a:cs typeface="Times New Roman"/>
                        </a:rPr>
                        <a:t>Expected output</a:t>
                      </a:r>
                    </a:p>
                  </a:txBody>
                  <a:tcPr marL="95250" marR="95250" marT="66675" marB="66675" anchor="ctr">
                    <a:solidFill>
                      <a:srgbClr val="F2F2F2"/>
                    </a:solidFill>
                  </a:tcPr>
                </a:tc>
                <a:tc>
                  <a:txBody>
                    <a:bodyPr>
                      <a:noAutofit/>
                    </a:bodyPr>
                    <a:lstStyle/>
                    <a:p>
                      <a:pPr algn="l"/>
                      <a:r>
                        <a:rPr sz="1875" b="1">
                          <a:solidFill>
                            <a:srgbClr val="000000"/>
                          </a:solidFill>
                          <a:latin typeface="Times New Roman"/>
                          <a:ea typeface="Times New Roman"/>
                          <a:cs typeface="Times New Roman"/>
                        </a:rPr>
                        <a:t>Evaluation method</a:t>
                      </a:r>
                    </a:p>
                  </a:txBody>
                  <a:tcPr marL="95250" marR="95250" marT="66675" marB="66675" anchor="ctr">
                    <a:solidFill>
                      <a:srgbClr val="F2F2F2"/>
                    </a:solidFill>
                  </a:tcPr>
                </a:tc>
              </a:tr>
              <a:tr h="600075">
                <a:tc>
                  <a:txBody>
                    <a:bodyPr>
                      <a:noAutofit/>
                    </a:bodyPr>
                    <a:lstStyle/>
                    <a:p>
                      <a:pPr algn="l"/>
                      <a:r>
                        <a:rPr sz="1875" b="0">
                          <a:solidFill>
                            <a:srgbClr val="000000"/>
                          </a:solidFill>
                          <a:latin typeface="Times New Roman"/>
                          <a:ea typeface="Times New Roman"/>
                          <a:cs typeface="Times New Roman"/>
                        </a:rPr>
                        <a:t>Known-load matching</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Confusion matrix and macro F1 on held-out sessions</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Unknown indication</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Unknown detection and false acceptance</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Consumed-energy estimate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Estimated Wh against independent reference energy</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Battery-runtime estimate</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Absolute error in minutes and percentage error</a:t>
                      </a:r>
                    </a:p>
                  </a:txBody>
                  <a:tcPr marL="95250" marR="95250" marT="66675" marB="66675" anchor="ctr">
                    <a:solidFill>
                      <a:srgbClr val="FFFFFF"/>
                    </a:solidFill>
                  </a:tcPr>
                </a:tc>
              </a:tr>
              <a:tr h="600075">
                <a:tc>
                  <a:txBody>
                    <a:bodyPr>
                      <a:noAutofit/>
                    </a:bodyPr>
                    <a:lstStyle/>
                    <a:p>
                      <a:pPr algn="l"/>
                      <a:r>
                        <a:rPr sz="1875" b="0">
                          <a:solidFill>
                            <a:srgbClr val="000000"/>
                          </a:solidFill>
                          <a:latin typeface="Times New Roman"/>
                          <a:ea typeface="Times New Roman"/>
                          <a:cs typeface="Times New Roman"/>
                        </a:rPr>
                        <a:t>Trustworthy measurements</a:t>
                      </a:r>
                    </a:p>
                  </a:txBody>
                  <a:tcPr marL="95250" marR="95250" marT="66675" marB="66675" anchor="ctr">
                    <a:solidFill>
                      <a:srgbClr val="FFFFFF"/>
                    </a:solidFill>
                  </a:tcPr>
                </a:tc>
                <a:tc>
                  <a:txBody>
                    <a:bodyPr>
                      <a:noAutofit/>
                    </a:bodyPr>
                    <a:lstStyle/>
                    <a:p>
                      <a:pPr algn="l"/>
                      <a:r>
                        <a:rPr sz="1875" b="0">
                          <a:solidFill>
                            <a:srgbClr val="000000"/>
                          </a:solidFill>
                          <a:latin typeface="Times New Roman"/>
                          <a:ea typeface="Times New Roman"/>
                          <a:cs typeface="Times New Roman"/>
                        </a:rPr>
                        <a:t>Calibration errors and missing-data handling</a:t>
                      </a:r>
                    </a:p>
                  </a:txBody>
                  <a:tcPr marL="95250" marR="95250" marT="66675" marB="66675" anchor="ctr">
                    <a:solidFill>
                      <a:srgbClr val="FFFFFF"/>
                    </a:solidFill>
                  </a:tcPr>
                </a:tc>
              </a:tr>
            </a:tbl>
          </a:graphicData>
        </a:graphic>
      </p:graphicFrame>
      <p:sp>
        <p:nvSpPr>
          <p:cNvPr id="90" name="Recorded foundation evidence">
            <a:extLst xmlns:a="http://schemas.openxmlformats.org/drawingml/2006/main">
              <a:ext uri="{FF2B5EF4-FFF2-40B4-BE49-F238E27FC236}">
                <a16:creationId xmlns:a16="http://schemas.microsoft.com/office/drawing/2014/main" id="{CF2C545E-36F1-47F4-BB87-0E0280ABCFF2}"/>
              </a:ext>
            </a:extLst>
          </p:cNvPr>
          <p:cNvSpPr>
            <a:spLocks xmlns:a="http://schemas.openxmlformats.org/drawingml/2006/main" noGrp="1"/>
          </p:cNvSpPr>
          <p:nvPr/>
        </p:nvSpPr>
        <p:spPr>
          <a:xfrm xmlns:a="http://schemas.openxmlformats.org/drawingml/2006/main">
            <a:off x="533400" y="5095875"/>
            <a:ext cx="81057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Foundation audit: 45 Python tests, 67 host C++ assertions.</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Both ESP32 firmware targets compile.</a:t>
            </a:r>
          </a:p>
        </p:txBody>
      </p:sp>
      <p:sp>
        <p:nvSpPr>
          <p:cNvPr id="91" name="Estimation validation">
            <a:extLst xmlns:a="http://schemas.openxmlformats.org/drawingml/2006/main">
              <a:ext uri="{FF2B5EF4-FFF2-40B4-BE49-F238E27FC236}">
                <a16:creationId xmlns:a16="http://schemas.microsoft.com/office/drawing/2014/main" id="{5C400C4F-79EE-4CA3-8541-ACFBC3F653B9}"/>
              </a:ext>
            </a:extLst>
          </p:cNvPr>
          <p:cNvSpPr>
            <a:spLocks xmlns:a="http://schemas.openxmlformats.org/drawingml/2006/main" noGrp="1"/>
          </p:cNvSpPr>
          <p:nvPr/>
        </p:nvSpPr>
        <p:spPr>
          <a:xfrm xmlns:a="http://schemas.openxmlformats.org/drawingml/2006/main">
            <a:off x="533400" y="599122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Signature recognition and physical estimation accuracy</a:t>
            </a:r>
          </a:p>
          <a:p xmlns:a="http://schemas.openxmlformats.org/drawingml/2006/main">
            <a:pPr algn="l">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will be established through measured tests.</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A671668-464E-418E-B0BF-2A78ECCEB1B7}"/>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287DF9EB-48BD-4CB0-988B-E2FFD9F9BB2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3" name="Table 1"/>
          <p:cNvGraphicFramePr/>
          <p:nvPr/>
        </p:nvGraphicFramePr>
        <p:xfrm>
          <a:off xmlns:a="http://schemas.openxmlformats.org/drawingml/2006/main" x="619125" y="1238250"/>
          <a:ext xmlns:a="http://schemas.openxmlformats.org/drawingml/2006/main" cx="7905750" cy="4133850"/>
        </p:xfrm>
        <a:graphic xmlns:a="http://schemas.openxmlformats.org/drawingml/2006/main">
          <a:graphicData uri="http://schemas.openxmlformats.org/drawingml/2006/table">
            <a:tbl>
              <a:tblPr/>
              <a:tblGrid>
                <a:gridCol w="2219325"/>
                <a:gridCol w="5686425"/>
              </a:tblGrid>
              <a:tr h="402590">
                <a:tc>
                  <a:txBody>
                    <a:bodyPr>
                      <a:noAutofit/>
                    </a:bodyPr>
                    <a:lstStyle/>
                    <a:p>
                      <a:r>
                        <a:rPr sz="1875" b="1">
                          <a:solidFill>
                            <a:srgbClr val="000000"/>
                          </a:solidFill>
                          <a:latin typeface="Times New Roman"/>
                          <a:ea typeface="Times New Roman"/>
                          <a:cs typeface="Times New Roman"/>
                        </a:rPr>
                        <a:t>Period</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1">
                          <a:solidFill>
                            <a:srgbClr val="000000"/>
                          </a:solidFill>
                          <a:latin typeface="Times New Roman"/>
                          <a:ea typeface="Times New Roman"/>
                          <a:cs typeface="Times New Roman"/>
                        </a:rPr>
                        <a:t>Work and milestone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September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Foundation prepared: firmware, dashboard, CAD and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Assemble, calibrate and implement raw signature logging</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75" b="0">
                          <a:solidFill>
                            <a:srgbClr val="000000"/>
                          </a:solidFill>
                          <a:latin typeface="Times New Roman"/>
                          <a:ea typeface="Times New Roman"/>
                          <a:cs typeface="Times New Roman"/>
                        </a:rPr>
                        <a:t>November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Record labelled sessions and compare matching methods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Dec 2026–Jan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Validate load-energy and battery-runtime estimates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Feb–Mar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Repeat tests, analyse errors and prepare final demonstration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Review milestone">
            <a:extLst xmlns:a="http://schemas.openxmlformats.org/drawingml/2006/main">
              <a:ext uri="{FF2B5EF4-FFF2-40B4-BE49-F238E27FC236}">
                <a16:creationId xmlns:a16="http://schemas.microsoft.com/office/drawing/2014/main" id="{8A11D83F-94A8-4503-AA05-EEF23C422718}"/>
              </a:ext>
            </a:extLst>
          </p:cNvPr>
          <p:cNvSpPr>
            <a:spLocks xmlns:a="http://schemas.openxmlformats.org/drawingml/2006/main" noGrp="1"/>
          </p:cNvSpPr>
          <p:nvPr/>
        </p:nvSpPr>
        <p:spPr>
          <a:xfrm xmlns:a="http://schemas.openxmlformats.org/drawingml/2006/main">
            <a:off x="819150" y="5715000"/>
            <a:ext cx="7648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Review 3: 3 October 2026</a:t>
            </a:r>
          </a:p>
          <a:p xmlns:a="http://schemas.openxmlformats.org/drawingml/2006/main">
            <a:pPr algn="l">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Final submission: the department’s next-semester schedule</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C9C7B06-B052-4F32-B126-E6C376AC229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1FC88C88-F156-4B11-985D-41548CE994F6}"/>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9415B484-D51B-4D34-8208-1E1DFA7E5679}"/>
              </a:ext>
            </a:extLst>
          </p:cNvPr>
          <p:cNvSpPr>
            <a:spLocks xmlns:a="http://schemas.openxmlformats.org/drawingml/2006/main" noGrp="1"/>
          </p:cNvSpPr>
          <p:nvPr/>
        </p:nvSpPr>
        <p:spPr>
          <a:xfrm xmlns:a="http://schemas.openxmlformats.org/drawingml/2006/main">
            <a:off x="352425"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Athanasiadis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ce15443b59a41dd"/>
              </a:rPr>
              <a:t>10.3390/en14030767</a:t>
            </a:r>
          </a:p>
        </p:txBody>
      </p:sp>
      <p:sp>
        <p:nvSpPr>
          <p:cNvPr id="90" name="Reference 2">
            <a:extLst xmlns:a="http://schemas.openxmlformats.org/drawingml/2006/main">
              <a:ext uri="{FF2B5EF4-FFF2-40B4-BE49-F238E27FC236}">
                <a16:creationId xmlns:a16="http://schemas.microsoft.com/office/drawing/2014/main" id="{20FFE2B3-3B99-404A-98B1-EA97D6CD9BE0}"/>
              </a:ext>
            </a:extLst>
          </p:cNvPr>
          <p:cNvSpPr>
            <a:spLocks xmlns:a="http://schemas.openxmlformats.org/drawingml/2006/main" noGrp="1"/>
          </p:cNvSpPr>
          <p:nvPr/>
        </p:nvSpPr>
        <p:spPr>
          <a:xfrm xmlns:a="http://schemas.openxmlformats.org/drawingml/2006/main">
            <a:off x="352425"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Mollel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b7040513df04002"/>
              </a:rPr>
              <a:t>10.3390/s23104845</a:t>
            </a:r>
          </a:p>
        </p:txBody>
      </p:sp>
      <p:sp>
        <p:nvSpPr>
          <p:cNvPr id="91" name="Reference 3">
            <a:extLst xmlns:a="http://schemas.openxmlformats.org/drawingml/2006/main">
              <a:ext uri="{FF2B5EF4-FFF2-40B4-BE49-F238E27FC236}">
                <a16:creationId xmlns:a16="http://schemas.microsoft.com/office/drawing/2014/main" id="{AC50CB66-9BC2-4D2E-B5E9-52850D83A8CC}"/>
              </a:ext>
            </a:extLst>
          </p:cNvPr>
          <p:cNvSpPr>
            <a:spLocks xmlns:a="http://schemas.openxmlformats.org/drawingml/2006/main" noGrp="1"/>
          </p:cNvSpPr>
          <p:nvPr/>
        </p:nvSpPr>
        <p:spPr>
          <a:xfrm xmlns:a="http://schemas.openxmlformats.org/drawingml/2006/main">
            <a:off x="352425"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Jaime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8c847194f167426b"/>
              </a:rPr>
              <a:t>10.3390/inventions11020029</a:t>
            </a:r>
          </a:p>
        </p:txBody>
      </p:sp>
      <p:sp>
        <p:nvSpPr>
          <p:cNvPr id="92" name="Reference 4">
            <a:extLst xmlns:a="http://schemas.openxmlformats.org/drawingml/2006/main">
              <a:ext uri="{FF2B5EF4-FFF2-40B4-BE49-F238E27FC236}">
                <a16:creationId xmlns:a16="http://schemas.microsoft.com/office/drawing/2014/main" id="{70B2F222-20D4-49A0-B5A4-16A72A0C0532}"/>
              </a:ext>
            </a:extLst>
          </p:cNvPr>
          <p:cNvSpPr>
            <a:spLocks xmlns:a="http://schemas.openxmlformats.org/drawingml/2006/main" noGrp="1"/>
          </p:cNvSpPr>
          <p:nvPr/>
        </p:nvSpPr>
        <p:spPr>
          <a:xfrm xmlns:a="http://schemas.openxmlformats.org/drawingml/2006/main">
            <a:off x="352425"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Xiang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c075b984dd9499a"/>
              </a:rPr>
              <a:t>10.3390/en19081883</a:t>
            </a:r>
          </a:p>
        </p:txBody>
      </p:sp>
      <p:sp>
        <p:nvSpPr>
          <p:cNvPr id="93" name="Reference 5">
            <a:extLst xmlns:a="http://schemas.openxmlformats.org/drawingml/2006/main">
              <a:ext uri="{FF2B5EF4-FFF2-40B4-BE49-F238E27FC236}">
                <a16:creationId xmlns:a16="http://schemas.microsoft.com/office/drawing/2014/main" id="{810A97FF-9CC6-42D9-AE1D-9EEAF0077D2C}"/>
              </a:ext>
            </a:extLst>
          </p:cNvPr>
          <p:cNvSpPr>
            <a:spLocks xmlns:a="http://schemas.openxmlformats.org/drawingml/2006/main" noGrp="1"/>
          </p:cNvSpPr>
          <p:nvPr/>
        </p:nvSpPr>
        <p:spPr>
          <a:xfrm xmlns:a="http://schemas.openxmlformats.org/drawingml/2006/main">
            <a:off x="352425"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Li et al., 2026</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6248745efa44b08"/>
              </a:rPr>
              <a:t>10.3390/en19133131</a:t>
            </a:r>
          </a:p>
        </p:txBody>
      </p:sp>
      <p:sp>
        <p:nvSpPr>
          <p:cNvPr id="94" name="Reference 6">
            <a:extLst xmlns:a="http://schemas.openxmlformats.org/drawingml/2006/main">
              <a:ext uri="{FF2B5EF4-FFF2-40B4-BE49-F238E27FC236}">
                <a16:creationId xmlns:a16="http://schemas.microsoft.com/office/drawing/2014/main" id="{493A402E-A4D8-46F9-8F8F-7E3EEA4421B5}"/>
              </a:ext>
            </a:extLst>
          </p:cNvPr>
          <p:cNvSpPr>
            <a:spLocks xmlns:a="http://schemas.openxmlformats.org/drawingml/2006/main" noGrp="1"/>
          </p:cNvSpPr>
          <p:nvPr/>
        </p:nvSpPr>
        <p:spPr>
          <a:xfrm xmlns:a="http://schemas.openxmlformats.org/drawingml/2006/main">
            <a:off x="352425"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Movassagh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dc99374926a49ec"/>
              </a:rPr>
              <a:t>10.3390/en14144074</a:t>
            </a:r>
          </a:p>
        </p:txBody>
      </p:sp>
      <p:sp>
        <p:nvSpPr>
          <p:cNvPr id="95" name="Reference 7">
            <a:extLst xmlns:a="http://schemas.openxmlformats.org/drawingml/2006/main">
              <a:ext uri="{FF2B5EF4-FFF2-40B4-BE49-F238E27FC236}">
                <a16:creationId xmlns:a16="http://schemas.microsoft.com/office/drawing/2014/main" id="{9BFA8098-9E90-49E9-B4DC-38E0F481AC64}"/>
              </a:ext>
            </a:extLst>
          </p:cNvPr>
          <p:cNvSpPr>
            <a:spLocks xmlns:a="http://schemas.openxmlformats.org/drawingml/2006/main" noGrp="1"/>
          </p:cNvSpPr>
          <p:nvPr/>
        </p:nvSpPr>
        <p:spPr>
          <a:xfrm xmlns:a="http://schemas.openxmlformats.org/drawingml/2006/main">
            <a:off x="352425"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Zhang et al., 2018</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09ec7ecc34e4170"/>
              </a:rPr>
              <a:t>10.1016/j.energy.2017.10.043</a:t>
            </a:r>
          </a:p>
        </p:txBody>
      </p:sp>
      <p:sp>
        <p:nvSpPr>
          <p:cNvPr id="96" name="Reference 8">
            <a:extLst xmlns:a="http://schemas.openxmlformats.org/drawingml/2006/main">
              <a:ext uri="{FF2B5EF4-FFF2-40B4-BE49-F238E27FC236}">
                <a16:creationId xmlns:a16="http://schemas.microsoft.com/office/drawing/2014/main" id="{8A96612B-3171-4AEF-96D3-16571D7B1451}"/>
              </a:ext>
            </a:extLst>
          </p:cNvPr>
          <p:cNvSpPr>
            <a:spLocks xmlns:a="http://schemas.openxmlformats.org/drawingml/2006/main" noGrp="1"/>
          </p:cNvSpPr>
          <p:nvPr/>
        </p:nvSpPr>
        <p:spPr>
          <a:xfrm xmlns:a="http://schemas.openxmlformats.org/drawingml/2006/main">
            <a:off x="352425"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Gismero et al., 2020</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35aaf29e2884e94"/>
              </a:rPr>
              <a:t>10.3390/en13071811</a:t>
            </a:r>
          </a:p>
        </p:txBody>
      </p:sp>
      <p:sp>
        <p:nvSpPr>
          <p:cNvPr id="97" name="Reference 9">
            <a:extLst xmlns:a="http://schemas.openxmlformats.org/drawingml/2006/main">
              <a:ext uri="{FF2B5EF4-FFF2-40B4-BE49-F238E27FC236}">
                <a16:creationId xmlns:a16="http://schemas.microsoft.com/office/drawing/2014/main" id="{5A384878-95FD-40DF-9CCE-6F92EE4A53FF}"/>
              </a:ext>
            </a:extLst>
          </p:cNvPr>
          <p:cNvSpPr>
            <a:spLocks xmlns:a="http://schemas.openxmlformats.org/drawingml/2006/main" noGrp="1"/>
          </p:cNvSpPr>
          <p:nvPr/>
        </p:nvSpPr>
        <p:spPr>
          <a:xfrm xmlns:a="http://schemas.openxmlformats.org/drawingml/2006/main">
            <a:off x="352425"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Yang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eb71ff998e7479e"/>
              </a:rPr>
              <a:t>10.3390/en14041054</a:t>
            </a:r>
          </a:p>
        </p:txBody>
      </p:sp>
      <p:sp>
        <p:nvSpPr>
          <p:cNvPr id="98" name="Reference 10">
            <a:extLst xmlns:a="http://schemas.openxmlformats.org/drawingml/2006/main">
              <a:ext uri="{FF2B5EF4-FFF2-40B4-BE49-F238E27FC236}">
                <a16:creationId xmlns:a16="http://schemas.microsoft.com/office/drawing/2014/main" id="{4F66F5FB-7B47-4471-83F5-C69218FA5D04}"/>
              </a:ext>
            </a:extLst>
          </p:cNvPr>
          <p:cNvSpPr>
            <a:spLocks xmlns:a="http://schemas.openxmlformats.org/drawingml/2006/main" noGrp="1"/>
          </p:cNvSpPr>
          <p:nvPr/>
        </p:nvSpPr>
        <p:spPr>
          <a:xfrm xmlns:a="http://schemas.openxmlformats.org/drawingml/2006/main">
            <a:off x="352425"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Rzepka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68f39802b214495"/>
              </a:rPr>
              <a:t>10.3390/en14133733</a:t>
            </a:r>
          </a:p>
        </p:txBody>
      </p:sp>
      <p:sp>
        <p:nvSpPr>
          <p:cNvPr id="99" name="Reference 11">
            <a:extLst xmlns:a="http://schemas.openxmlformats.org/drawingml/2006/main">
              <a:ext uri="{FF2B5EF4-FFF2-40B4-BE49-F238E27FC236}">
                <a16:creationId xmlns:a16="http://schemas.microsoft.com/office/drawing/2014/main" id="{FA9E099F-A447-45EB-8445-6D21B8B18897}"/>
              </a:ext>
            </a:extLst>
          </p:cNvPr>
          <p:cNvSpPr>
            <a:spLocks xmlns:a="http://schemas.openxmlformats.org/drawingml/2006/main" noGrp="1"/>
          </p:cNvSpPr>
          <p:nvPr/>
        </p:nvSpPr>
        <p:spPr>
          <a:xfrm xmlns:a="http://schemas.openxmlformats.org/drawingml/2006/main">
            <a:off x="4686300"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Zine et al., 2022</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2f4640f83eb46ef"/>
              </a:rPr>
              <a:t>10.3390/en15218172</a:t>
            </a:r>
          </a:p>
        </p:txBody>
      </p:sp>
      <p:sp>
        <p:nvSpPr>
          <p:cNvPr id="100" name="Reference 12">
            <a:extLst xmlns:a="http://schemas.openxmlformats.org/drawingml/2006/main">
              <a:ext uri="{FF2B5EF4-FFF2-40B4-BE49-F238E27FC236}">
                <a16:creationId xmlns:a16="http://schemas.microsoft.com/office/drawing/2014/main" id="{48B70919-478E-467A-A0A1-E90E219FA8D1}"/>
              </a:ext>
            </a:extLst>
          </p:cNvPr>
          <p:cNvSpPr>
            <a:spLocks xmlns:a="http://schemas.openxmlformats.org/drawingml/2006/main" noGrp="1"/>
          </p:cNvSpPr>
          <p:nvPr/>
        </p:nvSpPr>
        <p:spPr>
          <a:xfrm xmlns:a="http://schemas.openxmlformats.org/drawingml/2006/main">
            <a:off x="4686300"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Fahmy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ff288298a0e4a9f"/>
              </a:rPr>
              <a:t>10.3390/en16145558</a:t>
            </a:r>
          </a:p>
        </p:txBody>
      </p:sp>
      <p:sp>
        <p:nvSpPr>
          <p:cNvPr id="101" name="Reference 13">
            <a:extLst xmlns:a="http://schemas.openxmlformats.org/drawingml/2006/main">
              <a:ext uri="{FF2B5EF4-FFF2-40B4-BE49-F238E27FC236}">
                <a16:creationId xmlns:a16="http://schemas.microsoft.com/office/drawing/2014/main" id="{B834CDD3-BE2F-45E4-8F49-BD02EC16D820}"/>
              </a:ext>
            </a:extLst>
          </p:cNvPr>
          <p:cNvSpPr>
            <a:spLocks xmlns:a="http://schemas.openxmlformats.org/drawingml/2006/main" noGrp="1"/>
          </p:cNvSpPr>
          <p:nvPr/>
        </p:nvSpPr>
        <p:spPr>
          <a:xfrm xmlns:a="http://schemas.openxmlformats.org/drawingml/2006/main">
            <a:off x="4686300"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Wang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e90e91dcff64a8d"/>
              </a:rPr>
              <a:t>10.3390/batteries9010043</a:t>
            </a:r>
          </a:p>
        </p:txBody>
      </p:sp>
      <p:sp>
        <p:nvSpPr>
          <p:cNvPr id="102" name="Reference 14">
            <a:extLst xmlns:a="http://schemas.openxmlformats.org/drawingml/2006/main">
              <a:ext uri="{FF2B5EF4-FFF2-40B4-BE49-F238E27FC236}">
                <a16:creationId xmlns:a16="http://schemas.microsoft.com/office/drawing/2014/main" id="{3E2C6FB7-93E4-4B33-A001-0131EB73D1B4}"/>
              </a:ext>
            </a:extLst>
          </p:cNvPr>
          <p:cNvSpPr>
            <a:spLocks xmlns:a="http://schemas.openxmlformats.org/drawingml/2006/main" noGrp="1"/>
          </p:cNvSpPr>
          <p:nvPr/>
        </p:nvSpPr>
        <p:spPr>
          <a:xfrm xmlns:a="http://schemas.openxmlformats.org/drawingml/2006/main">
            <a:off x="4686300"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Turkmanović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7c0e6b336bf4ced"/>
              </a:rPr>
              <a:t>10.3390/electronics13214256</a:t>
            </a:r>
          </a:p>
        </p:txBody>
      </p:sp>
      <p:sp>
        <p:nvSpPr>
          <p:cNvPr id="103" name="Reference 15">
            <a:extLst xmlns:a="http://schemas.openxmlformats.org/drawingml/2006/main">
              <a:ext uri="{FF2B5EF4-FFF2-40B4-BE49-F238E27FC236}">
                <a16:creationId xmlns:a16="http://schemas.microsoft.com/office/drawing/2014/main" id="{CF9910C2-D885-428C-BBF2-B1E30E3139F9}"/>
              </a:ext>
            </a:extLst>
          </p:cNvPr>
          <p:cNvSpPr>
            <a:spLocks xmlns:a="http://schemas.openxmlformats.org/drawingml/2006/main" noGrp="1"/>
          </p:cNvSpPr>
          <p:nvPr/>
        </p:nvSpPr>
        <p:spPr>
          <a:xfrm xmlns:a="http://schemas.openxmlformats.org/drawingml/2006/main">
            <a:off x="4686300"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Bampi et al., 2025</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c9937e126554f05"/>
              </a:rPr>
              <a:t>10.18618/REP.e202521</a:t>
            </a:r>
          </a:p>
        </p:txBody>
      </p:sp>
      <p:sp>
        <p:nvSpPr>
          <p:cNvPr id="104" name="Reference 16">
            <a:extLst xmlns:a="http://schemas.openxmlformats.org/drawingml/2006/main">
              <a:ext uri="{FF2B5EF4-FFF2-40B4-BE49-F238E27FC236}">
                <a16:creationId xmlns:a16="http://schemas.microsoft.com/office/drawing/2014/main" id="{A2B89126-782D-4F16-9E85-E2BD83023548}"/>
              </a:ext>
            </a:extLst>
          </p:cNvPr>
          <p:cNvSpPr>
            <a:spLocks xmlns:a="http://schemas.openxmlformats.org/drawingml/2006/main" noGrp="1"/>
          </p:cNvSpPr>
          <p:nvPr/>
        </p:nvSpPr>
        <p:spPr>
          <a:xfrm xmlns:a="http://schemas.openxmlformats.org/drawingml/2006/main">
            <a:off x="4686300"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Marahatta et al.,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c0d98b2aa78455d"/>
              </a:rPr>
              <a:t>10.1016/j.egyr.2020.11.030</a:t>
            </a:r>
          </a:p>
        </p:txBody>
      </p:sp>
      <p:sp>
        <p:nvSpPr>
          <p:cNvPr id="105" name="Reference 17">
            <a:extLst xmlns:a="http://schemas.openxmlformats.org/drawingml/2006/main">
              <a:ext uri="{FF2B5EF4-FFF2-40B4-BE49-F238E27FC236}">
                <a16:creationId xmlns:a16="http://schemas.microsoft.com/office/drawing/2014/main" id="{C89FABA4-083C-48C1-9F60-D9A2B5F65CDD}"/>
              </a:ext>
            </a:extLst>
          </p:cNvPr>
          <p:cNvSpPr>
            <a:spLocks xmlns:a="http://schemas.openxmlformats.org/drawingml/2006/main" noGrp="1"/>
          </p:cNvSpPr>
          <p:nvPr/>
        </p:nvSpPr>
        <p:spPr>
          <a:xfrm xmlns:a="http://schemas.openxmlformats.org/drawingml/2006/main">
            <a:off x="4686300"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Rajbhandari et al., 2024</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ba646bbaf704326"/>
              </a:rPr>
              <a:t>10.1049/stg2.12151</a:t>
            </a:r>
          </a:p>
        </p:txBody>
      </p:sp>
      <p:sp>
        <p:nvSpPr>
          <p:cNvPr id="106" name="Reference 18">
            <a:extLst xmlns:a="http://schemas.openxmlformats.org/drawingml/2006/main">
              <a:ext uri="{FF2B5EF4-FFF2-40B4-BE49-F238E27FC236}">
                <a16:creationId xmlns:a16="http://schemas.microsoft.com/office/drawing/2014/main" id="{7550141D-0122-480B-A115-5FCB83597265}"/>
              </a:ext>
            </a:extLst>
          </p:cNvPr>
          <p:cNvSpPr>
            <a:spLocks xmlns:a="http://schemas.openxmlformats.org/drawingml/2006/main" noGrp="1"/>
          </p:cNvSpPr>
          <p:nvPr/>
        </p:nvSpPr>
        <p:spPr>
          <a:xfrm xmlns:a="http://schemas.openxmlformats.org/drawingml/2006/main">
            <a:off x="4686300"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Guo &amp; Kors, 2021</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6e563dffa3e4794"/>
              </a:rPr>
              <a:t>10.3390/electronics10131562</a:t>
            </a:r>
          </a:p>
        </p:txBody>
      </p:sp>
      <p:sp>
        <p:nvSpPr>
          <p:cNvPr id="107" name="Reference 19">
            <a:extLst xmlns:a="http://schemas.openxmlformats.org/drawingml/2006/main">
              <a:ext uri="{FF2B5EF4-FFF2-40B4-BE49-F238E27FC236}">
                <a16:creationId xmlns:a16="http://schemas.microsoft.com/office/drawing/2014/main" id="{9FC52110-2FF8-407B-AF60-44D2BB7A3EC5}"/>
              </a:ext>
            </a:extLst>
          </p:cNvPr>
          <p:cNvSpPr>
            <a:spLocks xmlns:a="http://schemas.openxmlformats.org/drawingml/2006/main" noGrp="1"/>
          </p:cNvSpPr>
          <p:nvPr/>
        </p:nvSpPr>
        <p:spPr>
          <a:xfrm xmlns:a="http://schemas.openxmlformats.org/drawingml/2006/main">
            <a:off x="4686300"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Yusubov &amp; Bekirova,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a96f4cd3a49422a"/>
              </a:rPr>
              <a:t>10.35784/iapgos.5320</a:t>
            </a:r>
          </a:p>
        </p:txBody>
      </p:sp>
      <p:sp>
        <p:nvSpPr>
          <p:cNvPr id="108" name="Reference 20">
            <a:extLst xmlns:a="http://schemas.openxmlformats.org/drawingml/2006/main">
              <a:ext uri="{FF2B5EF4-FFF2-40B4-BE49-F238E27FC236}">
                <a16:creationId xmlns:a16="http://schemas.microsoft.com/office/drawing/2014/main" id="{0BD61051-4AE4-4AB5-899E-DDCC9CC48380}"/>
              </a:ext>
            </a:extLst>
          </p:cNvPr>
          <p:cNvSpPr>
            <a:spLocks xmlns:a="http://schemas.openxmlformats.org/drawingml/2006/main" noGrp="1"/>
          </p:cNvSpPr>
          <p:nvPr/>
        </p:nvSpPr>
        <p:spPr>
          <a:xfrm xmlns:a="http://schemas.openxmlformats.org/drawingml/2006/main">
            <a:off x="4686300"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Basantes et al., 2023</a:t>
            </a:r>
          </a:p>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d1008f2c9c94970"/>
              </a:rPr>
              <a:t>10.3390/en16062912</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9AE10C06-514E-4504-BF42-190BA9500349}"/>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21C6858C-BDBE-468C-B442-FAB681B79586}"/>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181" name="Closing focus">
            <a:extLst xmlns:a="http://schemas.openxmlformats.org/drawingml/2006/main">
              <a:ext uri="{FF2B5EF4-FFF2-40B4-BE49-F238E27FC236}">
                <a16:creationId xmlns:a16="http://schemas.microsoft.com/office/drawing/2014/main" id="{FE76551B-D8E4-4CAB-8CB5-5BA5B04DC39F}"/>
              </a:ext>
            </a:extLst>
          </p:cNvPr>
          <p:cNvSpPr>
            <a:spLocks xmlns:a="http://schemas.openxmlformats.org/drawingml/2006/main" noGrp="1"/>
          </p:cNvSpPr>
          <p:nvPr/>
        </p:nvSpPr>
        <p:spPr>
          <a:xfrm xmlns:a="http://schemas.openxmlformats.org/drawingml/2006/main">
            <a:off x="809625" y="4314825"/>
            <a:ext cx="7534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WattSense</a:t>
            </a:r>
          </a:p>
          <a:p xmlns:a="http://schemas.openxmlformats.org/drawingml/2006/main">
            <a:pPr algn="ctr">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Energy Signature Analysis and Battery Runtime Estimation</a:t>
            </a:r>
          </a:p>
        </p:txBody>
      </p:sp>
    </p:spTree>
    <p:extLst>
      <p:ext uri="{BB962C8B-B14F-4D97-AF65-F5344CB8AC3E}">
        <p14:creationId xmlns:p14="http://schemas.microsoft.com/office/powerpoint/2010/main" val="1260155528"/>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2026-10-03T05:27:04.4240000Z</dcterms:created>
  <dcterms:modified xsi:type="dcterms:W3CDTF">2026-10-03T05:27:04.4250000Z</dcterms:modified>
</coreProperties>
</file>