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3beee59fbd4a30" /><Relationship Type="http://schemas.openxmlformats.org/officeDocument/2006/relationships/extended-properties" Target="/docProps/app.xml" Id="R985850492adf4c32" /><Relationship Type="http://schemas.openxmlformats.org/officeDocument/2006/relationships/officeDocument" Target="/ppt/presentation.xml" Id="R03756f593b704cb0" /></Relationships>
</file>

<file path=ppt/presentation.xml><?xml version="1.0" encoding="utf-8"?>
<p:presentation xmlns:p="http://schemas.openxmlformats.org/presentationml/2006/main">
  <p:sldMasterIdLst>
    <p:sldMasterId xmlns:r="http://schemas.openxmlformats.org/officeDocument/2006/relationships" id="2147483648" r:id="R3cd6208fa1304f9b"/>
    <p:sldMasterId xmlns:r="http://schemas.openxmlformats.org/officeDocument/2006/relationships" id="2147483659" r:id="Rd272fba07c5440b2"/>
  </p:sldMasterIdLst>
  <p:notesMasterIdLst>
    <p:notesMasterId xmlns:r="http://schemas.openxmlformats.org/officeDocument/2006/relationships" r:id="R4b07e75ee36c4d99"/>
  </p:notesMasterIdLst>
  <p:sldIdLst>
    <p:sldId xmlns:r="http://schemas.openxmlformats.org/officeDocument/2006/relationships" id="256" r:id="Re4444c5b17a84fbe"/>
    <p:sldId xmlns:r="http://schemas.openxmlformats.org/officeDocument/2006/relationships" id="257" r:id="Re0732925e71e4e02"/>
    <p:sldId xmlns:r="http://schemas.openxmlformats.org/officeDocument/2006/relationships" id="258" r:id="Rbc4b519e5fe3402f"/>
    <p:sldId xmlns:r="http://schemas.openxmlformats.org/officeDocument/2006/relationships" id="259" r:id="R39c6c37d9eb64c76"/>
    <p:sldId xmlns:r="http://schemas.openxmlformats.org/officeDocument/2006/relationships" id="260" r:id="R11407b213c134fc5"/>
    <p:sldId xmlns:r="http://schemas.openxmlformats.org/officeDocument/2006/relationships" id="261" r:id="Ra6b558f4b9614afc"/>
    <p:sldId xmlns:r="http://schemas.openxmlformats.org/officeDocument/2006/relationships" id="262" r:id="R892c6cefbf1f4d39"/>
    <p:sldId xmlns:r="http://schemas.openxmlformats.org/officeDocument/2006/relationships" id="263" r:id="R99bbb74752fe4867"/>
    <p:sldId xmlns:r="http://schemas.openxmlformats.org/officeDocument/2006/relationships" id="264" r:id="Ra30b74fdb5274fd1"/>
    <p:sldId xmlns:r="http://schemas.openxmlformats.org/officeDocument/2006/relationships" id="265" r:id="R14c0486e1f824ac1"/>
    <p:sldId xmlns:r="http://schemas.openxmlformats.org/officeDocument/2006/relationships" id="266" r:id="R230b6ca357d54e4e"/>
    <p:sldId xmlns:r="http://schemas.openxmlformats.org/officeDocument/2006/relationships" id="267" r:id="R44745df37fe54cbc"/>
    <p:sldId xmlns:r="http://schemas.openxmlformats.org/officeDocument/2006/relationships" id="268" r:id="Rcf8d3bfb4b174588"/>
    <p:sldId xmlns:r="http://schemas.openxmlformats.org/officeDocument/2006/relationships" id="269" r:id="Rd451cdec8aa3488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9a7d4a46e6a4423" /><Relationship Type="http://schemas.openxmlformats.org/officeDocument/2006/relationships/slideMaster" Target="/ppt/slideMasters/slideMaster1.xml" Id="R3cd6208fa1304f9b" /><Relationship Type="http://schemas.openxmlformats.org/officeDocument/2006/relationships/slideMaster" Target="/ppt/slideMasters/slideMaster2.xml" Id="Rd272fba07c5440b2" /><Relationship Type="http://schemas.openxmlformats.org/officeDocument/2006/relationships/notesMaster" Target="/ppt/notesMasters/notesMaster1.xml" Id="R4b07e75ee36c4d99" /><Relationship Type="http://schemas.openxmlformats.org/officeDocument/2006/relationships/presProps" Target="/ppt/presProps.xml" Id="R4e07b96412314c9a" /><Relationship Type="http://schemas.openxmlformats.org/officeDocument/2006/relationships/viewProps" Target="/ppt/viewProps.xml" Id="R26e23e897c0b4a76" /><Relationship Type="http://schemas.openxmlformats.org/officeDocument/2006/relationships/tableStyles" Target="/ppt/tableStyles.xml" Id="R6a910212c7b941c3" /><Relationship Type="http://schemas.openxmlformats.org/officeDocument/2006/relationships/slide" Target="/ppt/slides/slide1.xml" Id="Re4444c5b17a84fbe" /><Relationship Type="http://schemas.openxmlformats.org/officeDocument/2006/relationships/slide" Target="/ppt/slides/slide2.xml" Id="Re0732925e71e4e02" /><Relationship Type="http://schemas.openxmlformats.org/officeDocument/2006/relationships/slide" Target="/ppt/slides/slide3.xml" Id="Rbc4b519e5fe3402f" /><Relationship Type="http://schemas.openxmlformats.org/officeDocument/2006/relationships/slide" Target="/ppt/slides/slide4.xml" Id="R39c6c37d9eb64c76" /><Relationship Type="http://schemas.openxmlformats.org/officeDocument/2006/relationships/slide" Target="/ppt/slides/slide5.xml" Id="R11407b213c134fc5" /><Relationship Type="http://schemas.openxmlformats.org/officeDocument/2006/relationships/slide" Target="/ppt/slides/slide6.xml" Id="Ra6b558f4b9614afc" /><Relationship Type="http://schemas.openxmlformats.org/officeDocument/2006/relationships/slide" Target="/ppt/slides/slide7.xml" Id="R892c6cefbf1f4d39" /><Relationship Type="http://schemas.openxmlformats.org/officeDocument/2006/relationships/slide" Target="/ppt/slides/slide8.xml" Id="R99bbb74752fe4867" /><Relationship Type="http://schemas.openxmlformats.org/officeDocument/2006/relationships/slide" Target="/ppt/slides/slide9.xml" Id="Ra30b74fdb5274fd1" /><Relationship Type="http://schemas.openxmlformats.org/officeDocument/2006/relationships/slide" Target="/ppt/slides/slide10.xml" Id="R14c0486e1f824ac1" /><Relationship Type="http://schemas.openxmlformats.org/officeDocument/2006/relationships/slide" Target="/ppt/slides/slide11.xml" Id="R230b6ca357d54e4e" /><Relationship Type="http://schemas.openxmlformats.org/officeDocument/2006/relationships/slide" Target="/ppt/slides/slide12.xml" Id="R44745df37fe54cbc" /><Relationship Type="http://schemas.openxmlformats.org/officeDocument/2006/relationships/slide" Target="/ppt/slides/slide13.xml" Id="Rcf8d3bfb4b174588" /><Relationship Type="http://schemas.openxmlformats.org/officeDocument/2006/relationships/slide" Target="/ppt/slides/slide14.xml" Id="Rd451cdec8aa348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448ef09572e45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8387a96fc14455" /><Relationship Type="http://schemas.openxmlformats.org/officeDocument/2006/relationships/notesMaster" Target="/ppt/notesMasters/notesMaster1.xml" Id="R65100976ab24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4e03c312b4ef4" /><Relationship Type="http://schemas.openxmlformats.org/officeDocument/2006/relationships/notesMaster" Target="/ppt/notesMasters/notesMaster1.xml" Id="R18d7398938eb46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5f283119eb4121" /><Relationship Type="http://schemas.openxmlformats.org/officeDocument/2006/relationships/notesMaster" Target="/ppt/notesMasters/notesMaster1.xml" Id="Rca6a0583bd644a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04d0f9f9214a9b" /><Relationship Type="http://schemas.openxmlformats.org/officeDocument/2006/relationships/notesMaster" Target="/ppt/notesMasters/notesMaster1.xml" Id="R0b6ca2ef2e994b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3c28552ce344ba" /><Relationship Type="http://schemas.openxmlformats.org/officeDocument/2006/relationships/notesMaster" Target="/ppt/notesMasters/notesMaster1.xml" Id="R3a5fa9ca0df047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be6f8cc2bd4637" /><Relationship Type="http://schemas.openxmlformats.org/officeDocument/2006/relationships/notesMaster" Target="/ppt/notesMasters/notesMaster1.xml" Id="Rb5a5a9c4327246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1869117b794c07" /><Relationship Type="http://schemas.openxmlformats.org/officeDocument/2006/relationships/notesMaster" Target="/ppt/notesMasters/notesMaster1.xml" Id="R8807b9fcc41149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bd394620a54d08" /><Relationship Type="http://schemas.openxmlformats.org/officeDocument/2006/relationships/notesMaster" Target="/ppt/notesMasters/notesMaster1.xml" Id="R50f50cdb6fbb42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ac7fbbfbf24405" /><Relationship Type="http://schemas.openxmlformats.org/officeDocument/2006/relationships/notesMaster" Target="/ppt/notesMasters/notesMaster1.xml" Id="R85e3c5fd57014d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addea7e110484e" /><Relationship Type="http://schemas.openxmlformats.org/officeDocument/2006/relationships/notesMaster" Target="/ppt/notesMasters/notesMaster1.xml" Id="R2f47b6960e7249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212d94379644fd" /><Relationship Type="http://schemas.openxmlformats.org/officeDocument/2006/relationships/notesMaster" Target="/ppt/notesMasters/notesMaster1.xml" Id="R5e35fa122a3f4c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44a6585b07483e" /><Relationship Type="http://schemas.openxmlformats.org/officeDocument/2006/relationships/notesMaster" Target="/ppt/notesMasters/notesMaster1.xml" Id="Rf24cbcd9c94b4a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bbc4175c2b40e3" /><Relationship Type="http://schemas.openxmlformats.org/officeDocument/2006/relationships/notesMaster" Target="/ppt/notesMasters/notesMaster1.xml" Id="R2cd4a9f5883945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6a639b3a8a4864" /><Relationship Type="http://schemas.openxmlformats.org/officeDocument/2006/relationships/notesMaster" Target="/ppt/notesMasters/notesMaster1.xml" Id="R775c6bd97c60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main project focus is energy-signature analysis, load-energy estimation and battery-runtime estimation. Group 7 and guide Mahesh Sapte were confirmed on 3 October 2026. The two unconfirmed roll numbers are intentionally blank. This title replaces the earlier priority-load demonstration framing for this review; existing code and hardware have not been changed by preparing these slides.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steering and confirmed team details, 3 October 2026</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restored SIH USP is signature-based load detection and energy estimation linked to battery backup. Signature matching and the dataset remain proposed work. The present monitoring foundation comprises firmware, synthetic demonstration, charge/runtime software, local logging and a routed four-layer PCB. The prototype scope is selected known DC loads; the current PCB does not directly measure household AC appliances. Automatic matching after initial training differs from universal zero-configuration recognition. No classifier accuracy or physical energy/runtime measurement is currently 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wattsense/server.py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Priority switching and NILM are established prior work. The contribution is a reproducible student implementation and evaluation of a known-load DC prototype, not a new universal recognition algorithm. Classifier outputs need UNKNOWN/ambiguous rejection. Similar patterns, combinations, converter efficiency and controller overhead may limit identification and energy attribution. Battery-runtime estimates depend on a valid starting reference and independently established capacity. The present INA219 acquisition chain does not capture AC voltage-current trajectories, reactive power or high-frequency harmonics.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literature.json: Athanasiadis, Mollel, Xiang and Li 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work starts with a small known-load library. A signature consists of slow current/power changes and behaviour, not a unique guaranteed fingerprint. Recognition, energy estimation and runtime estimation are separate evaluation tasks. Labels and independent instruments are needed for ground truth. No numeric recognition target is presented as an achieved score. A profile-based estimate states its usage scenario; a battery percentage alone cannot determine duration.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USP correction, 3 October 2026</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information-flow diagram, not a wiring diagram. Sensor U1 measures net battery current; U2 measures aggregate converter-input/load demand; U3 is a charging-input channel initially disabled. Individual appliance current is not directly measured by three separate appliance sensors. Selected known-load training uses controlled sessions on the same measurement path. Estimate attributable load energy with reference measurements and consistent converter/controller overhead; do not equate converter-input energy with appliance-terminal energy without calibration. The first signature engine will run in local Python. Firmware currently samples nominally 10 Hz but emits JSON at approximately 1 Hz, so a qualified raw-rate logger must be implemented. Use slow/event features appropriate to verified sampling, not harmonic fingerprints. SOC needs a legitimate full reference and capacity basis; it starts unknown. Existing hardware outputs remain disabled until staged qualification. The four-layer 100 x 90 mm PCB is designed, not assembled. Purchased BMS/charger retain their own protection and charge regulation duties.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docs/LAB_START_GUIDE.md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There is no measured signature dataset at present. Start with 4–6 load types whose voltage and current are compatible with the actual converter and PCB limits; exact products have not been selected. Record the true device/state and sample timing. First use one load, then held-out combinations and unseen loads. Split by complete session, preferably across battery levels, rather than neighbouring windows from the same recording. Record source=measured or simulated, instrument calibration, converter conditions and controller supply arrangement. The selected feature set must reflect actual timing and sensor bandwidth; 1 Hz CSV data cannot validate short startup features. Aggregate demand alone may not separate similar devices. Unknown/ambiguous outcomes are required.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wattsense/server.py</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literature.json: Mollel and Xiang 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test counts are from the 30 September 2026 foundation audit and do not validate a signature classifier. Recognition metrics apply only after a labelled dataset exists. Report macro F1/confusion matrices and unseen-device false acceptance separately. Compare energy at the same physical measurement point, accounting for reference uncertainty. Compute power from calibrated voltage and current and integrate with actual sample timing. Runtime estimates should be compared against independently observed normal discharge endpoints under defined usage profiles, with repeated runs. Use the measured usable battery energy rather than treating nominal voltage x capacity as exact. Percentage runtime error is meaningful only for non-zero reference durations. No classifier score, energy savings percentage or household compatibility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simulations/hardware-assumptions.json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months are proposed planning stages, not confirmed delivery dates or completed activity. The user places final submission next semester. The restored signature USP requires dataset collection and new analysis software; prior firmware/software tests cover the monitoring foundation. The existing INR 9,700 allocation has not been confirmed by delivered quotes and does not fund a re-spin or solar purchase. Keep core DC scope practical. No hardware, classifier or cloud module has been created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scope correction, 3 October 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Our central idea is to connect measured load signatures with energy use and battery backup. Current Review 3 evidence is the monitoring, estimation-software, CAD and model foundation. Next is a calibrated prototype, measured known-load dataset and independent evaluation. The trained matching stage will recognise selected loads and report unknown/ambiguous cases.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ee9b25af8949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d3b251d8e44e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c437108cb04d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9ef421d9fa47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b514c45f054b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c4cd675a55403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e61143ef6cc46a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4867129a99c412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f9b07eb9dba4b1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ff345d570cd4d2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9ec65413417d48b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4306373-CD81-4264-9ACC-F97053760347}"/>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6053BCCB-6C7A-4DB4-ABFD-DFF9C0B32CCB}"/>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C7F97106-9023-41A3-AA2C-035C8A0B3A3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AAEE4008-BB10-4330-A7E0-7CA86792DF81}"/>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6EB8F726-3775-4A9B-95ED-5639A0654B91}"/>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2B9AB778-87F6-4CD4-8C68-8C462E28820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1B0615D6-375F-40AD-B961-B7680F4E998D}"/>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D4224983-E0FC-4BE2-84B0-3ED8452845B4}"/>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4282CEAA-1BF8-44F0-84DC-DF78F229070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A3187A5A-5DF4-4946-8C7D-C6CB1EC7E11F}"/>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37FCD15D-FC52-4370-95E2-D9FA5C90004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C318C33A-D2F0-4BD1-B581-0B5B2C223AC7}"/>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641C4FA3-8EFB-4BD6-9019-EF416A876DD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AC15FD69-B734-4A0F-A863-1428E67D36A5}"/>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7726A2F5-5180-4B51-93E5-4C1DF04E757C}"/>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E8FEF3E6-4C42-41E1-B2D3-1FB4A1BC519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A933894E-D197-4208-BCF5-BAAEADD1C464}"/>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D9B41EE5-C384-4FF9-8104-C8B70AB0ED3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541CC72E-4E09-4CD4-B7AE-052B1F3591B9}"/>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0AD086C9-D23D-48EC-8D98-0BF0ADDA616F}"/>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2695D0C1-A9A9-49C8-879B-E0BC445A2260}"/>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35F0C663-E5D1-4B54-86C7-8CE7FEE94316}"/>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02F82F95-DC31-474F-9F60-FA3800882B87}"/>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CDAD741B-4BEE-4292-9360-6D90ADD2717B}"/>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11C28D7D-AF0B-4E9C-AF60-A5704DC07EC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8B3BB427-E4CB-44D6-B1EA-A5C73F0C14AD}"/>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FFDE7E2E-7A81-4177-95CE-C1094C3462AC}"/>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46003524-49E8-4658-A183-69B2451C9023}"/>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E9EFF99B-F3F2-43BE-BFF0-100984B92223}"/>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941ea2f28b4671" /><Relationship Type="http://schemas.openxmlformats.org/officeDocument/2006/relationships/slideLayout" Target="/ppt/slideLayouts/slideLayout1.xml" Id="Rf7952b15f95745a9" /><Relationship Type="http://schemas.openxmlformats.org/officeDocument/2006/relationships/slideLayout" Target="/ppt/slideLayouts/slideLayout2.xml" Id="R8bfa24445e0a4340" /><Relationship Type="http://schemas.openxmlformats.org/officeDocument/2006/relationships/slideLayout" Target="/ppt/slideLayouts/slideLayout3.xml" Id="R67d815df83e148bb" /><Relationship Type="http://schemas.openxmlformats.org/officeDocument/2006/relationships/slideLayout" Target="/ppt/slideLayouts/slideLayout4.xml" Id="R55276fd856924fe7" /><Relationship Type="http://schemas.openxmlformats.org/officeDocument/2006/relationships/slideLayout" Target="/ppt/slideLayouts/slideLayout5.xml" Id="R3b314971fd5143b3" /><Relationship Type="http://schemas.openxmlformats.org/officeDocument/2006/relationships/slideLayout" Target="/ppt/slideLayouts/slideLayout6.xml" Id="R6e904527e3294c0b" /><Relationship Type="http://schemas.openxmlformats.org/officeDocument/2006/relationships/slideLayout" Target="/ppt/slideLayouts/slideLayout7.xml" Id="R388ebc4c4cde4c99" /><Relationship Type="http://schemas.openxmlformats.org/officeDocument/2006/relationships/slideLayout" Target="/ppt/slideLayouts/slideLayout8.xml" Id="R4cb02b95d7074cf1" /><Relationship Type="http://schemas.openxmlformats.org/officeDocument/2006/relationships/slideLayout" Target="/ppt/slideLayouts/slideLayout9.xml" Id="R2b9eb1d3d99e4f68" /><Relationship Type="http://schemas.openxmlformats.org/officeDocument/2006/relationships/slideLayout" Target="/ppt/slideLayouts/slideLayout10.xml" Id="R7c5a0fa1be7a433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dcc5405f812471a" /><Relationship Type="http://schemas.openxmlformats.org/officeDocument/2006/relationships/slideLayout" Target="/ppt/slideLayouts/slideLayout11.xml" Id="R1d8a105490ef455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2451D01D-9DB2-46F0-BB00-5F5A4460215C}"/>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CCF49517-7C0D-464B-A202-036EFF92F88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A4203069-ED60-4971-BF06-16A70C2ADDA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7952b15f95745a9"/>
    <p:sldLayoutId xmlns:r="http://schemas.openxmlformats.org/officeDocument/2006/relationships" id="2147483650" r:id="R8bfa24445e0a4340"/>
    <p:sldLayoutId xmlns:r="http://schemas.openxmlformats.org/officeDocument/2006/relationships" id="2147483651" r:id="R67d815df83e148bb"/>
    <p:sldLayoutId xmlns:r="http://schemas.openxmlformats.org/officeDocument/2006/relationships" id="2147483652" r:id="R55276fd856924fe7"/>
    <p:sldLayoutId xmlns:r="http://schemas.openxmlformats.org/officeDocument/2006/relationships" id="2147483653" r:id="R3b314971fd5143b3"/>
    <p:sldLayoutId xmlns:r="http://schemas.openxmlformats.org/officeDocument/2006/relationships" id="2147483654" r:id="R6e904527e3294c0b"/>
    <p:sldLayoutId xmlns:r="http://schemas.openxmlformats.org/officeDocument/2006/relationships" id="2147483655" r:id="R388ebc4c4cde4c99"/>
    <p:sldLayoutId xmlns:r="http://schemas.openxmlformats.org/officeDocument/2006/relationships" id="2147483656" r:id="R4cb02b95d7074cf1"/>
    <p:sldLayoutId xmlns:r="http://schemas.openxmlformats.org/officeDocument/2006/relationships" id="2147483657" r:id="R2b9eb1d3d99e4f68"/>
    <p:sldLayoutId xmlns:r="http://schemas.openxmlformats.org/officeDocument/2006/relationships" id="2147483658" r:id="R7c5a0fa1be7a433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4906D7F5-A7DC-4AB8-AC03-E82C2876371C}"/>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892179E9-8438-4796-BC52-AD98A6D27458}"/>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AFC4CE91-4878-45A6-AB6A-F9EBA8CE876C}"/>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5F527F56-9548-4FB4-B0E7-AD2550DEB90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1d8a105490ef455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7af27af0ed4246" /><Relationship Type="http://schemas.openxmlformats.org/officeDocument/2006/relationships/image" Target="/ppt/media/image.png" Id="R7af6a17b8bc0442c" /><Relationship Type="http://schemas.openxmlformats.org/officeDocument/2006/relationships/image" Target="/ppt/media/image2.png" Id="R809423229fd74fa7" /><Relationship Type="http://schemas.openxmlformats.org/officeDocument/2006/relationships/notesSlide" Target="/ppt/notesSlides/notesSlide1.xml" Id="R1524d4893cfb4a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f06775268a440d0" /><Relationship Type="http://schemas.openxmlformats.org/officeDocument/2006/relationships/notesSlide" Target="/ppt/notesSlides/notesSlide2.xml" Id="R0743e46cd43740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1913dab360f491d" /><Relationship Type="http://schemas.openxmlformats.org/officeDocument/2006/relationships/notesSlide" Target="/ppt/notesSlides/notesSlide3.xml" Id="R00246420208a4d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9f227dd2e3e4058" /><Relationship Type="http://schemas.openxmlformats.org/officeDocument/2006/relationships/notesSlide" Target="/ppt/notesSlides/notesSlide4.xml" Id="R60da49e291aa4f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430fca6b2424bed" /><Relationship Type="http://schemas.openxmlformats.org/officeDocument/2006/relationships/notesSlide" Target="/ppt/notesSlides/notesSlide5.xml" Id="R25e62d501df142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523300680ea45aa" /><Relationship Type="http://schemas.openxmlformats.org/officeDocument/2006/relationships/notesSlide" Target="/ppt/notesSlides/notesSlide6.xml" Id="Rc86da7127d6f45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4f22b311ea7493d" /><Relationship Type="http://schemas.openxmlformats.org/officeDocument/2006/relationships/notesSlide" Target="/ppt/notesSlides/notesSlide7.xml" Id="Rbeaa9164cf8540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52aa485b3a84671" /><Relationship Type="http://schemas.openxmlformats.org/officeDocument/2006/relationships/notesSlide" Target="/ppt/notesSlides/notesSlide8.xml" Id="R1f012ca59f774e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17396eb4ae74c64" /><Relationship Type="http://schemas.openxmlformats.org/officeDocument/2006/relationships/notesSlide" Target="/ppt/notesSlides/notesSlide9.xml" Id="Rb82cb568f25048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e34991a65394440" /><Relationship Type="http://schemas.openxmlformats.org/officeDocument/2006/relationships/notesSlide" Target="/ppt/notesSlides/notesSlide10.xml" Id="R2d24358630de4c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169a6f57e7c474f" /><Relationship Type="http://schemas.openxmlformats.org/officeDocument/2006/relationships/notesSlide" Target="/ppt/notesSlides/notesSlide11.xml" Id="R61bc76d9098b44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fdd857f05bd45b2" /><Relationship Type="http://schemas.openxmlformats.org/officeDocument/2006/relationships/notesSlide" Target="/ppt/notesSlides/notesSlide12.xml" Id="R12ebf0e70cd448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4261808a9e94caa" /><Relationship Type="http://schemas.openxmlformats.org/officeDocument/2006/relationships/hyperlink" Target="https://doi.org/10.3390/en14030767" TargetMode="External" Id="R963e038359674af2" /><Relationship Type="http://schemas.openxmlformats.org/officeDocument/2006/relationships/hyperlink" Target="https://doi.org/10.3390/s23104845" TargetMode="External" Id="Rd4505e8e13114593" /><Relationship Type="http://schemas.openxmlformats.org/officeDocument/2006/relationships/hyperlink" Target="https://doi.org/10.3390/inventions11020029" TargetMode="External" Id="Rd255df03d14744c9" /><Relationship Type="http://schemas.openxmlformats.org/officeDocument/2006/relationships/hyperlink" Target="https://doi.org/10.3390/en19081883" TargetMode="External" Id="Rc8afeda5937b40b7" /><Relationship Type="http://schemas.openxmlformats.org/officeDocument/2006/relationships/hyperlink" Target="https://doi.org/10.3390/en19133131" TargetMode="External" Id="R07c8fe8d651744de" /><Relationship Type="http://schemas.openxmlformats.org/officeDocument/2006/relationships/hyperlink" Target="https://doi.org/10.3390/en14144074" TargetMode="External" Id="Re6732f6f6be246af" /><Relationship Type="http://schemas.openxmlformats.org/officeDocument/2006/relationships/hyperlink" Target="https://doi.org/10.1016/j.energy.2017.10.043" TargetMode="External" Id="R5f49d28b6ded4321" /><Relationship Type="http://schemas.openxmlformats.org/officeDocument/2006/relationships/hyperlink" Target="https://doi.org/10.3390/en13071811" TargetMode="External" Id="R653e1ae8bec948c0" /><Relationship Type="http://schemas.openxmlformats.org/officeDocument/2006/relationships/hyperlink" Target="https://doi.org/10.3390/en14041054" TargetMode="External" Id="R069e6585b66d4e7f" /><Relationship Type="http://schemas.openxmlformats.org/officeDocument/2006/relationships/hyperlink" Target="https://doi.org/10.3390/en14133733" TargetMode="External" Id="R7be55d9a29cf41ac" /><Relationship Type="http://schemas.openxmlformats.org/officeDocument/2006/relationships/hyperlink" Target="https://doi.org/10.3390/en15218172" TargetMode="External" Id="Rf2152994bdbc4007" /><Relationship Type="http://schemas.openxmlformats.org/officeDocument/2006/relationships/hyperlink" Target="https://doi.org/10.3390/en16145558" TargetMode="External" Id="R0ec217a3ac364411" /><Relationship Type="http://schemas.openxmlformats.org/officeDocument/2006/relationships/hyperlink" Target="https://doi.org/10.3390/batteries9010043" TargetMode="External" Id="R382f2d68b22b40c0" /><Relationship Type="http://schemas.openxmlformats.org/officeDocument/2006/relationships/hyperlink" Target="https://doi.org/10.3390/electronics13214256" TargetMode="External" Id="R42f2fc5604c9475d" /><Relationship Type="http://schemas.openxmlformats.org/officeDocument/2006/relationships/hyperlink" Target="https://doi.org/10.18618/REP.e202521" TargetMode="External" Id="Rdaafd438d78d469a" /><Relationship Type="http://schemas.openxmlformats.org/officeDocument/2006/relationships/hyperlink" Target="https://doi.org/10.1016/j.egyr.2020.11.030" TargetMode="External" Id="R1b69dcbed37c4f43" /><Relationship Type="http://schemas.openxmlformats.org/officeDocument/2006/relationships/hyperlink" Target="https://doi.org/10.1049/stg2.12151" TargetMode="External" Id="R96876629745f4a5a" /><Relationship Type="http://schemas.openxmlformats.org/officeDocument/2006/relationships/hyperlink" Target="https://doi.org/10.3390/electronics10131562" TargetMode="External" Id="Rb77a672336f3452d" /><Relationship Type="http://schemas.openxmlformats.org/officeDocument/2006/relationships/hyperlink" Target="https://doi.org/10.35784/iapgos.5320" TargetMode="External" Id="R37fbc52e5b6a4535" /><Relationship Type="http://schemas.openxmlformats.org/officeDocument/2006/relationships/hyperlink" Target="https://doi.org/10.3390/en16062912" TargetMode="External" Id="R0b735ed13884488d" /><Relationship Type="http://schemas.openxmlformats.org/officeDocument/2006/relationships/notesSlide" Target="/ppt/notesSlides/notesSlide13.xml" Id="Rf3c3452e916047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28ba4f249ea4e1c" /><Relationship Type="http://schemas.openxmlformats.org/officeDocument/2006/relationships/notesSlide" Target="/ppt/notesSlides/notesSlide14.xml" Id="Rdd2fb2e7c86e4f32"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1F4E537B-8690-40DE-BA85-0F600749D2D9}"/>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C834A5C8-C373-4AC4-A5E2-2A6E5E5C31F9}"/>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787F1948-ECEB-4E12-8EF1-1B71BCB9EE9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15CCCF0D-BF82-4A20-811B-5874D716AEB5}"/>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(____)</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(____)</a:t>
            </a:r>
            <a:endParaRPr/>
          </a:p>
        </p:txBody>
      </p:sp>
      <p:sp>
        <p:nvSpPr>
          <p:cNvPr id="63" name="Google Shape;63;p1">
            <a:extLst xmlns:a="http://schemas.openxmlformats.org/drawingml/2006/main">
              <a:ext uri="{FF2B5EF4-FFF2-40B4-BE49-F238E27FC236}">
                <a16:creationId xmlns:a16="http://schemas.microsoft.com/office/drawing/2014/main" id="{43D5AFD7-F383-4E83-BFBE-470E11557770}"/>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7af6a17b8bc0442c">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8A845F99-9B4C-4A4A-B7D4-9F6BD7A65B75}"/>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809423229fd74fa7">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62C2244C-9CE5-4587-AF90-DFA464436E37}"/>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1A6FA44B-9FA4-4214-97E1-41DD611E5D85}"/>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Energy Signature Analysis and Battery Runtime Estimation</a:t>
            </a:r>
            <a:endParaRPr sz="3200" b="1" i="0" u="none">
              <a:solidFill>
                <a:srgbClr val="7030A0"/>
              </a:solidFill>
              <a:latin typeface="Times New Roman"/>
              <a:ea typeface="Times New Roman"/>
              <a:cs typeface="Times New Roman"/>
            </a:endParaRPr>
          </a:p>
        </p:txBody>
      </p:sp>
      <p:sp>
        <p:nvSpPr>
          <p:cNvPr id="66" name="Guide and group">
            <a:extLst xmlns:a="http://schemas.openxmlformats.org/drawingml/2006/main">
              <a:ext uri="{FF2B5EF4-FFF2-40B4-BE49-F238E27FC236}">
                <a16:creationId xmlns:a16="http://schemas.microsoft.com/office/drawing/2014/main" id="{5238D95A-C69A-42F2-99EC-EC500B02D6A2}"/>
              </a:ext>
            </a:extLst>
          </p:cNvPr>
          <p:cNvSpPr>
            <a:spLocks xmlns:a="http://schemas.openxmlformats.org/drawingml/2006/main" noGrp="1"/>
          </p:cNvSpPr>
          <p:nvPr/>
        </p:nvSpPr>
        <p:spPr>
          <a:xfrm xmlns:a="http://schemas.openxmlformats.org/drawingml/2006/main">
            <a:off x="5572125" y="451485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Under the guidance of</a:t>
            </a:r>
          </a:p>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Mahesh Sapte</a:t>
            </a:r>
          </a:p>
          <a:p xmlns:a="http://schemas.openxmlformats.org/drawingml/2006/main">
            <a:r>
              <a:t/>
            </a:r>
          </a:p>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Group 7</a:t>
            </a:r>
          </a:p>
        </p:txBody>
      </p:sp>
    </p:spTree>
    <p:extLst>
      <p:ext uri="{BB962C8B-B14F-4D97-AF65-F5344CB8AC3E}">
        <p14:creationId xmlns:p14="http://schemas.microsoft.com/office/powerpoint/2010/main" val="14676046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B6AA092D-68B9-4955-8E62-57324603E3E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48407E29-7A5D-42C4-9FC8-08D7F26274B0}"/>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4EE0F6E6-E02B-4C55-B14E-FCB64C1DB0F7}"/>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An energy signature is a load’s measured current and power pattern over time.</a:t>
            </a:r>
          </a:p>
        </p:txBody>
      </p:sp>
      <p:sp>
        <p:nvSpPr>
          <p:cNvPr id="73" name="Project motivation">
            <a:extLst xmlns:a="http://schemas.openxmlformats.org/drawingml/2006/main">
              <a:ext uri="{FF2B5EF4-FFF2-40B4-BE49-F238E27FC236}">
                <a16:creationId xmlns:a16="http://schemas.microsoft.com/office/drawing/2014/main" id="{C8414736-53C8-460E-ABEF-E1403BF5EFE2}"/>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Battery percentage alone does not explain how device use changes backup time.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WattSense will learn profiles of selected DC loads and estimate their energy use.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Available battery energy and load demand will produce a runtime estimate.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Applications include portable DC equipment and renewable-energy demonstrators.</a:t>
            </a:r>
          </a:p>
        </p:txBody>
      </p:sp>
      <p:sp>
        <p:nvSpPr>
          <p:cNvPr id="74" name="Review status">
            <a:extLst xmlns:a="http://schemas.openxmlformats.org/drawingml/2006/main">
              <a:ext uri="{FF2B5EF4-FFF2-40B4-BE49-F238E27FC236}">
                <a16:creationId xmlns:a16="http://schemas.microsoft.com/office/drawing/2014/main" id="{45D7EF4D-0BAD-4D92-9090-54DFAC6733D2}"/>
              </a:ext>
            </a:extLst>
          </p:cNvPr>
          <p:cNvSpPr>
            <a:spLocks xmlns:a="http://schemas.openxmlformats.org/drawingml/2006/main" noGrp="1"/>
          </p:cNvSpPr>
          <p:nvPr/>
        </p:nvSpPr>
        <p:spPr>
          <a:xfrm xmlns:a="http://schemas.openxmlformats.org/drawingml/2006/main">
            <a:off x="876300" y="5676900"/>
            <a:ext cx="761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monitoring software and PCB design prepared.</a:t>
            </a:r>
          </a:p>
        </p:txBody>
      </p:sp>
      <p:sp>
        <p:nvSpPr>
          <p:cNvPr id="75" name="Next stage">
            <a:extLst xmlns:a="http://schemas.openxmlformats.org/drawingml/2006/main">
              <a:ext uri="{FF2B5EF4-FFF2-40B4-BE49-F238E27FC236}">
                <a16:creationId xmlns:a16="http://schemas.microsoft.com/office/drawing/2014/main" id="{16576814-EA9D-45F1-BDBB-25357AAF02BE}"/>
              </a:ext>
            </a:extLst>
          </p:cNvPr>
          <p:cNvSpPr>
            <a:spLocks xmlns:a="http://schemas.openxmlformats.org/drawingml/2006/main" noGrp="1"/>
          </p:cNvSpPr>
          <p:nvPr/>
        </p:nvSpPr>
        <p:spPr>
          <a:xfrm xmlns:a="http://schemas.openxmlformats.org/drawingml/2006/main">
            <a:off x="876300" y="6029325"/>
            <a:ext cx="7610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signature data, classification and measured validation.</a:t>
            </a:r>
          </a:p>
        </p:txBody>
      </p:sp>
    </p:spTree>
    <p:extLst>
      <p:ext uri="{BB962C8B-B14F-4D97-AF65-F5344CB8AC3E}">
        <p14:creationId xmlns:p14="http://schemas.microsoft.com/office/powerpoint/2010/main" val="3647119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2DC7DD7C-4FEA-4A24-849B-7F0F5D0DECA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920CDFFF-B02A-4117-B097-DFACB12C8D3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Athanasiadis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Load energy estimation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Events + CNN + power estimate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Reported experimental evaluation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Real-time consumption estimates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Transient data needed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Mollel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Unclear load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Decision trees + explanations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REFIT to UK-DALE transfer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Jaime et al.</a:t>
                      </a:r>
                      <a:endParaRPr>
                        <a:latin typeface="Cambria"/>
                        <a:ea typeface="Cambria"/>
                        <a:cs typeface="Cambria"/>
                      </a:endParaRPr>
                    </a:p>
                    <a:p>
                      <a:pPr algn="l"/>
                      <a:r>
                        <a:rPr sz="1425" b="0">
                          <a:solidFill>
                            <a:srgbClr val="000000"/>
                          </a:solidFill>
                          <a:latin typeface="Times New Roman"/>
                          <a:ea typeface="Times New Roman"/>
                          <a:cs typeface="Times New Roman"/>
                        </a:rPr>
                        <a:t>2026</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evaluation methods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PRISMA + meta-analysis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Heterogeneous study methods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Xiang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Practical deployment barriers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Unknown loads and transfer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Similar load signatures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 V-I + dual-branch network</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AC waveforms from INA219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EB3866B7-0967-4060-A099-E1024192F311}"/>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Energy signatures and load estimation</a:t>
            </a:r>
          </a:p>
        </p:txBody>
      </p:sp>
    </p:spTree>
    <p:extLst>
      <p:ext uri="{BB962C8B-B14F-4D97-AF65-F5344CB8AC3E}">
        <p14:creationId xmlns:p14="http://schemas.microsoft.com/office/powerpoint/2010/main" val="135828918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448383D5-C3FB-4C36-8F58-204A91EE9DF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AB841246-94D8-4C54-A2A2-29C26579ABCC}"/>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Actual pack characterisation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Circuit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BF02E0AE-8AEA-4C23-A910-9BA3EC91D0C7}"/>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state-of-charge estimation</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4D5478DC-7C97-403B-9CD5-E45CF450206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03F40982-5C31-4D95-8D16-7050629561AC}"/>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with changing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plateau and temperature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BAEBCAAD-4DBF-4A48-B332-E0BC4DD92B06}"/>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measurement and validation</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11859A1-7C44-43F9-8BA5-B55E3B4DD57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D99D7736-A30E-465F-A470-F209F48DFAA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425"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425"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a:latin typeface="Cambria"/>
                        <a:ea typeface="Cambria"/>
                        <a:cs typeface="Cambria"/>
                      </a:endParaRPr>
                    </a:p>
                    <a:p>
                      <a:pPr algn="l"/>
                      <a:r>
                        <a:rPr sz="1425" b="0">
                          <a:solidFill>
                            <a:srgbClr val="000000"/>
                          </a:solidFill>
                          <a:latin typeface="Times New Roman"/>
                          <a:ea typeface="Times New Roman"/>
                          <a:cs typeface="Times New Roman"/>
                        </a:rPr>
                        <a:t>2021</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Educational; no load estimator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MPC</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8D83350B-DE0C-4C26-8111-5C6575A34503}"/>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Monitoring and energy-management integration</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8ACFE75-3A94-4C02-87E2-083C0D1742A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5953B6F3-C370-4D6F-8E30-EAF9BE20A54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1" name="Research gap">
            <a:extLst xmlns:a="http://schemas.openxmlformats.org/drawingml/2006/main">
              <a:ext uri="{FF2B5EF4-FFF2-40B4-BE49-F238E27FC236}">
                <a16:creationId xmlns:a16="http://schemas.microsoft.com/office/drawing/2014/main" id="{67F4BD30-4668-44DE-B1A1-3126719D8551}"/>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Published recognition results depend on sensors, sampling rate and dataset.</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Similar load profiles and unseen devices can make identification uncertain.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Runtime also depends on usable capacity, charge reference and actual demand.</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 low-cost DC prototype must evaluate the complete measurement chain.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Our focus is signature matching with uncertainty, energy estimates and runtime error.</a:t>
            </a:r>
          </a:p>
        </p:txBody>
      </p:sp>
      <p:sp>
        <p:nvSpPr>
          <p:cNvPr id="82" name="Project contribution">
            <a:extLst xmlns:a="http://schemas.openxmlformats.org/drawingml/2006/main">
              <a:ext uri="{FF2B5EF4-FFF2-40B4-BE49-F238E27FC236}">
                <a16:creationId xmlns:a16="http://schemas.microsoft.com/office/drawing/2014/main" id="{0BC340C1-BAB7-4AAF-ABFC-EABE7CFFF256}"/>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connect measured load behaviour with available battery energy.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AB4D6A28-9E3E-4FE0-AC0B-1C1BAAAE7C3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C1155317-3AA9-42D1-9E96-4CF93B8B14C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28491C64-AF1E-4019-9BE1-2F483C04B0D1}"/>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726A904A-246F-44B4-8A16-5A7D6F197AB7}"/>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 a battery-powered DC system that uses measured electrical profiles to estimate load energy consumption and battery runtime, while reporting uncertainty for unrecognised loads.</a:t>
            </a:r>
          </a:p>
        </p:txBody>
      </p:sp>
      <p:sp>
        <p:nvSpPr>
          <p:cNvPr id="82" name="Objectives">
            <a:extLst xmlns:a="http://schemas.openxmlformats.org/drawingml/2006/main">
              <a:ext uri="{FF2B5EF4-FFF2-40B4-BE49-F238E27FC236}">
                <a16:creationId xmlns:a16="http://schemas.microsoft.com/office/drawing/2014/main" id="{9B59A2E3-E1DA-4441-928C-6E5922FA3D2B}"/>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Acquire and calibrate battery/load measurements.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Build a labelled signature dataset for selected DC loads.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Compare feature matching and a classifier with unknown rejection.</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Estimate charge, energy use and runtime under stated usage.</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Evaluate errors using independent recording sessions.</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A27491DF-1065-4016-9509-B2D1B1813A8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B66EFBE4-1A5A-4044-93CB-4CBBBC3A95D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DC prototype scope">
            <a:extLst xmlns:a="http://schemas.openxmlformats.org/drawingml/2006/main">
              <a:ext uri="{FF2B5EF4-FFF2-40B4-BE49-F238E27FC236}">
                <a16:creationId xmlns:a16="http://schemas.microsoft.com/office/drawing/2014/main" id="{1F29BC6F-1688-4901-83A0-51A3655184CB}"/>
              </a:ext>
            </a:extLst>
          </p:cNvPr>
          <p:cNvSpPr>
            <a:spLocks xmlns:a="http://schemas.openxmlformats.org/drawingml/2006/main" noGrp="1"/>
          </p:cNvSpPr>
          <p:nvPr/>
        </p:nvSpPr>
        <p:spPr>
          <a:xfrm xmlns:a="http://schemas.openxmlformats.org/drawingml/2006/main">
            <a:off x="476250" y="1162050"/>
            <a:ext cx="820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Protected battery, regulated DC supply and selected compatible loads</a:t>
            </a:r>
          </a:p>
        </p:txBody>
      </p:sp>
      <p:sp>
        <p:nvSpPr>
          <p:cNvPr id="90" name="Sensors">
            <a:extLst xmlns:a="http://schemas.openxmlformats.org/drawingml/2006/main">
              <a:ext uri="{FF2B5EF4-FFF2-40B4-BE49-F238E27FC236}">
                <a16:creationId xmlns:a16="http://schemas.microsoft.com/office/drawing/2014/main" id="{64CF1C07-8C2B-47B9-BB91-0F70F20E2D81}"/>
              </a:ext>
            </a:extLst>
          </p:cNvPr>
          <p:cNvSpPr>
            <a:spLocks xmlns:a="http://schemas.openxmlformats.org/drawingml/2006/main" noGrp="1"/>
          </p:cNvSpPr>
          <p:nvPr/>
        </p:nvSpPr>
        <p:spPr>
          <a:xfrm xmlns:a="http://schemas.openxmlformats.org/drawingml/2006/main">
            <a:off x="457200"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Sensing PCB</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Current / voltage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Temperature</a:t>
            </a:r>
          </a:p>
        </p:txBody>
      </p:sp>
      <p:sp>
        <p:nvSpPr>
          <p:cNvPr id="91" name="ESP32">
            <a:extLst xmlns:a="http://schemas.openxmlformats.org/drawingml/2006/main">
              <a:ext uri="{FF2B5EF4-FFF2-40B4-BE49-F238E27FC236}">
                <a16:creationId xmlns:a16="http://schemas.microsoft.com/office/drawing/2014/main" id="{D330BCC7-4E7E-4329-B140-547C34C210A9}"/>
              </a:ext>
            </a:extLst>
          </p:cNvPr>
          <p:cNvSpPr>
            <a:spLocks xmlns:a="http://schemas.openxmlformats.org/drawingml/2006/main" noGrp="1"/>
          </p:cNvSpPr>
          <p:nvPr/>
        </p:nvSpPr>
        <p:spPr>
          <a:xfrm xmlns:a="http://schemas.openxmlformats.org/drawingml/2006/main">
            <a:off x="3419475"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ESP32</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Calibration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raw measurements</a:t>
            </a:r>
          </a:p>
        </p:txBody>
      </p:sp>
      <p:sp>
        <p:nvSpPr>
          <p:cNvPr id="92" name="Signature analysis">
            <a:extLst xmlns:a="http://schemas.openxmlformats.org/drawingml/2006/main">
              <a:ext uri="{FF2B5EF4-FFF2-40B4-BE49-F238E27FC236}">
                <a16:creationId xmlns:a16="http://schemas.microsoft.com/office/drawing/2014/main" id="{ADAD66A7-8BBB-4A19-AC1D-C6C0AB0F6F13}"/>
              </a:ext>
            </a:extLst>
          </p:cNvPr>
          <p:cNvSpPr>
            <a:spLocks xmlns:a="http://schemas.openxmlformats.org/drawingml/2006/main" noGrp="1"/>
          </p:cNvSpPr>
          <p:nvPr/>
        </p:nvSpPr>
        <p:spPr>
          <a:xfrm xmlns:a="http://schemas.openxmlformats.org/drawingml/2006/main">
            <a:off x="6381750" y="197167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Signature engine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Features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profile / UNKNOWN</a:t>
            </a:r>
          </a:p>
        </p:txBody>
      </p:sp>
      <p:cxnSp>
        <p:nvCxnSpPr>
          <p:cNvPr id="110" name=""/>
          <p:cNvCxnSpPr>
            <a:stCxn xmlns:a="http://schemas.openxmlformats.org/drawingml/2006/main" id="90" idx="3"/>
            <a:endCxn xmlns:a="http://schemas.openxmlformats.org/drawingml/2006/main" id="91" idx="1"/>
          </p:cNvCxnSpPr>
          <p:nvPr/>
        </p:nvCxnSpPr>
        <p:spPr>
          <a:xfrm xmlns:a="http://schemas.openxmlformats.org/drawingml/2006/main">
            <a:off x="2762250"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1" name=""/>
          <p:cNvCxnSpPr>
            <a:stCxn xmlns:a="http://schemas.openxmlformats.org/drawingml/2006/main" id="91" idx="3"/>
            <a:endCxn xmlns:a="http://schemas.openxmlformats.org/drawingml/2006/main" id="92" idx="1"/>
          </p:cNvCxnSpPr>
          <p:nvPr/>
        </p:nvCxnSpPr>
        <p:spPr>
          <a:xfrm xmlns:a="http://schemas.openxmlformats.org/drawingml/2006/main">
            <a:off x="5724525"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95" name="USB link">
            <a:extLst xmlns:a="http://schemas.openxmlformats.org/drawingml/2006/main">
              <a:ext uri="{FF2B5EF4-FFF2-40B4-BE49-F238E27FC236}">
                <a16:creationId xmlns:a16="http://schemas.microsoft.com/office/drawing/2014/main" id="{1F911E6D-1FFE-4A23-A75A-639ADA094CD7}"/>
              </a:ext>
            </a:extLst>
          </p:cNvPr>
          <p:cNvSpPr>
            <a:spLocks xmlns:a="http://schemas.openxmlformats.org/drawingml/2006/main" noGrp="1"/>
          </p:cNvSpPr>
          <p:nvPr/>
        </p:nvSpPr>
        <p:spPr>
          <a:xfrm xmlns:a="http://schemas.openxmlformats.org/drawingml/2006/main">
            <a:off x="5781675" y="16954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USB serial</a:t>
            </a:r>
          </a:p>
        </p:txBody>
      </p:sp>
      <p:sp>
        <p:nvSpPr>
          <p:cNvPr id="96" name="Load energy">
            <a:extLst xmlns:a="http://schemas.openxmlformats.org/drawingml/2006/main">
              <a:ext uri="{FF2B5EF4-FFF2-40B4-BE49-F238E27FC236}">
                <a16:creationId xmlns:a16="http://schemas.microsoft.com/office/drawing/2014/main" id="{221537A2-044F-4B6E-9594-73AFD6AEC139}"/>
              </a:ext>
            </a:extLst>
          </p:cNvPr>
          <p:cNvSpPr>
            <a:spLocks xmlns:a="http://schemas.openxmlformats.org/drawingml/2006/main" noGrp="1"/>
          </p:cNvSpPr>
          <p:nvPr/>
        </p:nvSpPr>
        <p:spPr>
          <a:xfrm xmlns:a="http://schemas.openxmlformats.org/drawingml/2006/main">
            <a:off x="6229350" y="4048125"/>
            <a:ext cx="2524125"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Load-energy estimate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Power, state, duration</a:t>
            </a:r>
          </a:p>
        </p:txBody>
      </p:sp>
      <p:cxnSp>
        <p:nvCxnSpPr>
          <p:cNvPr id="114" name=""/>
          <p:cNvCxnSpPr>
            <a:stCxn xmlns:a="http://schemas.openxmlformats.org/drawingml/2006/main" id="92" idx="2"/>
            <a:endCxn xmlns:a="http://schemas.openxmlformats.org/drawingml/2006/main" id="96" idx="0"/>
          </p:cNvCxnSpPr>
          <p:nvPr/>
        </p:nvCxnSpPr>
        <p:spPr>
          <a:xfrm xmlns:a="http://schemas.openxmlformats.org/drawingml/2006/main" flipH="1">
            <a:off x="7491413" y="3086100"/>
            <a:ext cx="42863"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sp>
        <p:nvSpPr>
          <p:cNvPr id="98" name="Runtime">
            <a:extLst xmlns:a="http://schemas.openxmlformats.org/drawingml/2006/main">
              <a:ext uri="{FF2B5EF4-FFF2-40B4-BE49-F238E27FC236}">
                <a16:creationId xmlns:a16="http://schemas.microsoft.com/office/drawing/2014/main" id="{10EDAA13-1B47-4360-8C86-211B0A8EA68A}"/>
              </a:ext>
            </a:extLst>
          </p:cNvPr>
          <p:cNvSpPr>
            <a:spLocks xmlns:a="http://schemas.openxmlformats.org/drawingml/2006/main" noGrp="1"/>
          </p:cNvSpPr>
          <p:nvPr/>
        </p:nvSpPr>
        <p:spPr>
          <a:xfrm xmlns:a="http://schemas.openxmlformats.org/drawingml/2006/main">
            <a:off x="3314700" y="4048125"/>
            <a:ext cx="2419350"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Energy and runtime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SOC + usable Wh</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demand estimate</a:t>
            </a:r>
          </a:p>
        </p:txBody>
      </p:sp>
      <p:cxnSp>
        <p:nvCxnSpPr>
          <p:cNvPr id="116" name=""/>
          <p:cNvCxnSpPr>
            <a:stCxn xmlns:a="http://schemas.openxmlformats.org/drawingml/2006/main" id="91" idx="2"/>
            <a:endCxn xmlns:a="http://schemas.openxmlformats.org/drawingml/2006/main" id="98" idx="0"/>
          </p:cNvCxnSpPr>
          <p:nvPr/>
        </p:nvCxnSpPr>
        <p:spPr>
          <a:xfrm xmlns:a="http://schemas.openxmlformats.org/drawingml/2006/main" flipH="1">
            <a:off x="4524375" y="3086100"/>
            <a:ext cx="47625"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cxnSp>
        <p:nvCxnSpPr>
          <p:cNvPr id="117" name=""/>
          <p:cNvCxnSpPr>
            <a:stCxn xmlns:a="http://schemas.openxmlformats.org/drawingml/2006/main" id="96" idx="1"/>
            <a:endCxn xmlns:a="http://schemas.openxmlformats.org/drawingml/2006/main" id="98" idx="3"/>
          </p:cNvCxnSpPr>
          <p:nvPr/>
        </p:nvCxnSpPr>
        <p:spPr>
          <a:xfrm xmlns:a="http://schemas.openxmlformats.org/drawingml/2006/main" flipH="1">
            <a:off x="5734050" y="4567238"/>
            <a:ext cx="495300"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1" name="Dashboard">
            <a:extLst xmlns:a="http://schemas.openxmlformats.org/drawingml/2006/main">
              <a:ext uri="{FF2B5EF4-FFF2-40B4-BE49-F238E27FC236}">
                <a16:creationId xmlns:a16="http://schemas.microsoft.com/office/drawing/2014/main" id="{F0ED46C7-C731-458E-B8D8-4B4D43C66769}"/>
              </a:ext>
            </a:extLst>
          </p:cNvPr>
          <p:cNvSpPr>
            <a:spLocks xmlns:a="http://schemas.openxmlformats.org/drawingml/2006/main" noGrp="1"/>
          </p:cNvSpPr>
          <p:nvPr/>
        </p:nvSpPr>
        <p:spPr>
          <a:xfrm xmlns:a="http://schemas.openxmlformats.org/drawingml/2006/main">
            <a:off x="457200" y="4048125"/>
            <a:ext cx="2333625" cy="10382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Local dashboard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Estimates and CSV</a:t>
            </a:r>
          </a:p>
        </p:txBody>
      </p:sp>
      <p:cxnSp>
        <p:nvCxnSpPr>
          <p:cNvPr id="119" name=""/>
          <p:cNvCxnSpPr>
            <a:stCxn xmlns:a="http://schemas.openxmlformats.org/drawingml/2006/main" id="98" idx="1"/>
            <a:endCxn xmlns:a="http://schemas.openxmlformats.org/drawingml/2006/main" id="101" idx="3"/>
          </p:cNvCxnSpPr>
          <p:nvPr/>
        </p:nvCxnSpPr>
        <p:spPr>
          <a:xfrm xmlns:a="http://schemas.openxmlformats.org/drawingml/2006/main" flipH="1">
            <a:off x="2790825" y="4567238"/>
            <a:ext cx="52387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3" name="Architecture status">
            <a:extLst xmlns:a="http://schemas.openxmlformats.org/drawingml/2006/main">
              <a:ext uri="{FF2B5EF4-FFF2-40B4-BE49-F238E27FC236}">
                <a16:creationId xmlns:a16="http://schemas.microsoft.com/office/drawing/2014/main" id="{1F715592-829D-4CF7-8C34-6EEF17DFBEF9}"/>
              </a:ext>
            </a:extLst>
          </p:cNvPr>
          <p:cNvSpPr>
            <a:spLocks xmlns:a="http://schemas.openxmlformats.org/drawingml/2006/main" noGrp="1"/>
          </p:cNvSpPr>
          <p:nvPr/>
        </p:nvSpPr>
        <p:spPr>
          <a:xfrm xmlns:a="http://schemas.openxmlformats.org/drawingml/2006/main">
            <a:off x="523875" y="5514975"/>
            <a:ext cx="81343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Foundation: sensing firmware, charge/runtime software, dashboard and Rev B CAD.</a:t>
            </a:r>
          </a:p>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Proposed: raw signature logging, trained profiles and profile-based estimates.</a:t>
            </a:r>
          </a:p>
        </p:txBody>
      </p:sp>
    </p:spTree>
    <p:extLst>
      <p:ext uri="{BB962C8B-B14F-4D97-AF65-F5344CB8AC3E}">
        <p14:creationId xmlns:p14="http://schemas.microsoft.com/office/powerpoint/2010/main" val="10252036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E3894647-38DF-4A92-A623-9CF338EBFFC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623908C4-6557-4FD9-8625-9E298AECFFA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552825"/>
        </p:xfrm>
        <a:graphic xmlns:a="http://schemas.openxmlformats.org/drawingml/2006/main">
          <a:graphicData uri="http://schemas.openxmlformats.org/drawingml/2006/table">
            <a:tbl>
              <a:tblPr/>
              <a:tblGrid>
                <a:gridCol w="2286000"/>
                <a:gridCol w="5943600"/>
              </a:tblGrid>
              <a:tr h="592138">
                <a:tc>
                  <a:txBody>
                    <a:bodyPr>
                      <a:noAutofit/>
                    </a:bodyPr>
                    <a:lstStyle/>
                    <a:p>
                      <a:pPr algn="l"/>
                      <a:r>
                        <a:rPr sz="1875" b="1">
                          <a:solidFill>
                            <a:srgbClr val="000000"/>
                          </a:solidFill>
                          <a:latin typeface="Times New Roman"/>
                          <a:ea typeface="Times New Roman"/>
                          <a:cs typeface="Times New Roman"/>
                        </a:rPr>
                        <a:t>Data item</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Collection plan</a:t>
                      </a:r>
                    </a:p>
                  </a:txBody>
                  <a:tcPr marL="95250" marR="95250" marT="66675" marB="66675" anchor="ctr">
                    <a:solidFill>
                      <a:srgbClr val="F2F2F2"/>
                    </a:solidFill>
                  </a:tcPr>
                </a:tc>
              </a:tr>
              <a:tr h="592138">
                <a:tc>
                  <a:txBody>
                    <a:bodyPr>
                      <a:noAutofit/>
                    </a:bodyPr>
                    <a:lstStyle/>
                    <a:p>
                      <a:pPr algn="l"/>
                      <a:r>
                        <a:rPr sz="1875" b="0">
                          <a:solidFill>
                            <a:srgbClr val="000000"/>
                          </a:solidFill>
                          <a:latin typeface="Times New Roman"/>
                          <a:ea typeface="Times New Roman"/>
                          <a:cs typeface="Times New Roman"/>
                        </a:rPr>
                        <a:t>Initial scope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4–6 known compatible DC load types, one per run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Recorded fields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Time, voltage, current, power, device label and state</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Conditions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Repeated sessions, battery levels and operating states</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Features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Power steps, mean, variation, slope and duration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Train / test split</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Separate complete sessions, then test combinations</a:t>
                      </a:r>
                    </a:p>
                  </a:txBody>
                  <a:tcPr marL="95250" marR="95250" marT="66675" marB="66675"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07A2DA71-EA3A-44DD-B426-500A19E44C11}"/>
              </a:ext>
            </a:extLst>
          </p:cNvPr>
          <p:cNvSpPr>
            <a:spLocks xmlns:a="http://schemas.openxmlformats.org/drawingml/2006/main" noGrp="1"/>
          </p:cNvSpPr>
          <p:nvPr/>
        </p:nvSpPr>
        <p:spPr>
          <a:xfrm xmlns:a="http://schemas.openxmlformats.org/drawingml/2006/main">
            <a:off x="523875" y="5010150"/>
            <a:ext cx="8115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Nominal acquisition: 10 Hz. Current telemetry: approximately 1 Hz.</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Add and qualify raw logging before collecting signature features.</a:t>
            </a:r>
          </a:p>
        </p:txBody>
      </p:sp>
      <p:sp>
        <p:nvSpPr>
          <p:cNvPr id="91" name="Dataset status">
            <a:extLst xmlns:a="http://schemas.openxmlformats.org/drawingml/2006/main">
              <a:ext uri="{FF2B5EF4-FFF2-40B4-BE49-F238E27FC236}">
                <a16:creationId xmlns:a16="http://schemas.microsoft.com/office/drawing/2014/main" id="{FC2D27D1-2534-42AA-A085-B3D3D9412D5D}"/>
              </a:ext>
            </a:extLst>
          </p:cNvPr>
          <p:cNvSpPr>
            <a:spLocks xmlns:a="http://schemas.openxmlformats.org/drawingml/2006/main" noGrp="1"/>
          </p:cNvSpPr>
          <p:nvPr/>
        </p:nvSpPr>
        <p:spPr>
          <a:xfrm xmlns:a="http://schemas.openxmlformats.org/drawingml/2006/main">
            <a:off x="523875" y="5943600"/>
            <a:ext cx="8115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Physical signature records are the next stage.</a:t>
            </a:r>
          </a:p>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Existing synthetic records support development and demonstration.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C5060AF4-FAD4-432C-A752-C773498AC5A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BDC1EA45-C926-4B5B-A917-FF739317E47D}"/>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600450"/>
        </p:xfrm>
        <a:graphic xmlns:a="http://schemas.openxmlformats.org/drawingml/2006/main">
          <a:graphicData uri="http://schemas.openxmlformats.org/drawingml/2006/table">
            <a:tbl>
              <a:tblPr/>
              <a:tblGrid>
                <a:gridCol w="2724150"/>
                <a:gridCol w="5505450"/>
              </a:tblGrid>
              <a:tr h="600075">
                <a:tc>
                  <a:txBody>
                    <a:bodyPr>
                      <a:noAutofit/>
                    </a:bodyPr>
                    <a:lstStyle/>
                    <a:p>
                      <a:pPr algn="l"/>
                      <a:r>
                        <a:rPr sz="1875" b="1">
                          <a:solidFill>
                            <a:srgbClr val="000000"/>
                          </a:solidFill>
                          <a:latin typeface="Times New Roman"/>
                          <a:ea typeface="Times New Roman"/>
                          <a:cs typeface="Times New Roman"/>
                        </a:rPr>
                        <a:t>Expected output</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Evaluation method</a:t>
                      </a:r>
                    </a:p>
                  </a:txBody>
                  <a:tcPr marL="95250" marR="95250" marT="66675" marB="66675" anchor="ctr">
                    <a:solidFill>
                      <a:srgbClr val="F2F2F2"/>
                    </a:solidFill>
                  </a:tcPr>
                </a:tc>
              </a:tr>
              <a:tr h="600075">
                <a:tc>
                  <a:txBody>
                    <a:bodyPr>
                      <a:noAutofit/>
                    </a:bodyPr>
                    <a:lstStyle/>
                    <a:p>
                      <a:pPr algn="l"/>
                      <a:r>
                        <a:rPr sz="1875" b="0">
                          <a:solidFill>
                            <a:srgbClr val="000000"/>
                          </a:solidFill>
                          <a:latin typeface="Times New Roman"/>
                          <a:ea typeface="Times New Roman"/>
                          <a:cs typeface="Times New Roman"/>
                        </a:rPr>
                        <a:t>Known-load matching</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Confusion matrix and macro F1 on held-out sessions</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Unknown indication</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Unknown detection and false acceptance</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Consumed-energy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Estimated Wh against independent reference energy</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Battery-runtime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Absolute error in minutes and percentage error</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Trustworthy measurements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Calibration errors and missing-data handling</a:t>
                      </a:r>
                    </a:p>
                  </a:txBody>
                  <a:tcPr marL="95250" marR="95250" marT="66675" marB="66675"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29FDD2CA-AB08-4B53-8BC2-CC9A00A63EA6}"/>
              </a:ext>
            </a:extLst>
          </p:cNvPr>
          <p:cNvSpPr>
            <a:spLocks xmlns:a="http://schemas.openxmlformats.org/drawingml/2006/main" noGrp="1"/>
          </p:cNvSpPr>
          <p:nvPr/>
        </p:nvSpPr>
        <p:spPr>
          <a:xfrm xmlns:a="http://schemas.openxmlformats.org/drawingml/2006/main">
            <a:off x="533400" y="5095875"/>
            <a:ext cx="8105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Foundation audit: 45 Python tests, 67 host C++ assertions.</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Both ESP32 firmware targets compile.</a:t>
            </a:r>
          </a:p>
        </p:txBody>
      </p:sp>
      <p:sp>
        <p:nvSpPr>
          <p:cNvPr id="91" name="Estimation validation">
            <a:extLst xmlns:a="http://schemas.openxmlformats.org/drawingml/2006/main">
              <a:ext uri="{FF2B5EF4-FFF2-40B4-BE49-F238E27FC236}">
                <a16:creationId xmlns:a16="http://schemas.microsoft.com/office/drawing/2014/main" id="{C994D03D-F9E5-4894-8012-9518E5D5AA13}"/>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Signature recognition and physical estimation accuracy</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will be established through measured tests.</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C4AC468B-0CA9-4EE1-93D2-FBC5608F990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DF1BD320-F781-4357-A74A-06F6BFEA249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Foundation prepared: firmware, dashboard, CAD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Assemble, calibrate and implement raw signature logging</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labelled sessions and compare matching methods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load-energy and battery-runtime estimates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Repeat tests, analyse errors and prepare final demonstration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2FC788E1-65B0-40D6-86EE-1DFB5C36AF13}"/>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D0510344-7671-4BB2-A9C5-A1AF4E5D2AA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FA691790-4D96-4ACA-8052-11B4ECEAEC4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67C12C53-1CA9-446F-BE4E-16291FAA4788}"/>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63e038359674af2"/>
              </a:rPr>
              <a:t>10.3390/en14030767</a:t>
            </a:r>
          </a:p>
        </p:txBody>
      </p:sp>
      <p:sp>
        <p:nvSpPr>
          <p:cNvPr id="90" name="Reference 2">
            <a:extLst xmlns:a="http://schemas.openxmlformats.org/drawingml/2006/main">
              <a:ext uri="{FF2B5EF4-FFF2-40B4-BE49-F238E27FC236}">
                <a16:creationId xmlns:a16="http://schemas.microsoft.com/office/drawing/2014/main" id="{40D1F54A-7B83-4958-9F8D-FA65E2FD7370}"/>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4505e8e13114593"/>
              </a:rPr>
              <a:t>10.3390/s23104845</a:t>
            </a:r>
          </a:p>
        </p:txBody>
      </p:sp>
      <p:sp>
        <p:nvSpPr>
          <p:cNvPr id="91" name="Reference 3">
            <a:extLst xmlns:a="http://schemas.openxmlformats.org/drawingml/2006/main">
              <a:ext uri="{FF2B5EF4-FFF2-40B4-BE49-F238E27FC236}">
                <a16:creationId xmlns:a16="http://schemas.microsoft.com/office/drawing/2014/main" id="{DC2A09F5-2895-418E-8A20-9782F5CC1E9E}"/>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255df03d14744c9"/>
              </a:rPr>
              <a:t>10.3390/inventions11020029</a:t>
            </a:r>
          </a:p>
        </p:txBody>
      </p:sp>
      <p:sp>
        <p:nvSpPr>
          <p:cNvPr id="92" name="Reference 4">
            <a:extLst xmlns:a="http://schemas.openxmlformats.org/drawingml/2006/main">
              <a:ext uri="{FF2B5EF4-FFF2-40B4-BE49-F238E27FC236}">
                <a16:creationId xmlns:a16="http://schemas.microsoft.com/office/drawing/2014/main" id="{5A7446CF-7931-4B31-8C75-2920B1C68A95}"/>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8afeda5937b40b7"/>
              </a:rPr>
              <a:t>10.3390/en19081883</a:t>
            </a:r>
          </a:p>
        </p:txBody>
      </p:sp>
      <p:sp>
        <p:nvSpPr>
          <p:cNvPr id="93" name="Reference 5">
            <a:extLst xmlns:a="http://schemas.openxmlformats.org/drawingml/2006/main">
              <a:ext uri="{FF2B5EF4-FFF2-40B4-BE49-F238E27FC236}">
                <a16:creationId xmlns:a16="http://schemas.microsoft.com/office/drawing/2014/main" id="{405160EB-2B38-4C6F-BE12-6857EF60272F}"/>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7c8fe8d651744de"/>
              </a:rPr>
              <a:t>10.3390/en19133131</a:t>
            </a:r>
          </a:p>
        </p:txBody>
      </p:sp>
      <p:sp>
        <p:nvSpPr>
          <p:cNvPr id="94" name="Reference 6">
            <a:extLst xmlns:a="http://schemas.openxmlformats.org/drawingml/2006/main">
              <a:ext uri="{FF2B5EF4-FFF2-40B4-BE49-F238E27FC236}">
                <a16:creationId xmlns:a16="http://schemas.microsoft.com/office/drawing/2014/main" id="{C8665F4C-AD5C-460D-85C2-CA2C4D48A891}"/>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6732f6f6be246af"/>
              </a:rPr>
              <a:t>10.3390/en14144074</a:t>
            </a:r>
          </a:p>
        </p:txBody>
      </p:sp>
      <p:sp>
        <p:nvSpPr>
          <p:cNvPr id="95" name="Reference 7">
            <a:extLst xmlns:a="http://schemas.openxmlformats.org/drawingml/2006/main">
              <a:ext uri="{FF2B5EF4-FFF2-40B4-BE49-F238E27FC236}">
                <a16:creationId xmlns:a16="http://schemas.microsoft.com/office/drawing/2014/main" id="{D07689EE-C4FF-4F4D-A0AA-2C97E6D38843}"/>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f49d28b6ded4321"/>
              </a:rPr>
              <a:t>10.1016/j.energy.2017.10.043</a:t>
            </a:r>
          </a:p>
        </p:txBody>
      </p:sp>
      <p:sp>
        <p:nvSpPr>
          <p:cNvPr id="96" name="Reference 8">
            <a:extLst xmlns:a="http://schemas.openxmlformats.org/drawingml/2006/main">
              <a:ext uri="{FF2B5EF4-FFF2-40B4-BE49-F238E27FC236}">
                <a16:creationId xmlns:a16="http://schemas.microsoft.com/office/drawing/2014/main" id="{24102F35-289D-4D6A-862C-EE19E1A85ABF}"/>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53e1ae8bec948c0"/>
              </a:rPr>
              <a:t>10.3390/en13071811</a:t>
            </a:r>
          </a:p>
        </p:txBody>
      </p:sp>
      <p:sp>
        <p:nvSpPr>
          <p:cNvPr id="97" name="Reference 9">
            <a:extLst xmlns:a="http://schemas.openxmlformats.org/drawingml/2006/main">
              <a:ext uri="{FF2B5EF4-FFF2-40B4-BE49-F238E27FC236}">
                <a16:creationId xmlns:a16="http://schemas.microsoft.com/office/drawing/2014/main" id="{9F19EBF0-9CC8-4690-B740-B5C9C83FA35E}"/>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69e6585b66d4e7f"/>
              </a:rPr>
              <a:t>10.3390/en14041054</a:t>
            </a:r>
          </a:p>
        </p:txBody>
      </p:sp>
      <p:sp>
        <p:nvSpPr>
          <p:cNvPr id="98" name="Reference 10">
            <a:extLst xmlns:a="http://schemas.openxmlformats.org/drawingml/2006/main">
              <a:ext uri="{FF2B5EF4-FFF2-40B4-BE49-F238E27FC236}">
                <a16:creationId xmlns:a16="http://schemas.microsoft.com/office/drawing/2014/main" id="{7EC863B6-367A-476A-819E-326CFF8FA222}"/>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be55d9a29cf41ac"/>
              </a:rPr>
              <a:t>10.3390/en14133733</a:t>
            </a:r>
          </a:p>
        </p:txBody>
      </p:sp>
      <p:sp>
        <p:nvSpPr>
          <p:cNvPr id="99" name="Reference 11">
            <a:extLst xmlns:a="http://schemas.openxmlformats.org/drawingml/2006/main">
              <a:ext uri="{FF2B5EF4-FFF2-40B4-BE49-F238E27FC236}">
                <a16:creationId xmlns:a16="http://schemas.microsoft.com/office/drawing/2014/main" id="{8431602C-06B0-4A84-9C2B-1BC100677C3F}"/>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2152994bdbc4007"/>
              </a:rPr>
              <a:t>10.3390/en15218172</a:t>
            </a:r>
          </a:p>
        </p:txBody>
      </p:sp>
      <p:sp>
        <p:nvSpPr>
          <p:cNvPr id="100" name="Reference 12">
            <a:extLst xmlns:a="http://schemas.openxmlformats.org/drawingml/2006/main">
              <a:ext uri="{FF2B5EF4-FFF2-40B4-BE49-F238E27FC236}">
                <a16:creationId xmlns:a16="http://schemas.microsoft.com/office/drawing/2014/main" id="{EB620CD4-811C-4FF5-AE73-EEA43561C78D}"/>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ec217a3ac364411"/>
              </a:rPr>
              <a:t>10.3390/en16145558</a:t>
            </a:r>
          </a:p>
        </p:txBody>
      </p:sp>
      <p:sp>
        <p:nvSpPr>
          <p:cNvPr id="101" name="Reference 13">
            <a:extLst xmlns:a="http://schemas.openxmlformats.org/drawingml/2006/main">
              <a:ext uri="{FF2B5EF4-FFF2-40B4-BE49-F238E27FC236}">
                <a16:creationId xmlns:a16="http://schemas.microsoft.com/office/drawing/2014/main" id="{D16AC513-7375-41BB-88E1-E12A031B5E19}"/>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382f2d68b22b40c0"/>
              </a:rPr>
              <a:t>10.3390/batteries9010043</a:t>
            </a:r>
          </a:p>
        </p:txBody>
      </p:sp>
      <p:sp>
        <p:nvSpPr>
          <p:cNvPr id="102" name="Reference 14">
            <a:extLst xmlns:a="http://schemas.openxmlformats.org/drawingml/2006/main">
              <a:ext uri="{FF2B5EF4-FFF2-40B4-BE49-F238E27FC236}">
                <a16:creationId xmlns:a16="http://schemas.microsoft.com/office/drawing/2014/main" id="{531CE013-141F-4DB5-A8D8-CD188C00E1D3}"/>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2f2fc5604c9475d"/>
              </a:rPr>
              <a:t>10.3390/electronics13214256</a:t>
            </a:r>
          </a:p>
        </p:txBody>
      </p:sp>
      <p:sp>
        <p:nvSpPr>
          <p:cNvPr id="103" name="Reference 15">
            <a:extLst xmlns:a="http://schemas.openxmlformats.org/drawingml/2006/main">
              <a:ext uri="{FF2B5EF4-FFF2-40B4-BE49-F238E27FC236}">
                <a16:creationId xmlns:a16="http://schemas.microsoft.com/office/drawing/2014/main" id="{5A1E2401-8CD0-450D-BE7F-1567167C6FF3}"/>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aafd438d78d469a"/>
              </a:rPr>
              <a:t>10.18618/REP.e202521</a:t>
            </a:r>
          </a:p>
        </p:txBody>
      </p:sp>
      <p:sp>
        <p:nvSpPr>
          <p:cNvPr id="104" name="Reference 16">
            <a:extLst xmlns:a="http://schemas.openxmlformats.org/drawingml/2006/main">
              <a:ext uri="{FF2B5EF4-FFF2-40B4-BE49-F238E27FC236}">
                <a16:creationId xmlns:a16="http://schemas.microsoft.com/office/drawing/2014/main" id="{ABCB0B26-1758-4377-B113-E0E48D57DA90}"/>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b69dcbed37c4f43"/>
              </a:rPr>
              <a:t>10.1016/j.egyr.2020.11.030</a:t>
            </a:r>
          </a:p>
        </p:txBody>
      </p:sp>
      <p:sp>
        <p:nvSpPr>
          <p:cNvPr id="105" name="Reference 17">
            <a:extLst xmlns:a="http://schemas.openxmlformats.org/drawingml/2006/main">
              <a:ext uri="{FF2B5EF4-FFF2-40B4-BE49-F238E27FC236}">
                <a16:creationId xmlns:a16="http://schemas.microsoft.com/office/drawing/2014/main" id="{53163550-FD04-4563-A8AA-75C857E7538F}"/>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6876629745f4a5a"/>
              </a:rPr>
              <a:t>10.1049/stg2.12151</a:t>
            </a:r>
          </a:p>
        </p:txBody>
      </p:sp>
      <p:sp>
        <p:nvSpPr>
          <p:cNvPr id="106" name="Reference 18">
            <a:extLst xmlns:a="http://schemas.openxmlformats.org/drawingml/2006/main">
              <a:ext uri="{FF2B5EF4-FFF2-40B4-BE49-F238E27FC236}">
                <a16:creationId xmlns:a16="http://schemas.microsoft.com/office/drawing/2014/main" id="{D55D7FE1-A079-47D5-B2ED-C1BD766EDA07}"/>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77a672336f3452d"/>
              </a:rPr>
              <a:t>10.3390/electronics10131562</a:t>
            </a:r>
          </a:p>
        </p:txBody>
      </p:sp>
      <p:sp>
        <p:nvSpPr>
          <p:cNvPr id="107" name="Reference 19">
            <a:extLst xmlns:a="http://schemas.openxmlformats.org/drawingml/2006/main">
              <a:ext uri="{FF2B5EF4-FFF2-40B4-BE49-F238E27FC236}">
                <a16:creationId xmlns:a16="http://schemas.microsoft.com/office/drawing/2014/main" id="{F8F5D191-B0C9-4F48-8AB7-4F98CCA361A0}"/>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37fbc52e5b6a4535"/>
              </a:rPr>
              <a:t>10.35784/iapgos.5320</a:t>
            </a:r>
          </a:p>
        </p:txBody>
      </p:sp>
      <p:sp>
        <p:nvSpPr>
          <p:cNvPr id="108" name="Reference 20">
            <a:extLst xmlns:a="http://schemas.openxmlformats.org/drawingml/2006/main">
              <a:ext uri="{FF2B5EF4-FFF2-40B4-BE49-F238E27FC236}">
                <a16:creationId xmlns:a16="http://schemas.microsoft.com/office/drawing/2014/main" id="{040AAE6F-85D2-4705-9319-0CB1D35BA6CE}"/>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b735ed13884488d"/>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9756D13D-5A74-4AE4-ACFE-FEFAB91C031F}"/>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C555CE25-3C2E-47D0-9270-67C6C824C2C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9F09E847-E617-4B28-8D9E-30234DA8E5EF}"/>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Energy Signature Analysis and Battery Runtime Estimation</a:t>
            </a:r>
          </a:p>
        </p:txBody>
      </p:sp>
    </p:spTree>
    <p:extLst>
      <p:ext uri="{BB962C8B-B14F-4D97-AF65-F5344CB8AC3E}">
        <p14:creationId xmlns:p14="http://schemas.microsoft.com/office/powerpoint/2010/main" val="1086427737"/>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2026-10-03T05:31:27.1490000Z</dcterms:created>
  <dcterms:modified xsi:type="dcterms:W3CDTF">2026-10-03T05:31:27.1490000Z</dcterms:modified>
</coreProperties>
</file>