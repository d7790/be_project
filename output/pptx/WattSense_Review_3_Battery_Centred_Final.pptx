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641e47c199148ff" /><Relationship Type="http://schemas.openxmlformats.org/officeDocument/2006/relationships/extended-properties" Target="/docProps/app.xml" Id="R373b2ec5776b4082" /><Relationship Type="http://schemas.openxmlformats.org/officeDocument/2006/relationships/officeDocument" Target="/ppt/presentation.xml" Id="R5738b38b0ecf4fc8" /></Relationships>
</file>

<file path=ppt/presentation.xml><?xml version="1.0" encoding="utf-8"?>
<p:presentation xmlns:p="http://schemas.openxmlformats.org/presentationml/2006/main">
  <p:sldMasterIdLst>
    <p:sldMasterId xmlns:r="http://schemas.openxmlformats.org/officeDocument/2006/relationships" id="2147483648" r:id="R56f3501f8aa44985"/>
    <p:sldMasterId xmlns:r="http://schemas.openxmlformats.org/officeDocument/2006/relationships" id="2147483659" r:id="Rd52ecdbfbb114ffc"/>
  </p:sldMasterIdLst>
  <p:notesMasterIdLst>
    <p:notesMasterId xmlns:r="http://schemas.openxmlformats.org/officeDocument/2006/relationships" r:id="Rce3e404634be4cd2"/>
  </p:notesMasterIdLst>
  <p:sldIdLst>
    <p:sldId xmlns:r="http://schemas.openxmlformats.org/officeDocument/2006/relationships" id="256" r:id="Rf40e488b4e584129"/>
    <p:sldId xmlns:r="http://schemas.openxmlformats.org/officeDocument/2006/relationships" id="257" r:id="Rdae2c6463d204ab8"/>
    <p:sldId xmlns:r="http://schemas.openxmlformats.org/officeDocument/2006/relationships" id="258" r:id="Reb691cf52c534052"/>
    <p:sldId xmlns:r="http://schemas.openxmlformats.org/officeDocument/2006/relationships" id="259" r:id="R2b3f9eed1b6c4a7d"/>
    <p:sldId xmlns:r="http://schemas.openxmlformats.org/officeDocument/2006/relationships" id="260" r:id="Rb23ac0feaac74601"/>
    <p:sldId xmlns:r="http://schemas.openxmlformats.org/officeDocument/2006/relationships" id="261" r:id="R8c4703a2de9e404a"/>
    <p:sldId xmlns:r="http://schemas.openxmlformats.org/officeDocument/2006/relationships" id="262" r:id="Recc87f4c55b348d9"/>
    <p:sldId xmlns:r="http://schemas.openxmlformats.org/officeDocument/2006/relationships" id="263" r:id="Rfef75577921746a7"/>
    <p:sldId xmlns:r="http://schemas.openxmlformats.org/officeDocument/2006/relationships" id="264" r:id="Rfb27721458204b17"/>
    <p:sldId xmlns:r="http://schemas.openxmlformats.org/officeDocument/2006/relationships" id="265" r:id="Rf5b2dfc314cb4a3a"/>
    <p:sldId xmlns:r="http://schemas.openxmlformats.org/officeDocument/2006/relationships" id="266" r:id="R2a57fac88b704197"/>
    <p:sldId xmlns:r="http://schemas.openxmlformats.org/officeDocument/2006/relationships" id="267" r:id="Rffa414dfed6f49ac"/>
    <p:sldId xmlns:r="http://schemas.openxmlformats.org/officeDocument/2006/relationships" id="268" r:id="R468f1033f95c424b"/>
    <p:sldId xmlns:r="http://schemas.openxmlformats.org/officeDocument/2006/relationships" id="269" r:id="R854897e36c084e44"/>
  </p:sldIdLst>
  <p:sldSz cx="9144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EE197F5D-6551-475C-A2F8-58654C6B5B28}">
  <a:tblStyle styleId="{EE197F5D-6551-475C-A2F8-58654C6B5B28}"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80f755e1a3204006" /><Relationship Type="http://schemas.openxmlformats.org/officeDocument/2006/relationships/slideMaster" Target="/ppt/slideMasters/slideMaster1.xml" Id="R56f3501f8aa44985" /><Relationship Type="http://schemas.openxmlformats.org/officeDocument/2006/relationships/slideMaster" Target="/ppt/slideMasters/slideMaster2.xml" Id="Rd52ecdbfbb114ffc" /><Relationship Type="http://schemas.openxmlformats.org/officeDocument/2006/relationships/notesMaster" Target="/ppt/notesMasters/notesMaster1.xml" Id="Rce3e404634be4cd2" /><Relationship Type="http://schemas.openxmlformats.org/officeDocument/2006/relationships/presProps" Target="/ppt/presProps.xml" Id="R094b2b4c1d7e42cf" /><Relationship Type="http://schemas.openxmlformats.org/officeDocument/2006/relationships/viewProps" Target="/ppt/viewProps.xml" Id="Rdbee3c9313f141c2" /><Relationship Type="http://schemas.openxmlformats.org/officeDocument/2006/relationships/tableStyles" Target="/ppt/tableStyles.xml" Id="R4f7dcaa6ae8e4f29" /><Relationship Type="http://schemas.openxmlformats.org/officeDocument/2006/relationships/slide" Target="/ppt/slides/slide1.xml" Id="Rf40e488b4e584129" /><Relationship Type="http://schemas.openxmlformats.org/officeDocument/2006/relationships/slide" Target="/ppt/slides/slide2.xml" Id="Rdae2c6463d204ab8" /><Relationship Type="http://schemas.openxmlformats.org/officeDocument/2006/relationships/slide" Target="/ppt/slides/slide3.xml" Id="Reb691cf52c534052" /><Relationship Type="http://schemas.openxmlformats.org/officeDocument/2006/relationships/slide" Target="/ppt/slides/slide4.xml" Id="R2b3f9eed1b6c4a7d" /><Relationship Type="http://schemas.openxmlformats.org/officeDocument/2006/relationships/slide" Target="/ppt/slides/slide5.xml" Id="Rb23ac0feaac74601" /><Relationship Type="http://schemas.openxmlformats.org/officeDocument/2006/relationships/slide" Target="/ppt/slides/slide6.xml" Id="R8c4703a2de9e404a" /><Relationship Type="http://schemas.openxmlformats.org/officeDocument/2006/relationships/slide" Target="/ppt/slides/slide7.xml" Id="Recc87f4c55b348d9" /><Relationship Type="http://schemas.openxmlformats.org/officeDocument/2006/relationships/slide" Target="/ppt/slides/slide8.xml" Id="Rfef75577921746a7" /><Relationship Type="http://schemas.openxmlformats.org/officeDocument/2006/relationships/slide" Target="/ppt/slides/slide9.xml" Id="Rfb27721458204b17" /><Relationship Type="http://schemas.openxmlformats.org/officeDocument/2006/relationships/slide" Target="/ppt/slides/slide10.xml" Id="Rf5b2dfc314cb4a3a" /><Relationship Type="http://schemas.openxmlformats.org/officeDocument/2006/relationships/slide" Target="/ppt/slides/slide11.xml" Id="R2a57fac88b704197" /><Relationship Type="http://schemas.openxmlformats.org/officeDocument/2006/relationships/slide" Target="/ppt/slides/slide12.xml" Id="Rffa414dfed6f49ac" /><Relationship Type="http://schemas.openxmlformats.org/officeDocument/2006/relationships/slide" Target="/ppt/slides/slide13.xml" Id="R468f1033f95c424b" /><Relationship Type="http://schemas.openxmlformats.org/officeDocument/2006/relationships/slide" Target="/ppt/slides/slide14.xml" Id="R854897e36c084e4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8db72129293046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4f59775767f405e" /><Relationship Type="http://schemas.openxmlformats.org/officeDocument/2006/relationships/notesMaster" Target="/ppt/notesMasters/notesMaster1.xml" Id="Rdc6111724035468d" /></Relationships>
</file>

<file path=ppt/notesSlides/_rels/notesSlide2.xml.rels>&#65279;<?xml version="1.0" encoding="utf-8"?><Relationships xmlns="http://schemas.openxmlformats.org/package/2006/relationships"><Relationship Type="http://schemas.openxmlformats.org/officeDocument/2006/relationships/slide" Target="/ppt/slides/slide2.xml" Id="Ra1c391e0cc484b5a" /><Relationship Type="http://schemas.openxmlformats.org/officeDocument/2006/relationships/notesMaster" Target="/ppt/notesMasters/notesMaster1.xml" Id="R79bf4329243341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2b1b1c3b31774242" /><Relationship Type="http://schemas.openxmlformats.org/officeDocument/2006/relationships/notesMaster" Target="/ppt/notesMasters/notesMaster1.xml" Id="R94e69e47f0cf40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59a5d343354f10" /><Relationship Type="http://schemas.openxmlformats.org/officeDocument/2006/relationships/notesMaster" Target="/ppt/notesMasters/notesMaster1.xml" Id="R37be85f6f7994e49" /></Relationships>
</file>

<file path=ppt/notesSlides/_rels/notesSlide5.xml.rels>&#65279;<?xml version="1.0" encoding="utf-8"?><Relationships xmlns="http://schemas.openxmlformats.org/package/2006/relationships"><Relationship Type="http://schemas.openxmlformats.org/officeDocument/2006/relationships/slide" Target="/ppt/slides/slide5.xml" Id="R16367cef72e040b7" /><Relationship Type="http://schemas.openxmlformats.org/officeDocument/2006/relationships/notesMaster" Target="/ppt/notesMasters/notesMaster1.xml" Id="R67040d266e594ce6" /></Relationships>
</file>

<file path=ppt/notesSlides/_rels/notesSlide6.xml.rels>&#65279;<?xml version="1.0" encoding="utf-8"?><Relationships xmlns="http://schemas.openxmlformats.org/package/2006/relationships"><Relationship Type="http://schemas.openxmlformats.org/officeDocument/2006/relationships/slide" Target="/ppt/slides/slide6.xml" Id="Rfe0bfe8a8b484771" /><Relationship Type="http://schemas.openxmlformats.org/officeDocument/2006/relationships/notesMaster" Target="/ppt/notesMasters/notesMaster1.xml" Id="Rcb3d2ce0ebe74a08" /></Relationships>
</file>

<file path=ppt/notesSlides/_rels/notesSlide7.xml.rels>&#65279;<?xml version="1.0" encoding="utf-8"?><Relationships xmlns="http://schemas.openxmlformats.org/package/2006/relationships"><Relationship Type="http://schemas.openxmlformats.org/officeDocument/2006/relationships/slide" Target="/ppt/slides/slide7.xml" Id="R6026e027b5844af2" /><Relationship Type="http://schemas.openxmlformats.org/officeDocument/2006/relationships/notesMaster" Target="/ppt/notesMasters/notesMaster1.xml" Id="Rc3a9e6cdd3504c94" /></Relationships>
</file>

<file path=ppt/notesSlides/_rels/notesSlide8.xml.rels>&#65279;<?xml version="1.0" encoding="utf-8"?><Relationships xmlns="http://schemas.openxmlformats.org/package/2006/relationships"><Relationship Type="http://schemas.openxmlformats.org/officeDocument/2006/relationships/slide" Target="/ppt/slides/slide8.xml" Id="R89ef889d8b6943b6" /><Relationship Type="http://schemas.openxmlformats.org/officeDocument/2006/relationships/notesMaster" Target="/ppt/notesMasters/notesMaster1.xml" Id="Rc87b69f1ee2043f6" /></Relationships>
</file>

<file path=ppt/notesSlides/_rels/notesSlide9.xml.rels>&#65279;<?xml version="1.0" encoding="utf-8"?><Relationships xmlns="http://schemas.openxmlformats.org/package/2006/relationships"><Relationship Type="http://schemas.openxmlformats.org/officeDocument/2006/relationships/slide" Target="/ppt/slides/slide9.xml" Id="Rf771724cb23a4033" /><Relationship Type="http://schemas.openxmlformats.org/officeDocument/2006/relationships/notesMaster" Target="/ppt/notesMasters/notesMaster1.xml" Id="R85775b1074ab42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738fb2241224940" /><Relationship Type="http://schemas.openxmlformats.org/officeDocument/2006/relationships/notesMaster" Target="/ppt/notesMasters/notesMaster1.xml" Id="Rd2290b1f0bd946f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7ce76f220aa4435" /><Relationship Type="http://schemas.openxmlformats.org/officeDocument/2006/relationships/notesMaster" Target="/ppt/notesMasters/notesMaster1.xml" Id="Rf6d19d14e1b8457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37f6aba42b94260" /><Relationship Type="http://schemas.openxmlformats.org/officeDocument/2006/relationships/notesMaster" Target="/ppt/notesMasters/notesMaster1.xml" Id="R23a5cde840664c5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7058d6f48da46f8" /><Relationship Type="http://schemas.openxmlformats.org/officeDocument/2006/relationships/notesMaster" Target="/ppt/notesMasters/notesMaster1.xml" Id="Re3c1803bed2a498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7d59b0288cb45de" /><Relationship Type="http://schemas.openxmlformats.org/officeDocument/2006/relationships/notesMaster" Target="/ppt/notesMasters/notesMaster1.xml" Id="R866a5aa7c6bf46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WattSense is a battery-mounted, battery-powered monitoring and advisory device. It estimates charge, usable energy and backup time, then uses selected load signatures and user priorities to recommend which optional load to turn off. Solar charging or a compatible AC-to-DC battery charger can charge the battery. The battery supplies DC loads through appropriate converters and AC loads through an inverter. Group 7: Dhanesh Chaudhari 4114, Yash Ahire 4101, Mrudula Pagar 4212, Ujjwal Kshirsagar 4154. Guide: Mahesh Sapte. Review 3: 3 October 2026. Current evidence remains DC firmware, local dashboard, simulations and unbuilt Rev B CAD. The combined physical device, AC integration and trained signatures are pending.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sih 2026 shubham.pptx</a:t>
            </a:r>
            <a:endParaRPr/>
          </a:p>
          <a:p xmlns:a="http://schemas.openxmlformats.org/drawingml/2006/main">
            <a:pPr marL="0" lvl="0" indent="0" algn="l">
              <a:spcBef>
                <a:spcPts val="0"/>
              </a:spcBef>
              <a:spcAft>
                <a:spcPts val="0"/>
              </a:spcAft>
              <a:buNone/>
            </a:pPr>
            <a:r>
              <a:t>User clarification, 3 October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original SIH idea centres on a battery-system monitor, not a standalone mains appliance meter. WattSense is housed near the battery and powered from the monitored protected DC bus through a qualified regulator. It measures whole-battery signed current, voltage and temperature. Its power draw is included in total battery demand. Support AC and DC loads through external suitably rated conversion hardware. Solar panels need a compatible solar charge controller; mains needs a chemistry-compatible isolated AC-to-DC battery charger. Select one approved charging path initially. The monitoring device does not replace the battery BMS, charger or inverter. Recommendations are advisory: the user turns off a selected optional load. A custom BMS and automatic mains switching are not required.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sih 2026 shubham.pptx</a:t>
            </a:r>
            <a:endParaRPr/>
          </a:p>
          <a:p xmlns:a="http://schemas.openxmlformats.org/drawingml/2006/main">
            <a:pPr marL="0" lvl="0" indent="0" algn="l">
              <a:spcBef>
                <a:spcPts val="0"/>
              </a:spcBef>
              <a:spcAft>
                <a:spcPts val="0"/>
              </a:spcAft>
              <a:buNone/>
            </a:pPr>
            <a:r>
              <a:t>hardware/REFERENCE_WIRING.md</a:t>
            </a:r>
            <a:endParaRPr/>
          </a:p>
          <a:p xmlns:a="http://schemas.openxmlformats.org/drawingml/2006/main">
            <a:pPr marL="0" lvl="0" indent="0" algn="l">
              <a:spcBef>
                <a:spcPts val="0"/>
              </a:spcBef>
              <a:spcAft>
                <a:spcPts val="0"/>
              </a:spcAft>
              <a:buNone/>
            </a:pPr>
            <a:r>
              <a:t>hardware/PCB_REQUIREMENTS.md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papers inform the proposed project. Findings belong to the cited authors and are not WattSense results. Scope limits describe applicability to the proposed AC signature and DC battery subsystems.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Li et al. use captured AC voltage-current trajectories. A low-rate RMS/real-power meter alone does not provide those waveforms; the planned first classifier uses slow power features appropriate to the selected meter.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 Christos Athanasiadis, Dimitrios Doukas, Theofilos Papadopoulos, Antonios Chrysopoulos, "A Scalable Real-Time Non-Intrusive Load Monitoring System for the Estimation of Household Appliance Power Consumption", Energies, vol. 14, no. 3, Art. 767, 2021, doi: 10.3390/en14030767.</a:t>
            </a:r>
            <a:endParaRPr/>
          </a:p>
          <a:p xmlns:a="http://schemas.openxmlformats.org/drawingml/2006/main">
            <a:pPr marL="0" lvl="0" indent="0" algn="l">
              <a:spcBef>
                <a:spcPts val="0"/>
              </a:spcBef>
              <a:spcAft>
                <a:spcPts val="0"/>
              </a:spcAft>
              <a:buNone/>
            </a:pPr>
            <a:r>
              <a:t>https://www.mdpi.com/1996-1073/14/3/767</a:t>
            </a:r>
            <a:endParaRPr/>
          </a:p>
          <a:p xmlns:a="http://schemas.openxmlformats.org/drawingml/2006/main">
            <a:pPr marL="0" lvl="0" indent="0" algn="l">
              <a:spcBef>
                <a:spcPts val="0"/>
              </a:spcBef>
              <a:spcAft>
                <a:spcPts val="0"/>
              </a:spcAft>
              <a:buNone/>
            </a:pPr>
            <a:r>
              <a:t>Evidence: Primary publisher abstract states three blocks: event detection, CNN classifier and power estimator using active-power turn-on transients. It reports computational/memory efficiency qualitatively. Cached full-page excerpt ends within the introduction, so dataset names, exact sampling rates and numerical performance are not asserted. The limitation cell is an applicability inference: this method needs suitable transient measurements and an already trained target-appliance classifier. It does not validate WattSense, universal detection or zero-configuration deployment.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 Rachel Stephen Mollel, Lina Stankovic, Vladimir Stankovic, "Explainability-Informed Feature Selection and Performance Prediction for Nonintrusive Load Monitoring", Sensors, vol. 23, no. 10, Art. 4845, 2023, doi: 10.3390/s23104845.</a:t>
            </a:r>
            <a:endParaRPr/>
          </a:p>
          <a:p xmlns:a="http://schemas.openxmlformats.org/drawingml/2006/main">
            <a:pPr marL="0" lvl="0" indent="0" algn="l">
              <a:spcBef>
                <a:spcPts val="0"/>
              </a:spcBef>
              <a:spcAft>
                <a:spcPts val="0"/>
              </a:spcAft>
              <a:buNone/>
            </a:pPr>
            <a:r>
              <a:t>https://www.mdpi.com/1424-8220/23/10/4845</a:t>
            </a:r>
            <a:endParaRPr/>
          </a:p>
          <a:p xmlns:a="http://schemas.openxmlformats.org/drawingml/2006/main">
            <a:pPr marL="0" lvl="0" indent="0" algn="l">
              <a:spcBef>
                <a:spcPts val="0"/>
              </a:spcBef>
              <a:spcAft>
                <a:spcPts val="0"/>
              </a:spcAft>
              <a:buNone/>
            </a:pPr>
            <a:r>
              <a:t>Evidence: Publisher abstract describes interpretable decision-tree classification, local/global feature importance, REFIT training and unseen same-house/UK-DALE-house evaluation. It reports class-specific improvements, but the displayed row deliberately transfers no percentage to WattSense. Cross-house transfer testing is a design implication drawn from the study setting; the current DC INA219 system cannot inherit its household-data performance.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[3] Herman Cristiano Jaime, Adler Diniz de Souza, Raphael Carlos Santos Machado, Otávio de Souza Martins Gomes, "Machine Learning Models for Non-Intrusive Load Monitoring: A Systematic Review and Meta-Analysis", Inventions, vol. 11, no. 2, Art. 29, 2026, doi: 10.3390/inventions11020029.</a:t>
            </a:r>
            <a:endParaRPr/>
          </a:p>
          <a:p xmlns:a="http://schemas.openxmlformats.org/drawingml/2006/main">
            <a:pPr marL="0" lvl="0" indent="0" algn="l">
              <a:spcBef>
                <a:spcPts val="0"/>
              </a:spcBef>
              <a:spcAft>
                <a:spcPts val="0"/>
              </a:spcAft>
              <a:buNone/>
            </a:pPr>
            <a:r>
              <a:t>https://www.mdpi.com/2411-5134/11/2/29</a:t>
            </a:r>
            <a:endParaRPr/>
          </a:p>
          <a:p xmlns:a="http://schemas.openxmlformats.org/drawingml/2006/main">
            <a:pPr marL="0" lvl="0" indent="0" algn="l">
              <a:spcBef>
                <a:spcPts val="0"/>
              </a:spcBef>
              <a:spcAft>
                <a:spcPts val="0"/>
              </a:spcAft>
              <a:buNone/>
            </a:pPr>
            <a:r>
              <a:t>Evidence: This is a systematic review and meta-analysis, not a new hardware trial. The publisher abstract states 30 eligible studies, random-effects pooling of F1 scores and substantial heterogeneity. Hybrid models had high pooled scores with limited study support; traditional models had broader validation. No pooled score is used as a WattSense result. Issue citation year is 2026; covered primary-study period is 2017-2024.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[4] Haotian Xiang, Wenjing Su, Yi Zong, "Non-Intrusive Load Monitoring: A Systematic Review of Methods, Scenario-Specific Challenges, and Pathways to Practical Deployment", Energies, vol. 19, no. 8, Art. 1883, 2026, doi: 10.3390/en19081883.</a:t>
            </a:r>
            <a:endParaRPr/>
          </a:p>
          <a:p xmlns:a="http://schemas.openxmlformats.org/drawingml/2006/main">
            <a:pPr marL="0" lvl="0" indent="0" algn="l">
              <a:spcBef>
                <a:spcPts val="0"/>
              </a:spcBef>
              <a:spcAft>
                <a:spcPts val="0"/>
              </a:spcAft>
              <a:buNone/>
            </a:pPr>
            <a:r>
              <a:t>https://www.mdpi.com/1996-1073/19/8/1883</a:t>
            </a:r>
            <a:endParaRPr/>
          </a:p>
          <a:p xmlns:a="http://schemas.openxmlformats.org/drawingml/2006/main">
            <a:pPr marL="0" lvl="0" indent="0" algn="l">
              <a:spcBef>
                <a:spcPts val="0"/>
              </a:spcBef>
              <a:spcAft>
                <a:spcPts val="0"/>
              </a:spcAft>
              <a:buNone/>
            </a:pPr>
            <a:r>
              <a:t>Evidence: This is a systematic review/framework, not new hardware validation. Its abstract explicitly identifies real-time/accuracy trade-offs, privacy, unknown loads, behaviour modelling, data quality, transferability, integration and cost. The row is a qualitative synthesis and does not assert a dataset, new classifier or measured accuracy for this review. Relevant to scoping a small known-load prototype with an unknown/ambiguous output.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[5] Yiran Li, Yan Li, Peng Han, "A Non-Intrusive Load Identification Method Based on the Fusion of Steady-State Features and Lightweight Network", Energies, vol. 19, no. 13, Art. 3131, 2026, doi: 10.3390/en19133131.</a:t>
            </a:r>
            <a:endParaRPr/>
          </a:p>
          <a:p xmlns:a="http://schemas.openxmlformats.org/drawingml/2006/main">
            <a:pPr marL="0" lvl="0" indent="0" algn="l">
              <a:spcBef>
                <a:spcPts val="0"/>
              </a:spcBef>
              <a:spcAft>
                <a:spcPts val="0"/>
              </a:spcAft>
              <a:buNone/>
            </a:pPr>
            <a:r>
              <a:t>https://www.mdpi.com/1996-1073/19/13/3131</a:t>
            </a:r>
            <a:endParaRPr/>
          </a:p>
          <a:p xmlns:a="http://schemas.openxmlformats.org/drawingml/2006/main">
            <a:pPr marL="0" lvl="0" indent="0" algn="l">
              <a:spcBef>
                <a:spcPts val="0"/>
              </a:spcBef>
              <a:spcAft>
                <a:spcPts val="0"/>
              </a:spcAft>
              <a:buNone/>
            </a:pPr>
            <a:r>
              <a:t>Evidence: Publisher abstract describes V-I trajectory images plus active/reactive power, trajectory area and slope, fused with a lightweight dual-branch network. Evaluation uses PLAID. The original abstract reports 95.35% recognition accuracy and 0.17M parameters, but these external results are not displayed or attributed to WattSense. This is an AC waveform-based method: the current INA219 DC voltage/current telemetry does not provide synchronised AC V-I trajectories, reactive power or waveform images. The limitation is an explicit sensor/method applicability comparison, not a defect demonstrated by the paper.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Current project context: a battery-mounted and battery-powered monitor/adviser. AC appliance signatures support battery demand and runtime guidance. Battery and microgrid papers support sensing, charge estimation and integration. Their results are external evidence, not WattSense measurements.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papers inform the proposed project. Findings belong to the cited authors and are not WattSense results. Scope limits describe applicability to the proposed AC signature and DC battery subsystems.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Battery and microgrid studies provide subsystem context. Their particular chemistry, hardware, results and sampling cannot be transferred directly to the proposed household system.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[6] K. Movassagh, A. Raihan, B. Balasingam, and K. Pattipati, "A Critical Look at Coulomb Counting Approach for State of Charge Estimation in Batteries," Energies, vol. 14, no. 14, Art. 4074, 2021, doi: 10.3390/en14144074.</a:t>
            </a:r>
            <a:endParaRPr/>
          </a:p>
          <a:p xmlns:a="http://schemas.openxmlformats.org/drawingml/2006/main">
            <a:pPr marL="0" lvl="0" indent="0" algn="l">
              <a:spcBef>
                <a:spcPts val="0"/>
              </a:spcBef>
              <a:spcAft>
                <a:spcPts val="0"/>
              </a:spcAft>
              <a:buNone/>
            </a:pPr>
            <a:r>
              <a:t>https://doi.org/10.3390/en14144074</a:t>
            </a:r>
            <a:endParaRPr/>
          </a:p>
          <a:p xmlns:a="http://schemas.openxmlformats.org/drawingml/2006/main">
            <a:pPr marL="0" lvl="0" indent="0" algn="l">
              <a:spcBef>
                <a:spcPts val="0"/>
              </a:spcBef>
              <a:spcAft>
                <a:spcPts val="0"/>
              </a:spcAft>
              <a:buNone/>
            </a:pPr>
            <a:r>
              <a:t>Evidence: Separates current-measurement, integration, capacity and timing errors. Its results do not establish a WattSense SOC accuracy figure. Calibration/initialization is our design implication.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[7] C. Zhang, W. Allafi, Q. Dinh, P. Ascencio, and J. Marco, "Online estimation of battery equivalent circuit model parameters and state of charge using decoupled least squares technique," Energy, vol. 142, pp. 678–688, 2018, doi: 10.1016/j.energy.2017.10.043.</a:t>
            </a:r>
            <a:endParaRPr/>
          </a:p>
          <a:p xmlns:a="http://schemas.openxmlformats.org/drawingml/2006/main">
            <a:pPr marL="0" lvl="0" indent="0" algn="l">
              <a:spcBef>
                <a:spcPts val="0"/>
              </a:spcBef>
              <a:spcAft>
                <a:spcPts val="0"/>
              </a:spcAft>
              <a:buNone/>
            </a:pPr>
            <a:r>
              <a:t>https://doi.org/10.1016/j.energy.2017.10.043</a:t>
            </a:r>
            <a:endParaRPr/>
          </a:p>
          <a:p xmlns:a="http://schemas.openxmlformats.org/drawingml/2006/main">
            <a:pPr marL="0" lvl="0" indent="0" algn="l">
              <a:spcBef>
                <a:spcPts val="0"/>
              </a:spcBef>
              <a:spcAft>
                <a:spcPts val="0"/>
              </a:spcAft>
              <a:buNone/>
            </a:pPr>
            <a:r>
              <a:t>Evidence: Published in 2018 despite 2017 in DOI. Supports caution about fixed assumed plant parameters. WattSense has not implemented this estimator or measured its pack parameters.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[8] A. Gismero, E. Schaltz, and D.-I. Stroe, "Recursive State of Charge and State of Health Estimation Method for Lithium-Ion Batteries Based on Coulomb Counting and Open Circuit Voltage," Energies, vol. 13, no. 7, Art. 1811, 2020, doi: 10.3390/en13071811.</a:t>
            </a:r>
            <a:endParaRPr/>
          </a:p>
          <a:p xmlns:a="http://schemas.openxmlformats.org/drawingml/2006/main">
            <a:pPr marL="0" lvl="0" indent="0" algn="l">
              <a:spcBef>
                <a:spcPts val="0"/>
              </a:spcBef>
              <a:spcAft>
                <a:spcPts val="0"/>
              </a:spcAft>
              <a:buNone/>
            </a:pPr>
            <a:r>
              <a:t>https://doi.org/10.3390/en13071811</a:t>
            </a:r>
            <a:endParaRPr/>
          </a:p>
          <a:p xmlns:a="http://schemas.openxmlformats.org/drawingml/2006/main">
            <a:pPr marL="0" lvl="0" indent="0" algn="l">
              <a:spcBef>
                <a:spcPts val="0"/>
              </a:spcBef>
              <a:spcAft>
                <a:spcPts val="0"/>
              </a:spcAft>
              <a:buNone/>
            </a:pPr>
            <a:r>
              <a:t>Evidence: Tested aged cells with changing current/temperature. The paper explicitly identifies insufficient relaxation as a capacity-estimation issue. Our LFP pack cannot inherit its NMC OCV map or accuracy.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[9] K. Yang, Y. Tang, and Z. Zhang, "Parameter Identification and State-of-Charge Estimation for Lithium-Ion Batteries Using Separated Time Scales and Extended Kalman Filter," Energies, vol. 14, no. 4, Art. 1054, 2021, doi: 10.3390/en14041054.</a:t>
            </a:r>
            <a:endParaRPr/>
          </a:p>
          <a:p xmlns:a="http://schemas.openxmlformats.org/drawingml/2006/main">
            <a:pPr marL="0" lvl="0" indent="0" algn="l">
              <a:spcBef>
                <a:spcPts val="0"/>
              </a:spcBef>
              <a:spcAft>
                <a:spcPts val="0"/>
              </a:spcAft>
              <a:buNone/>
            </a:pPr>
            <a:r>
              <a:t>https://doi.org/10.3390/en14041054</a:t>
            </a:r>
            <a:endParaRPr/>
          </a:p>
          <a:p xmlns:a="http://schemas.openxmlformats.org/drawingml/2006/main">
            <a:pPr marL="0" lvl="0" indent="0" algn="l">
              <a:spcBef>
                <a:spcPts val="0"/>
              </a:spcBef>
              <a:spcAft>
                <a:spcPts val="0"/>
              </a:spcAft>
              <a:buNone/>
            </a:pPr>
            <a:r>
              <a:t>Evidence: The result is specific to its datasets and estimator. It informs future characterization; WattSense currently uses a simpler current-integration policy, not the published RLS/EKF method.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[10] B. Rzepka, S. Bischof, and T. Blank, "Implementing an Extended Kalman Filter for SoC Estimation of a Li-Ion Battery with Hysteresis: A Step-by-Step Guide," Energies, vol. 14, no. 13, Art. 3733, 2021, doi: 10.3390/en14133733.</a:t>
            </a:r>
            <a:endParaRPr/>
          </a:p>
          <a:p xmlns:a="http://schemas.openxmlformats.org/drawingml/2006/main">
            <a:pPr marL="0" lvl="0" indent="0" algn="l">
              <a:spcBef>
                <a:spcPts val="0"/>
              </a:spcBef>
              <a:spcAft>
                <a:spcPts val="0"/>
              </a:spcAft>
              <a:buNone/>
            </a:pPr>
            <a:r>
              <a:t>https://doi.org/10.3390/en14133733</a:t>
            </a:r>
            <a:endParaRPr/>
          </a:p>
          <a:p xmlns:a="http://schemas.openxmlformats.org/drawingml/2006/main">
            <a:pPr marL="0" lvl="0" indent="0" algn="l">
              <a:spcBef>
                <a:spcPts val="0"/>
              </a:spcBef>
              <a:spcAft>
                <a:spcPts val="0"/>
              </a:spcAft>
              <a:buNone/>
            </a:pPr>
            <a:r>
              <a:t>Evidence: Conclusions compare systematic and rough filter tuning. This is a future-estimator reference, not evidence that WattSense's INA219/current integration achieves the paper's accuracy.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Current project context: a battery-mounted and battery-powered monitor/adviser. AC appliance signatures support battery demand and runtime guidance. Battery and microgrid papers support sensing, charge estimation and integration. Their results are external evidence, not WattSense measurements.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papers inform the proposed project. Findings belong to the cited authors and are not WattSense results. Scope limits describe applicability to the proposed AC signature and DC battery subsystems.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Battery and microgrid studies provide subsystem context. Their particular chemistry, hardware, results and sampling cannot be transferred directly to the proposed household system.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[11] B. Zine, H. Bia, A. Benmouna, M. Becherif, and M. Iqbal, "Experimentally Validated Coulomb Counting Method for Battery State-of-Charge Estimation under Variable Current Profiles," Energies, vol. 15, no. 21, Art. 8172, 2022, doi: 10.3390/en15218172.</a:t>
            </a:r>
            <a:endParaRPr/>
          </a:p>
          <a:p xmlns:a="http://schemas.openxmlformats.org/drawingml/2006/main">
            <a:pPr marL="0" lvl="0" indent="0" algn="l">
              <a:spcBef>
                <a:spcPts val="0"/>
              </a:spcBef>
              <a:spcAft>
                <a:spcPts val="0"/>
              </a:spcAft>
              <a:buNone/>
            </a:pPr>
            <a:r>
              <a:t>https://doi.org/10.3390/en15218172</a:t>
            </a:r>
            <a:endParaRPr/>
          </a:p>
          <a:p xmlns:a="http://schemas.openxmlformats.org/drawingml/2006/main">
            <a:pPr marL="0" lvl="0" indent="0" algn="l">
              <a:spcBef>
                <a:spcPts val="0"/>
              </a:spcBef>
              <a:spcAft>
                <a:spcPts val="0"/>
              </a:spcAft>
              <a:buNone/>
            </a:pPr>
            <a:r>
              <a:t>Evidence: The broad Li-ion discussion in the abstract must not be mistaken for our 4S LFP validation. Initial SOC and suitable measurements are needed; this study is a practical procedure reference.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[12] Hend M. Fahmy, Rania A. Swief, Hany M. Hasanien, Mohammed Alharbi, José Luis Maldonado, and Francisco Jurado, "Hybrid State of Charge Estimation of Lithium-Ion Battery Using the Coulomb Counting Method and an Adaptive Unscented Kalman Filter", Energies, vol. 16, no. 14, Art. 5558, 2023, doi: 10.3390/en16145558.</a:t>
            </a:r>
            <a:endParaRPr/>
          </a:p>
          <a:p xmlns:a="http://schemas.openxmlformats.org/drawingml/2006/main">
            <a:pPr marL="0" lvl="0" indent="0" algn="l">
              <a:spcBef>
                <a:spcPts val="0"/>
              </a:spcBef>
              <a:spcAft>
                <a:spcPts val="0"/>
              </a:spcAft>
              <a:buNone/>
            </a:pPr>
            <a:r>
              <a:t>https://doi.org/10.3390/en16145558</a:t>
            </a:r>
            <a:endParaRPr/>
          </a:p>
          <a:p xmlns:a="http://schemas.openxmlformats.org/drawingml/2006/main">
            <a:pPr marL="0" lvl="0" indent="0" algn="l">
              <a:spcBef>
                <a:spcPts val="0"/>
              </a:spcBef>
              <a:spcAft>
                <a:spcPts val="0"/>
              </a:spcAft>
              <a:buNone/>
            </a:pPr>
            <a:r>
              <a:t>Evidence: The abstract explicitly labels numerical simulations and describes parameter fitting with African Vultures Optimization. The table includes only the estimator core. Do not present this as a physical WattSense comparison.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[13] M. Wang, G. Wang, Z. Xiao, Y. Sun, and Y. Zheng, "State of Charge Estimation of LiFePO4 in Various Temperature Scenarios," Batteries, vol. 9, no. 1, Art. 43, 2023, doi: 10.3390/batteries9010043.</a:t>
            </a:r>
            <a:endParaRPr/>
          </a:p>
          <a:p xmlns:a="http://schemas.openxmlformats.org/drawingml/2006/main">
            <a:pPr marL="0" lvl="0" indent="0" algn="l">
              <a:spcBef>
                <a:spcPts val="0"/>
              </a:spcBef>
              <a:spcAft>
                <a:spcPts val="0"/>
              </a:spcAft>
              <a:buNone/>
            </a:pPr>
            <a:r>
              <a:t>https://doi.org/10.3390/batteries9010043</a:t>
            </a:r>
            <a:endParaRPr/>
          </a:p>
          <a:p xmlns:a="http://schemas.openxmlformats.org/drawingml/2006/main">
            <a:pPr marL="0" lvl="0" indent="0" algn="l">
              <a:spcBef>
                <a:spcPts val="0"/>
              </a:spcBef>
              <a:spcAft>
                <a:spcPts val="0"/>
              </a:spcAft>
              <a:buNone/>
            </a:pPr>
            <a:r>
              <a:t>Evidence: Direct chemistry relevance. Temperature-dependent capacity and the flat OCV region motivate measuring the actual pack instead of relying on the assumed teaching curve. WattSense's fixed-temperature simulation does not reproduce these tests.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[14] H. Turkmanović, I. Popović, and V. Rajović, "Toward Energy Efficient Battery State of Charge Estimation on Embedded Platforms," Electronics, vol. 13, no. 21, Art. 4256, 2024, doi: 10.3390/electronics13214256.</a:t>
            </a:r>
            <a:endParaRPr/>
          </a:p>
          <a:p xmlns:a="http://schemas.openxmlformats.org/drawingml/2006/main">
            <a:pPr marL="0" lvl="0" indent="0" algn="l">
              <a:spcBef>
                <a:spcPts val="0"/>
              </a:spcBef>
              <a:spcAft>
                <a:spcPts val="0"/>
              </a:spcAft>
              <a:buNone/>
            </a:pPr>
            <a:r>
              <a:t>https://doi.org/10.3390/electronics13214256</a:t>
            </a:r>
            <a:endParaRPr/>
          </a:p>
          <a:p xmlns:a="http://schemas.openxmlformats.org/drawingml/2006/main">
            <a:pPr marL="0" lvl="0" indent="0" algn="l">
              <a:spcBef>
                <a:spcPts val="0"/>
              </a:spcBef>
              <a:spcAft>
                <a:spcPts val="0"/>
              </a:spcAft>
              <a:buNone/>
            </a:pPr>
            <a:r>
              <a:t>Evidence: Contrasts Rint and second-order RC EKFs and connects estimator rate to energy cost. Its reported savings cannot be copied to the ESP32; our 0.8 W controller load remains an assumption awaiting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[15] S. Bampi, G. Waltrich, and A. Vaccari, "Electronic Load for Parameter Characterization in Equivalent Circuit Models of Lithium-Ion Batteries," Eletrônica de Potência, vol. 30, Art. e202521, 2025, doi: 10.18618/REP.e202521.</a:t>
            </a:r>
            <a:endParaRPr/>
          </a:p>
          <a:p xmlns:a="http://schemas.openxmlformats.org/drawingml/2006/main">
            <a:pPr marL="0" lvl="0" indent="0" algn="l">
              <a:spcBef>
                <a:spcPts val="0"/>
              </a:spcBef>
              <a:spcAft>
                <a:spcPts val="0"/>
              </a:spcAft>
              <a:buNone/>
            </a:pPr>
            <a:r>
              <a:t>https://doi.org/10.18618/REP.e202521</a:t>
            </a:r>
            <a:endParaRPr/>
          </a:p>
          <a:p xmlns:a="http://schemas.openxmlformats.org/drawingml/2006/main">
            <a:pPr marL="0" lvl="0" indent="0" algn="l">
              <a:spcBef>
                <a:spcPts val="0"/>
              </a:spcBef>
              <a:spcAft>
                <a:spcPts val="0"/>
              </a:spcAft>
              <a:buNone/>
            </a:pPr>
            <a:r>
              <a:t>Evidence: Publisher full-text reports an ESP32 electronic-load instrument, lithium-titanate cell characterisation and EKF SOC estimation. Useful evidence for a laboratory procedure and embedded integration. Its battery chemistry, electronic-load instrument and estimator differ from the current protected-LFP/INA219 WattSense design; none of its accuracy transfers to our project.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Current project context: a battery-mounted and battery-powered monitor/adviser. AC appliance signatures support battery demand and runtime guidance. Battery and microgrid papers support sensing, charge estimation and integration. Their results are external evidence, not WattSense measurements.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papers inform the proposed project. Findings belong to the cited authors and are not WattSense results. Scope limits describe applicability to the proposed AC signature and DC battery subsystems.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Battery and microgrid studies provide subsystem context. Their particular chemistry, hardware, results and sampling cannot be transferred directly to the proposed household system.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[16] A. Marahatta, Y. Rajbhandari, A. Shrestha, A. Singh, A. Gachhadar, and A. Thapa, 'Priority-based low voltage DC microgrid system for rural electrification,' Energy Reports, vol. 7, pp. 43-51, 2021, doi: 10.1016/j.egyr.2020.11.030.</a:t>
            </a:r>
            <a:endParaRPr/>
          </a:p>
          <a:p xmlns:a="http://schemas.openxmlformats.org/drawingml/2006/main">
            <a:pPr marL="0" lvl="0" indent="0" algn="l">
              <a:spcBef>
                <a:spcPts val="0"/>
              </a:spcBef>
              <a:spcAft>
                <a:spcPts val="0"/>
              </a:spcAft>
              <a:buNone/>
            </a:pPr>
            <a:r>
              <a:t>https://www.sciencedirect.com/science/article/pii/S2352484720314554</a:t>
            </a:r>
            <a:endParaRPr/>
          </a:p>
          <a:p xmlns:a="http://schemas.openxmlformats.org/drawingml/2006/main">
            <a:pPr marL="0" lvl="0" indent="0" algn="l">
              <a:spcBef>
                <a:spcPts val="0"/>
              </a:spcBef>
              <a:spcAft>
                <a:spcPts val="0"/>
              </a:spcAft>
              <a:buNone/>
            </a:pPr>
            <a:r>
              <a:t>Evidence: Publisher explicitly describes experimental analysis and a low-cost SCADA implementation. Saved evidence identifies three load priorities and battery thresholds. This is close prior art, so priority shedding itself is not a new WattSense algorithm. The row states a qualitative study finding and transfers no performance percentage.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[17] Y. Rajbhandari, A. Marahatta, A. Shrestha, A. Gachhadar, A. Thapa, F. Gonzalez-Longatt, and P. Korba, 'Enhanced demand side management for solar-based isolated microgrid system: Load prioritisation and energy optimisation,' IET Smart Grid, vol. 7, no. 3, pp. 294-313, 2024, doi: 10.1049/stg2.12151.</a:t>
            </a:r>
            <a:endParaRPr/>
          </a:p>
          <a:p xmlns:a="http://schemas.openxmlformats.org/drawingml/2006/main">
            <a:pPr marL="0" lvl="0" indent="0" algn="l">
              <a:spcBef>
                <a:spcPts val="0"/>
              </a:spcBef>
              <a:spcAft>
                <a:spcPts val="0"/>
              </a:spcAft>
              <a:buNone/>
            </a:pPr>
            <a:r>
              <a:t>https://ietresearch.onlinelibrary.wiley.com/doi/10.1049/stg2.12151</a:t>
            </a:r>
            <a:endParaRPr/>
          </a:p>
          <a:p xmlns:a="http://schemas.openxmlformats.org/drawingml/2006/main">
            <a:pPr marL="0" lvl="0" indent="0" algn="l">
              <a:spcBef>
                <a:spcPts val="0"/>
              </a:spcBef>
              <a:spcAft>
                <a:spcPts val="0"/>
              </a:spcAft>
              <a:buNone/>
            </a:pPr>
            <a:r>
              <a:t>Evidence: Primary discussion identifies stochastic load/generation simulations, three priority levels and PSO-optimised SOC shedding points using forecasts. Cite issue year 2024 rather than online-first 2023. WattSense has not implemented or evaluated this forecasting/PSO method; the row is external context and transfers no result.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[18] L. Guo and J. Kors, Jr., 'Design of a Laboratory Scale Solar Microgrid Cyber-Physical System for Education,' Electronics, vol. 10, no. 13, Art. 1562, 2021, doi: 10.3390/electronics10131562.</a:t>
            </a:r>
            <a:endParaRPr/>
          </a:p>
          <a:p xmlns:a="http://schemas.openxmlformats.org/drawingml/2006/main">
            <a:pPr marL="0" lvl="0" indent="0" algn="l">
              <a:spcBef>
                <a:spcPts val="0"/>
              </a:spcBef>
              <a:spcAft>
                <a:spcPts val="0"/>
              </a:spcAft>
              <a:buNone/>
            </a:pPr>
            <a:r>
              <a:t>https://www.mdpi.com/2079-9292/10/13/1562</a:t>
            </a:r>
            <a:endParaRPr/>
          </a:p>
          <a:p xmlns:a="http://schemas.openxmlformats.org/drawingml/2006/main">
            <a:pPr marL="0" lvl="0" indent="0" algn="l">
              <a:spcBef>
                <a:spcPts val="0"/>
              </a:spcBef>
              <a:spcAft>
                <a:spcPts val="0"/>
              </a:spcAft>
              <a:buNone/>
            </a:pPr>
            <a:r>
              <a:t>Evidence: Primary paper reports a solar panel, purchased MPPT controller, rechargeable battery, relay-controlled loads and student assessment. Hardware data were sampled every ten minutes in its reported outdoor run. Its focus is educational system integration; it does not establish the proposed WattSense signature estimator or any WattSense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[19] E. Yusubov and L. Bekirova, 'A standalone DC microgrid energy management strategy using the battery state of charge,' Informatyka, Automatyka, Pomiary w Gospodarce i Ochronie Środowiska, vol. 13, no. 3, pp. 75-78, 2023, doi: 10.35784/iapgos.5320.</a:t>
            </a:r>
            <a:endParaRPr/>
          </a:p>
          <a:p xmlns:a="http://schemas.openxmlformats.org/drawingml/2006/main">
            <a:pPr marL="0" lvl="0" indent="0" algn="l">
              <a:spcBef>
                <a:spcPts val="0"/>
              </a:spcBef>
              <a:spcAft>
                <a:spcPts val="0"/>
              </a:spcAft>
              <a:buNone/>
            </a:pPr>
            <a:r>
              <a:t>https://ph.pollub.pl/index.php/iapgos/en/article/view/5320</a:t>
            </a:r>
            <a:endParaRPr/>
          </a:p>
          <a:p xmlns:a="http://schemas.openxmlformats.org/drawingml/2006/main">
            <a:pPr marL="0" lvl="0" indent="0" algn="l">
              <a:spcBef>
                <a:spcPts val="0"/>
              </a:spcBef>
              <a:spcAft>
                <a:spcPts val="0"/>
              </a:spcAft>
              <a:buNone/>
            </a:pPr>
            <a:r>
              <a:t>Evidence: The publisher abstract explicitly combines available-source power, demand and SOC with load-shedding capability and evaluates an algorithm by simulation. Although authors claim battery-life benefits, the row deliberately uses SOC-limit coordination and does not present lifetime extension as measured cycling data.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[20] J. A. Basantes, D. E. Paredes, J. R. Llanos, D. E. Ortiz, and C. D. Burgos, 'Energy Management System (EMS) Based on Model Predictive Control (MPC) for an Isolated DC Microgrid,' Energies, vol. 16, no. 6, Art. 2912, 2023, doi: 10.3390/en16062912.</a:t>
            </a:r>
            <a:endParaRPr/>
          </a:p>
          <a:p xmlns:a="http://schemas.openxmlformats.org/drawingml/2006/main">
            <a:pPr marL="0" lvl="0" indent="0" algn="l">
              <a:spcBef>
                <a:spcPts val="0"/>
              </a:spcBef>
              <a:spcAft>
                <a:spcPts val="0"/>
              </a:spcAft>
              <a:buNone/>
            </a:pPr>
            <a:r>
              <a:t>https://www.mdpi.com/1996-1073/16/6/2912</a:t>
            </a:r>
            <a:endParaRPr/>
          </a:p>
          <a:p xmlns:a="http://schemas.openxmlformats.org/drawingml/2006/main">
            <a:pPr marL="0" lvl="0" indent="0" algn="l">
              <a:spcBef>
                <a:spcPts val="0"/>
              </a:spcBef>
              <a:spcAft>
                <a:spcPts val="0"/>
              </a:spcAft>
              <a:buNone/>
            </a:pPr>
            <a:r>
              <a:t>Evidence: Metadata/byline was confirmed from the primary published PDF hosted in a research repository. The study compares with/without EMS under radiation and demand disturbances. Its conclusions explicitly defer battery-degradation modeling and diesel-start constraints to future work. Real-time feedback here is within the simulated coupled control system; do not call it real hardware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Current project context: a battery-mounted and battery-powered monitor/adviser. AC appliance signatures support battery demand and runtime guidance. Battery and microgrid papers support sensing, charge estimation and integration. Their results are external evidence, not WattSense measurements.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contribution is battery energy/runtime estimation connected to selected load signatures and actionable, testable guidance. Aggregate battery current does not uniquely identify arbitrary household appliances, especially through an inverter. Begin with known loads/states and controlled recordings, compare trained candidates and reject unknown/ambiguous profiles. Supporting load-side DC sensors or an enclosed isolated AC real-power meter can help separate load demand from net charging current. Charge availability must not be assumed to persist. No universal zero-configuration recognition, physical savings or classifier accuracy has been achieved.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sih 2026 shubham.pptx</a:t>
            </a:r>
            <a:endParaRPr/>
          </a:p>
          <a:p xmlns:a="http://schemas.openxmlformats.org/drawingml/2006/main">
            <a:pPr marL="0" lvl="0" indent="0" algn="l">
              <a:spcBef>
                <a:spcPts val="0"/>
              </a:spcBef>
              <a:spcAft>
                <a:spcPts val="0"/>
              </a:spcAft>
              <a:buNone/>
            </a:pPr>
            <a:r>
              <a:t>.analysis/review3-signature/literature.json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Use coulomb counting with a valid initial charge reference, independent usable-capacity calibration and chemistry-specific conditions. Voltage alone is not reliable LiFePO4 SOC. Random Forest is a candidate for known-load classification in local Python, compared with a Decision Tree and profile matching. Battery-side signatures must be collected on the actual converter/inverter arrangement; published mains waveforms are not equivalent. Train/tune/test on separate whole sessions. User priorities and estimated load savings drive the recommendation; an uncertain identity must remain UNKNOWN. Present before/after runtime under identical assumptions. Manual advice is the core: no automatic mains relay is claimed.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sih 2026 shubham.pptx</a:t>
            </a:r>
            <a:endParaRPr/>
          </a:p>
          <a:p xmlns:a="http://schemas.openxmlformats.org/drawingml/2006/main">
            <a:pPr marL="0" lvl="0" indent="0" algn="l">
              <a:spcBef>
                <a:spcPts val="0"/>
              </a:spcBef>
              <a:spcAft>
                <a:spcPts val="0"/>
              </a:spcAft>
              <a:buNone/>
            </a:pPr>
            <a:r>
              <a:t>https://scikit-learn.org/stable/modules/generated/sklearn.ensemble.RandomForestClassifier.html</a:t>
            </a:r>
            <a:endParaRPr/>
          </a:p>
          <a:p xmlns:a="http://schemas.openxmlformats.org/drawingml/2006/main">
            <a:pPr marL="0" lvl="0" indent="0" algn="l">
              <a:spcBef>
                <a:spcPts val="0"/>
              </a:spcBef>
              <a:spcAft>
                <a:spcPts val="0"/>
              </a:spcAft>
              <a:buNone/>
            </a:pPr>
            <a:r>
              <a:t>https://scikit-learn.org/stable/modules/generated/sklearn.model_selection.GroupKFold.html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Functional architecture, not mains wiring. POWER: Solar panel -&gt; compatible solar charge controller OR AC mains -&gt; matched isolated AC-to-DC battery charger -&gt; protected DC system bus. Choose one charging path initially; independent chargers may operate together only after documented coordination/backfeed compatibility. Protected battery with commercial BMS &lt;-&gt; appropriately rated bidirectional whole-battery current sensor &lt;-&gt; bus. All battery charging/discharging crosses this sensor; the battery voltage is measured across the appropriate terminals and temperature at the pack, not in series. Bus -&gt; DC/DC converter -&gt; DC loads; bus -&gt; inverter -&gt; AC loads; bus -&gt; qualified regulated supply -&gt; WattSense ESP32. The device sits near the battery and is battery-powered; current coverage includes its own draw. USB data must not backfeed the regulated supply. The power and processing views show the same WattSense device.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SIGNALS: whole-battery V/signed I/temperature, charger or load branch measurements and, where needed, supporting enclosed isolated AC real-power metering feed the ESP32/local model. AC real W/Wh is different from apparent VA; slow metering does not capture raw harmonics/waveforms. A battery terminal sensor alone cannot establish arbitrary per-appliance identities. Calibrated energy/SOC and trained known-load profiles feed remaining Wh/runtime and explainable user recommendations. The user chooses priorities and turns off suggested optional loads manually. No mains switching hardware is claimed.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Existing Rev B INA219 board remains an unbuilt low-power DC foundation with 2 A battery-path and 1.5 A continuous 5 V ceilings. It cannot connect to mains or carry household inverter battery current. Use a separately rated current path/sensor covering the complete battery circuit, not an inverter bypass invisible to the sensor. Battery voltage/chemistry, BMS, charger, controller and inverter compatibility remain to be qualified; never assume a LiFePO4 pack works with a lead-acid UPS charger. Mount monitoring electronics in a suitable enclosure without modifying/sealing battery ventilation or pack protections. This full hardware arrangement and advisory model are proposed, not assembled.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sih 2026 shubham.pptx</a:t>
            </a:r>
            <a:endParaRPr/>
          </a:p>
          <a:p xmlns:a="http://schemas.openxmlformats.org/drawingml/2006/main">
            <a:pPr marL="0" lvl="0" indent="0" algn="l">
              <a:spcBef>
                <a:spcPts val="0"/>
              </a:spcBef>
              <a:spcAft>
                <a:spcPts val="0"/>
              </a:spcAft>
              <a:buNone/>
            </a:pPr>
            <a:r>
              <a:t>User clarification, 3 October 2026</a:t>
            </a:r>
            <a:endParaRPr/>
          </a:p>
          <a:p xmlns:a="http://schemas.openxmlformats.org/drawingml/2006/main">
            <a:pPr marL="0" lvl="0" indent="0" algn="l">
              <a:spcBef>
                <a:spcPts val="0"/>
              </a:spcBef>
              <a:spcAft>
                <a:spcPts val="0"/>
              </a:spcAft>
              <a:buNone/>
            </a:pPr>
            <a:r>
              <a:t>hardware/PCB_REQUIREMENTS.md</a:t>
            </a:r>
            <a:endParaRPr/>
          </a:p>
          <a:p xmlns:a="http://schemas.openxmlformats.org/drawingml/2006/main">
            <a:pPr marL="0" lvl="0" indent="0" algn="l">
              <a:spcBef>
                <a:spcPts val="0"/>
              </a:spcBef>
              <a:spcAft>
                <a:spcPts val="0"/>
              </a:spcAft>
              <a:buNone/>
            </a:pPr>
            <a:r>
              <a:t>hardware/REFERENCE_WIRING.md</a:t>
            </a:r>
            <a:endParaRPr/>
          </a:p>
          <a:p xmlns:a="http://schemas.openxmlformats.org/drawingml/2006/main">
            <a:pPr marL="0" lvl="0" indent="0" algn="l">
              <a:spcBef>
                <a:spcPts val="0"/>
              </a:spcBef>
              <a:spcAft>
                <a:spcPts val="0"/>
              </a:spcAft>
              <a:buNone/>
            </a:pPr>
            <a:r>
              <a:t>https://www.ti.com/product/INA219</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Collect measured battery-side profiles with the selected inverter/converters and battery-powered monitor, initially one connected load/state per run. Supporting isolated AC and DC branch meters establish labels, actual power and savings. Record signed battery current, voltage, temperature, timestamps, charging source power and gross load demand where available. Net battery current during charging alone is not gross load demand. Train Random Forest versus Decision Tree and matching baseline on separate complete recording sessions. Save user priorities and desired runtime separately from physical measurements. Calibrate capacity and initial SOC before controlled discharge experiments. No physical dataset or trained model exists. Nominal 10 Hz acquisition and about 1 Hz telemetry apply only to existing DC firmware; no raw AC rate is specified.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sih 2026 shubham.pptx</a:t>
            </a:r>
            <a:endParaRPr/>
          </a:p>
          <a:p xmlns:a="http://schemas.openxmlformats.org/drawingml/2006/main">
            <a:pPr marL="0" lvl="0" indent="0" algn="l">
              <a:spcBef>
                <a:spcPts val="0"/>
              </a:spcBef>
              <a:spcAft>
                <a:spcPts val="0"/>
              </a:spcAft>
              <a:buNone/>
            </a:pPr>
            <a:r>
              <a:t>firmware/src/main.cpp</a:t>
            </a:r>
            <a:endParaRPr/>
          </a:p>
          <a:p xmlns:a="http://schemas.openxmlformats.org/drawingml/2006/main">
            <a:pPr marL="0" lvl="0" indent="0" algn="l">
              <a:spcBef>
                <a:spcPts val="0"/>
              </a:spcBef>
              <a:spcAft>
                <a:spcPts val="0"/>
              </a:spcAft>
              <a:buNone/>
            </a:pPr>
            <a:r>
              <a:t>https://scikit-learn.org/stable/modules/generated/sklearn.model_selection.GroupKFold.html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Existing test counts are historical DC software/CAD foundation evidence, not measured performance of the complete device. Usable Wh needs valid SOC/reference, independently established capacity and the stated normal reserve/cutoff. Runtime approximately usable battery Wh / mean battery-side demand under stated future usage. Measured battery-side load demand includes inverter/controller loss and WattSense self-consumption; do not add those losses again. Default backup assumes no future charging, using gross demand or a battery-only test. Net discharge while solar is active gives only a conditional estimate if charging persists; charging balance must not be presented as infinite guaranteed backup. Recommendation uses optional-load priorities and measured/estimated demand saving, then recomputes before/after runtime with the same reserve and conditions. Ambiguous identity suppresses appliance-specific advice. Measure the benefit rather than promise a saving percentage. Physical integrated performance, trained signatures and recommendation validation remain pending.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docs/RECHECK_2026-09-30.md</a:t>
            </a:r>
            <a:endParaRPr/>
          </a:p>
          <a:p xmlns:a="http://schemas.openxmlformats.org/drawingml/2006/main">
            <a:pPr marL="0" lvl="0" indent="0" algn="l">
              <a:spcBef>
                <a:spcPts val="0"/>
              </a:spcBef>
              <a:spcAft>
                <a:spcPts val="0"/>
              </a:spcAft>
              <a:buNone/>
            </a:pPr>
            <a:r>
              <a:t>docs/TEST_PLAN.md</a:t>
            </a:r>
            <a:endParaRPr/>
          </a:p>
          <a:p xmlns:a="http://schemas.openxmlformats.org/drawingml/2006/main">
            <a:pPr marL="0" lvl="0" indent="0" algn="l">
              <a:spcBef>
                <a:spcPts val="0"/>
              </a:spcBef>
              <a:spcAft>
                <a:spcPts val="0"/>
              </a:spcAft>
              <a:buNone/>
            </a:pPr>
            <a:r>
              <a:t>sih 2026 shubham.pptx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clarified core is the battery-mounted, battery-powered monitor/adviser. Qualify complete current sensing and its regulated supply first. Use purchased protected battery equipment and compatible solar controller or AC/DC charger, with no custom BMS. Borrow a compatible battery/inverter system and rated load/reference meters where possible. Current Rev B 2 A path cannot carry household inverter current. Budget below INR 10,000 remains a cap; the old INR 9,700 DC allocation excludes AC integration and does not establish a complete affordable build. Parts, delivery, measured dataset and hardware performance remain pending. Use one charging mode initially, test DC and inverter-fed AC loads under supervised controlled conditions, and leave automatic mains switching/cloud as later optional work. Dates are proposed milestones; final submission follows the department schedule.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sih 2026 shubham.pptx</a:t>
            </a:r>
            <a:endParaRPr/>
          </a:p>
          <a:p xmlns:a="http://schemas.openxmlformats.org/drawingml/2006/main">
            <a:pPr marL="0" lvl="0" indent="0" algn="l">
              <a:spcBef>
                <a:spcPts val="0"/>
              </a:spcBef>
              <a:spcAft>
                <a:spcPts val="0"/>
              </a:spcAft>
              <a:buNone/>
            </a:pPr>
            <a:r>
              <a:t>User clarification, 3 October 2026</a:t>
            </a:r>
            <a:endParaRPr/>
          </a:p>
          <a:p xmlns:a="http://schemas.openxmlformats.org/drawingml/2006/main">
            <a:pPr marL="0" lvl="0" indent="0" algn="l">
              <a:spcBef>
                <a:spcPts val="0"/>
              </a:spcBef>
              <a:spcAft>
                <a:spcPts val="0"/>
              </a:spcAft>
              <a:buNone/>
            </a:pPr>
            <a:r>
              <a:t>hardware/PCB_REQUIREMENTS.md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[1] Christos Athanasiadis, Dimitrios Doukas, Theofilos Papadopoulos, Antonios Chrysopoulos, "A Scalable Real-Time Non-Intrusive Load Monitoring System for the Estimation of Household Appliance Power Consumption", Energies, vol. 14, no. 3, Art. 767, 2021, doi: 10.3390/en14030767.</a:t>
            </a:r>
            <a:endParaRPr/>
          </a:p>
          <a:p xmlns:a="http://schemas.openxmlformats.org/drawingml/2006/main">
            <a:pPr marL="0" lvl="0" indent="0" algn="l">
              <a:spcBef>
                <a:spcPts val="0"/>
              </a:spcBef>
              <a:spcAft>
                <a:spcPts val="0"/>
              </a:spcAft>
              <a:buNone/>
            </a:pPr>
            <a:r>
              <a:t>https://www.mdpi.com/1996-1073/14/3/767</a:t>
            </a:r>
            <a:endParaRPr/>
          </a:p>
          <a:p xmlns:a="http://schemas.openxmlformats.org/drawingml/2006/main">
            <a:pPr marL="0" lvl="0" indent="0" algn="l">
              <a:spcBef>
                <a:spcPts val="0"/>
              </a:spcBef>
              <a:spcAft>
                <a:spcPts val="0"/>
              </a:spcAft>
              <a:buNone/>
            </a:pPr>
            <a:r>
              <a:t>Evidence: Primary publisher abstract states three blocks: event detection, CNN classifier and power estimator using active-power turn-on transients. It reports computational/memory efficiency qualitatively. Cached full-page excerpt ends within the introduction, so dataset names, exact sampling rates and numerical performance are not asserted. The limitation cell is an applicability inference: this method needs suitable transient measurements and an already trained target-appliance classifier. It does not validate WattSense, universal detection or zero-configuration deployment.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 Rachel Stephen Mollel, Lina Stankovic, Vladimir Stankovic, "Explainability-Informed Feature Selection and Performance Prediction for Nonintrusive Load Monitoring", Sensors, vol. 23, no. 10, Art. 4845, 2023, doi: 10.3390/s23104845.</a:t>
            </a:r>
            <a:endParaRPr/>
          </a:p>
          <a:p xmlns:a="http://schemas.openxmlformats.org/drawingml/2006/main">
            <a:pPr marL="0" lvl="0" indent="0" algn="l">
              <a:spcBef>
                <a:spcPts val="0"/>
              </a:spcBef>
              <a:spcAft>
                <a:spcPts val="0"/>
              </a:spcAft>
              <a:buNone/>
            </a:pPr>
            <a:r>
              <a:t>https://www.mdpi.com/1424-8220/23/10/4845</a:t>
            </a:r>
            <a:endParaRPr/>
          </a:p>
          <a:p xmlns:a="http://schemas.openxmlformats.org/drawingml/2006/main">
            <a:pPr marL="0" lvl="0" indent="0" algn="l">
              <a:spcBef>
                <a:spcPts val="0"/>
              </a:spcBef>
              <a:spcAft>
                <a:spcPts val="0"/>
              </a:spcAft>
              <a:buNone/>
            </a:pPr>
            <a:r>
              <a:t>Evidence: Publisher abstract describes interpretable decision-tree classification, local/global feature importance, REFIT training and unseen same-house/UK-DALE-house evaluation. It reports class-specific improvements, but the displayed row deliberately transfers no percentage to WattSense. Cross-house transfer testing is a design implication drawn from the study setting; the current DC INA219 system cannot inherit its household-data performance.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[3] Herman Cristiano Jaime, Adler Diniz de Souza, Raphael Carlos Santos Machado, Otávio de Souza Martins Gomes, "Machine Learning Models for Non-Intrusive Load Monitoring: A Systematic Review and Meta-Analysis", Inventions, vol. 11, no. 2, Art. 29, 2026, doi: 10.3390/inventions11020029.</a:t>
            </a:r>
            <a:endParaRPr/>
          </a:p>
          <a:p xmlns:a="http://schemas.openxmlformats.org/drawingml/2006/main">
            <a:pPr marL="0" lvl="0" indent="0" algn="l">
              <a:spcBef>
                <a:spcPts val="0"/>
              </a:spcBef>
              <a:spcAft>
                <a:spcPts val="0"/>
              </a:spcAft>
              <a:buNone/>
            </a:pPr>
            <a:r>
              <a:t>https://www.mdpi.com/2411-5134/11/2/29</a:t>
            </a:r>
            <a:endParaRPr/>
          </a:p>
          <a:p xmlns:a="http://schemas.openxmlformats.org/drawingml/2006/main">
            <a:pPr marL="0" lvl="0" indent="0" algn="l">
              <a:spcBef>
                <a:spcPts val="0"/>
              </a:spcBef>
              <a:spcAft>
                <a:spcPts val="0"/>
              </a:spcAft>
              <a:buNone/>
            </a:pPr>
            <a:r>
              <a:t>Evidence: This is a systematic review and meta-analysis, not a new hardware trial. The publisher abstract states 30 eligible studies, random-effects pooling of F1 scores and substantial heterogeneity. Hybrid models had high pooled scores with limited study support; traditional models had broader validation. No pooled score is used as a WattSense result. Issue citation year is 2026; covered primary-study period is 2017-2024.</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[4] Haotian Xiang, Wenjing Su, Yi Zong, "Non-Intrusive Load Monitoring: A Systematic Review of Methods, Scenario-Specific Challenges, and Pathways to Practical Deployment", Energies, vol. 19, no. 8, Art. 1883, 2026, doi: 10.3390/en19081883.</a:t>
            </a:r>
            <a:endParaRPr/>
          </a:p>
          <a:p xmlns:a="http://schemas.openxmlformats.org/drawingml/2006/main">
            <a:pPr marL="0" lvl="0" indent="0" algn="l">
              <a:spcBef>
                <a:spcPts val="0"/>
              </a:spcBef>
              <a:spcAft>
                <a:spcPts val="0"/>
              </a:spcAft>
              <a:buNone/>
            </a:pPr>
            <a:r>
              <a:t>https://www.mdpi.com/1996-1073/19/8/1883</a:t>
            </a:r>
            <a:endParaRPr/>
          </a:p>
          <a:p xmlns:a="http://schemas.openxmlformats.org/drawingml/2006/main">
            <a:pPr marL="0" lvl="0" indent="0" algn="l">
              <a:spcBef>
                <a:spcPts val="0"/>
              </a:spcBef>
              <a:spcAft>
                <a:spcPts val="0"/>
              </a:spcAft>
              <a:buNone/>
            </a:pPr>
            <a:r>
              <a:t>Evidence: This is a systematic review/framework, not new hardware validation. Its abstract explicitly identifies real-time/accuracy trade-offs, privacy, unknown loads, behaviour modelling, data quality, transferability, integration and cost. The row is a qualitative synthesis and does not assert a dataset, new classifier or measured accuracy for this review. Relevant to scoping a small known-load prototype with an unknown/ambiguous output.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[5] Yiran Li, Yan Li, Peng Han, "A Non-Intrusive Load Identification Method Based on the Fusion of Steady-State Features and Lightweight Network", Energies, vol. 19, no. 13, Art. 3131, 2026, doi: 10.3390/en19133131.</a:t>
            </a:r>
            <a:endParaRPr/>
          </a:p>
          <a:p xmlns:a="http://schemas.openxmlformats.org/drawingml/2006/main">
            <a:pPr marL="0" lvl="0" indent="0" algn="l">
              <a:spcBef>
                <a:spcPts val="0"/>
              </a:spcBef>
              <a:spcAft>
                <a:spcPts val="0"/>
              </a:spcAft>
              <a:buNone/>
            </a:pPr>
            <a:r>
              <a:t>https://www.mdpi.com/1996-1073/19/13/3131</a:t>
            </a:r>
            <a:endParaRPr/>
          </a:p>
          <a:p xmlns:a="http://schemas.openxmlformats.org/drawingml/2006/main">
            <a:pPr marL="0" lvl="0" indent="0" algn="l">
              <a:spcBef>
                <a:spcPts val="0"/>
              </a:spcBef>
              <a:spcAft>
                <a:spcPts val="0"/>
              </a:spcAft>
              <a:buNone/>
            </a:pPr>
            <a:r>
              <a:t>Evidence: Publisher abstract describes V-I trajectory images plus active/reactive power, trajectory area and slope, fused with a lightweight dual-branch network. Evaluation uses PLAID. The original abstract reports 95.35% recognition accuracy and 0.17M parameters, but these external results are not displayed or attributed to WattSense. This is an AC waveform-based method: the current INA219 DC voltage/current telemetry does not provide synchronised AC V-I trajectories, reactive power or waveform images. The limitation is an explicit sensor/method applicability comparison, not a defect demonstrated by the paper.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[6] K. Movassagh, A. Raihan, B. Balasingam, and K. Pattipati, "A Critical Look at Coulomb Counting Approach for State of Charge Estimation in Batteries," Energies, vol. 14, no. 14, Art. 4074, 2021, doi: 10.3390/en14144074.</a:t>
            </a:r>
            <a:endParaRPr/>
          </a:p>
          <a:p xmlns:a="http://schemas.openxmlformats.org/drawingml/2006/main">
            <a:pPr marL="0" lvl="0" indent="0" algn="l">
              <a:spcBef>
                <a:spcPts val="0"/>
              </a:spcBef>
              <a:spcAft>
                <a:spcPts val="0"/>
              </a:spcAft>
              <a:buNone/>
            </a:pPr>
            <a:r>
              <a:t>https://doi.org/10.3390/en14144074</a:t>
            </a:r>
            <a:endParaRPr/>
          </a:p>
          <a:p xmlns:a="http://schemas.openxmlformats.org/drawingml/2006/main">
            <a:pPr marL="0" lvl="0" indent="0" algn="l">
              <a:spcBef>
                <a:spcPts val="0"/>
              </a:spcBef>
              <a:spcAft>
                <a:spcPts val="0"/>
              </a:spcAft>
              <a:buNone/>
            </a:pPr>
            <a:r>
              <a:t>Evidence: Separates current-measurement, integration, capacity and timing errors. Its results do not establish a WattSense SOC accuracy figure. Calibration/initialization is our design implication.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[7] C. Zhang, W. Allafi, Q. Dinh, P. Ascencio, and J. Marco, "Online estimation of battery equivalent circuit model parameters and state of charge using decoupled least squares technique," Energy, vol. 142, pp. 678–688, 2018, doi: 10.1016/j.energy.2017.10.043.</a:t>
            </a:r>
            <a:endParaRPr/>
          </a:p>
          <a:p xmlns:a="http://schemas.openxmlformats.org/drawingml/2006/main">
            <a:pPr marL="0" lvl="0" indent="0" algn="l">
              <a:spcBef>
                <a:spcPts val="0"/>
              </a:spcBef>
              <a:spcAft>
                <a:spcPts val="0"/>
              </a:spcAft>
              <a:buNone/>
            </a:pPr>
            <a:r>
              <a:t>https://doi.org/10.1016/j.energy.2017.10.043</a:t>
            </a:r>
            <a:endParaRPr/>
          </a:p>
          <a:p xmlns:a="http://schemas.openxmlformats.org/drawingml/2006/main">
            <a:pPr marL="0" lvl="0" indent="0" algn="l">
              <a:spcBef>
                <a:spcPts val="0"/>
              </a:spcBef>
              <a:spcAft>
                <a:spcPts val="0"/>
              </a:spcAft>
              <a:buNone/>
            </a:pPr>
            <a:r>
              <a:t>Evidence: Published in 2018 despite 2017 in DOI. Supports caution about fixed assumed plant parameters. WattSense has not implemented this estimator or measured its pack parameters.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[8] A. Gismero, E. Schaltz, and D.-I. Stroe, "Recursive State of Charge and State of Health Estimation Method for Lithium-Ion Batteries Based on Coulomb Counting and Open Circuit Voltage," Energies, vol. 13, no. 7, Art. 1811, 2020, doi: 10.3390/en13071811.</a:t>
            </a:r>
            <a:endParaRPr/>
          </a:p>
          <a:p xmlns:a="http://schemas.openxmlformats.org/drawingml/2006/main">
            <a:pPr marL="0" lvl="0" indent="0" algn="l">
              <a:spcBef>
                <a:spcPts val="0"/>
              </a:spcBef>
              <a:spcAft>
                <a:spcPts val="0"/>
              </a:spcAft>
              <a:buNone/>
            </a:pPr>
            <a:r>
              <a:t>https://doi.org/10.3390/en13071811</a:t>
            </a:r>
            <a:endParaRPr/>
          </a:p>
          <a:p xmlns:a="http://schemas.openxmlformats.org/drawingml/2006/main">
            <a:pPr marL="0" lvl="0" indent="0" algn="l">
              <a:spcBef>
                <a:spcPts val="0"/>
              </a:spcBef>
              <a:spcAft>
                <a:spcPts val="0"/>
              </a:spcAft>
              <a:buNone/>
            </a:pPr>
            <a:r>
              <a:t>Evidence: Tested aged cells with changing current/temperature. The paper explicitly identifies insufficient relaxation as a capacity-estimation issue. Our LFP pack cannot inherit its NMC OCV map or accuracy.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[9] K. Yang, Y. Tang, and Z. Zhang, "Parameter Identification and State-of-Charge Estimation for Lithium-Ion Batteries Using Separated Time Scales and Extended Kalman Filter," Energies, vol. 14, no. 4, Art. 1054, 2021, doi: 10.3390/en14041054.</a:t>
            </a:r>
            <a:endParaRPr/>
          </a:p>
          <a:p xmlns:a="http://schemas.openxmlformats.org/drawingml/2006/main">
            <a:pPr marL="0" lvl="0" indent="0" algn="l">
              <a:spcBef>
                <a:spcPts val="0"/>
              </a:spcBef>
              <a:spcAft>
                <a:spcPts val="0"/>
              </a:spcAft>
              <a:buNone/>
            </a:pPr>
            <a:r>
              <a:t>https://doi.org/10.3390/en14041054</a:t>
            </a:r>
            <a:endParaRPr/>
          </a:p>
          <a:p xmlns:a="http://schemas.openxmlformats.org/drawingml/2006/main">
            <a:pPr marL="0" lvl="0" indent="0" algn="l">
              <a:spcBef>
                <a:spcPts val="0"/>
              </a:spcBef>
              <a:spcAft>
                <a:spcPts val="0"/>
              </a:spcAft>
              <a:buNone/>
            </a:pPr>
            <a:r>
              <a:t>Evidence: The result is specific to its datasets and estimator. It informs future characterization; WattSense currently uses a simpler current-integration policy, not the published RLS/EKF method.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[10] B. Rzepka, S. Bischof, and T. Blank, "Implementing an Extended Kalman Filter for SoC Estimation of a Li-Ion Battery with Hysteresis: A Step-by-Step Guide," Energies, vol. 14, no. 13, Art. 3733, 2021, doi: 10.3390/en14133733.</a:t>
            </a:r>
            <a:endParaRPr/>
          </a:p>
          <a:p xmlns:a="http://schemas.openxmlformats.org/drawingml/2006/main">
            <a:pPr marL="0" lvl="0" indent="0" algn="l">
              <a:spcBef>
                <a:spcPts val="0"/>
              </a:spcBef>
              <a:spcAft>
                <a:spcPts val="0"/>
              </a:spcAft>
              <a:buNone/>
            </a:pPr>
            <a:r>
              <a:t>https://doi.org/10.3390/en14133733</a:t>
            </a:r>
            <a:endParaRPr/>
          </a:p>
          <a:p xmlns:a="http://schemas.openxmlformats.org/drawingml/2006/main">
            <a:pPr marL="0" lvl="0" indent="0" algn="l">
              <a:spcBef>
                <a:spcPts val="0"/>
              </a:spcBef>
              <a:spcAft>
                <a:spcPts val="0"/>
              </a:spcAft>
              <a:buNone/>
            </a:pPr>
            <a:r>
              <a:t>Evidence: Conclusions compare systematic and rough filter tuning. This is a future-estimator reference, not evidence that WattSense's INA219/current integration achieves the paper's accuracy.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[11] B. Zine, H. Bia, A. Benmouna, M. Becherif, and M. Iqbal, "Experimentally Validated Coulomb Counting Method for Battery State-of-Charge Estimation under Variable Current Profiles," Energies, vol. 15, no. 21, Art. 8172, 2022, doi: 10.3390/en15218172.</a:t>
            </a:r>
            <a:endParaRPr/>
          </a:p>
          <a:p xmlns:a="http://schemas.openxmlformats.org/drawingml/2006/main">
            <a:pPr marL="0" lvl="0" indent="0" algn="l">
              <a:spcBef>
                <a:spcPts val="0"/>
              </a:spcBef>
              <a:spcAft>
                <a:spcPts val="0"/>
              </a:spcAft>
              <a:buNone/>
            </a:pPr>
            <a:r>
              <a:t>https://doi.org/10.3390/en15218172</a:t>
            </a:r>
            <a:endParaRPr/>
          </a:p>
          <a:p xmlns:a="http://schemas.openxmlformats.org/drawingml/2006/main">
            <a:pPr marL="0" lvl="0" indent="0" algn="l">
              <a:spcBef>
                <a:spcPts val="0"/>
              </a:spcBef>
              <a:spcAft>
                <a:spcPts val="0"/>
              </a:spcAft>
              <a:buNone/>
            </a:pPr>
            <a:r>
              <a:t>Evidence: The broad Li-ion discussion in the abstract must not be mistaken for our 4S LFP validation. Initial SOC and suitable measurements are needed; this study is a practical procedure reference.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[12] Hend M. Fahmy, Rania A. Swief, Hany M. Hasanien, Mohammed Alharbi, José Luis Maldonado, and Francisco Jurado, "Hybrid State of Charge Estimation of Lithium-Ion Battery Using the Coulomb Counting Method and an Adaptive Unscented Kalman Filter", Energies, vol. 16, no. 14, Art. 5558, 2023, doi: 10.3390/en16145558.</a:t>
            </a:r>
            <a:endParaRPr/>
          </a:p>
          <a:p xmlns:a="http://schemas.openxmlformats.org/drawingml/2006/main">
            <a:pPr marL="0" lvl="0" indent="0" algn="l">
              <a:spcBef>
                <a:spcPts val="0"/>
              </a:spcBef>
              <a:spcAft>
                <a:spcPts val="0"/>
              </a:spcAft>
              <a:buNone/>
            </a:pPr>
            <a:r>
              <a:t>https://doi.org/10.3390/en16145558</a:t>
            </a:r>
            <a:endParaRPr/>
          </a:p>
          <a:p xmlns:a="http://schemas.openxmlformats.org/drawingml/2006/main">
            <a:pPr marL="0" lvl="0" indent="0" algn="l">
              <a:spcBef>
                <a:spcPts val="0"/>
              </a:spcBef>
              <a:spcAft>
                <a:spcPts val="0"/>
              </a:spcAft>
              <a:buNone/>
            </a:pPr>
            <a:r>
              <a:t>Evidence: The abstract explicitly labels numerical simulations and describes parameter fitting with African Vultures Optimization. The table includes only the estimator core. Do not present this as a physical WattSense comparison.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[13] M. Wang, G. Wang, Z. Xiao, Y. Sun, and Y. Zheng, "State of Charge Estimation of LiFePO4 in Various Temperature Scenarios," Batteries, vol. 9, no. 1, Art. 43, 2023, doi: 10.3390/batteries9010043.</a:t>
            </a:r>
            <a:endParaRPr/>
          </a:p>
          <a:p xmlns:a="http://schemas.openxmlformats.org/drawingml/2006/main">
            <a:pPr marL="0" lvl="0" indent="0" algn="l">
              <a:spcBef>
                <a:spcPts val="0"/>
              </a:spcBef>
              <a:spcAft>
                <a:spcPts val="0"/>
              </a:spcAft>
              <a:buNone/>
            </a:pPr>
            <a:r>
              <a:t>https://doi.org/10.3390/batteries9010043</a:t>
            </a:r>
            <a:endParaRPr/>
          </a:p>
          <a:p xmlns:a="http://schemas.openxmlformats.org/drawingml/2006/main">
            <a:pPr marL="0" lvl="0" indent="0" algn="l">
              <a:spcBef>
                <a:spcPts val="0"/>
              </a:spcBef>
              <a:spcAft>
                <a:spcPts val="0"/>
              </a:spcAft>
              <a:buNone/>
            </a:pPr>
            <a:r>
              <a:t>Evidence: Direct chemistry relevance. Temperature-dependent capacity and the flat OCV region motivate measuring the actual pack instead of relying on the assumed teaching curve. WattSense's fixed-temperature simulation does not reproduce these tests.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[14] H. Turkmanović, I. Popović, and V. Rajović, "Toward Energy Efficient Battery State of Charge Estimation on Embedded Platforms," Electronics, vol. 13, no. 21, Art. 4256, 2024, doi: 10.3390/electronics13214256.</a:t>
            </a:r>
            <a:endParaRPr/>
          </a:p>
          <a:p xmlns:a="http://schemas.openxmlformats.org/drawingml/2006/main">
            <a:pPr marL="0" lvl="0" indent="0" algn="l">
              <a:spcBef>
                <a:spcPts val="0"/>
              </a:spcBef>
              <a:spcAft>
                <a:spcPts val="0"/>
              </a:spcAft>
              <a:buNone/>
            </a:pPr>
            <a:r>
              <a:t>https://doi.org/10.3390/electronics13214256</a:t>
            </a:r>
            <a:endParaRPr/>
          </a:p>
          <a:p xmlns:a="http://schemas.openxmlformats.org/drawingml/2006/main">
            <a:pPr marL="0" lvl="0" indent="0" algn="l">
              <a:spcBef>
                <a:spcPts val="0"/>
              </a:spcBef>
              <a:spcAft>
                <a:spcPts val="0"/>
              </a:spcAft>
              <a:buNone/>
            </a:pPr>
            <a:r>
              <a:t>Evidence: Contrasts Rint and second-order RC EKFs and connects estimator rate to energy cost. Its reported savings cannot be copied to the ESP32; our 0.8 W controller load remains an assumption awaiting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[15] S. Bampi, G. Waltrich, and A. Vaccari, "Electronic Load for Parameter Characterization in Equivalent Circuit Models of Lithium-Ion Batteries," Eletrônica de Potência, vol. 30, Art. e202521, 2025, doi: 10.18618/REP.e202521.</a:t>
            </a:r>
            <a:endParaRPr/>
          </a:p>
          <a:p xmlns:a="http://schemas.openxmlformats.org/drawingml/2006/main">
            <a:pPr marL="0" lvl="0" indent="0" algn="l">
              <a:spcBef>
                <a:spcPts val="0"/>
              </a:spcBef>
              <a:spcAft>
                <a:spcPts val="0"/>
              </a:spcAft>
              <a:buNone/>
            </a:pPr>
            <a:r>
              <a:t>https://doi.org/10.18618/REP.e202521</a:t>
            </a:r>
            <a:endParaRPr/>
          </a:p>
          <a:p xmlns:a="http://schemas.openxmlformats.org/drawingml/2006/main">
            <a:pPr marL="0" lvl="0" indent="0" algn="l">
              <a:spcBef>
                <a:spcPts val="0"/>
              </a:spcBef>
              <a:spcAft>
                <a:spcPts val="0"/>
              </a:spcAft>
              <a:buNone/>
            </a:pPr>
            <a:r>
              <a:t>Evidence: Publisher full-text reports an ESP32 electronic-load instrument, lithium-titanate cell characterisation and EKF SOC estimation. Useful evidence for a laboratory procedure and embedded integration. Its battery chemistry, electronic-load instrument and estimator differ from the current protected-LFP/INA219 WattSense design; none of its accuracy transfers to our project.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[16] A. Marahatta, Y. Rajbhandari, A. Shrestha, A. Singh, A. Gachhadar, and A. Thapa, 'Priority-based low voltage DC microgrid system for rural electrification,' Energy Reports, vol. 7, pp. 43-51, 2021, doi: 10.1016/j.egyr.2020.11.030.</a:t>
            </a:r>
            <a:endParaRPr/>
          </a:p>
          <a:p xmlns:a="http://schemas.openxmlformats.org/drawingml/2006/main">
            <a:pPr marL="0" lvl="0" indent="0" algn="l">
              <a:spcBef>
                <a:spcPts val="0"/>
              </a:spcBef>
              <a:spcAft>
                <a:spcPts val="0"/>
              </a:spcAft>
              <a:buNone/>
            </a:pPr>
            <a:r>
              <a:t>https://www.sciencedirect.com/science/article/pii/S2352484720314554</a:t>
            </a:r>
            <a:endParaRPr/>
          </a:p>
          <a:p xmlns:a="http://schemas.openxmlformats.org/drawingml/2006/main">
            <a:pPr marL="0" lvl="0" indent="0" algn="l">
              <a:spcBef>
                <a:spcPts val="0"/>
              </a:spcBef>
              <a:spcAft>
                <a:spcPts val="0"/>
              </a:spcAft>
              <a:buNone/>
            </a:pPr>
            <a:r>
              <a:t>Evidence: Publisher explicitly describes experimental analysis and a low-cost SCADA implementation. Saved evidence identifies three load priorities and battery thresholds. This is close prior art, so priority shedding itself is not a new WattSense algorithm. The row states a qualitative study finding and transfers no performance percentage.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[17] Y. Rajbhandari, A. Marahatta, A. Shrestha, A. Gachhadar, A. Thapa, F. Gonzalez-Longatt, and P. Korba, 'Enhanced demand side management for solar-based isolated microgrid system: Load prioritisation and energy optimisation,' IET Smart Grid, vol. 7, no. 3, pp. 294-313, 2024, doi: 10.1049/stg2.12151.</a:t>
            </a:r>
            <a:endParaRPr/>
          </a:p>
          <a:p xmlns:a="http://schemas.openxmlformats.org/drawingml/2006/main">
            <a:pPr marL="0" lvl="0" indent="0" algn="l">
              <a:spcBef>
                <a:spcPts val="0"/>
              </a:spcBef>
              <a:spcAft>
                <a:spcPts val="0"/>
              </a:spcAft>
              <a:buNone/>
            </a:pPr>
            <a:r>
              <a:t>https://ietresearch.onlinelibrary.wiley.com/doi/10.1049/stg2.12151</a:t>
            </a:r>
            <a:endParaRPr/>
          </a:p>
          <a:p xmlns:a="http://schemas.openxmlformats.org/drawingml/2006/main">
            <a:pPr marL="0" lvl="0" indent="0" algn="l">
              <a:spcBef>
                <a:spcPts val="0"/>
              </a:spcBef>
              <a:spcAft>
                <a:spcPts val="0"/>
              </a:spcAft>
              <a:buNone/>
            </a:pPr>
            <a:r>
              <a:t>Evidence: Primary discussion identifies stochastic load/generation simulations, three priority levels and PSO-optimised SOC shedding points using forecasts. Cite issue year 2024 rather than online-first 2023. WattSense has not implemented or evaluated this forecasting/PSO method; the row is external context and transfers no result.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[18] L. Guo and J. Kors, Jr., 'Design of a Laboratory Scale Solar Microgrid Cyber-Physical System for Education,' Electronics, vol. 10, no. 13, Art. 1562, 2021, doi: 10.3390/electronics10131562.</a:t>
            </a:r>
            <a:endParaRPr/>
          </a:p>
          <a:p xmlns:a="http://schemas.openxmlformats.org/drawingml/2006/main">
            <a:pPr marL="0" lvl="0" indent="0" algn="l">
              <a:spcBef>
                <a:spcPts val="0"/>
              </a:spcBef>
              <a:spcAft>
                <a:spcPts val="0"/>
              </a:spcAft>
              <a:buNone/>
            </a:pPr>
            <a:r>
              <a:t>https://www.mdpi.com/2079-9292/10/13/1562</a:t>
            </a:r>
            <a:endParaRPr/>
          </a:p>
          <a:p xmlns:a="http://schemas.openxmlformats.org/drawingml/2006/main">
            <a:pPr marL="0" lvl="0" indent="0" algn="l">
              <a:spcBef>
                <a:spcPts val="0"/>
              </a:spcBef>
              <a:spcAft>
                <a:spcPts val="0"/>
              </a:spcAft>
              <a:buNone/>
            </a:pPr>
            <a:r>
              <a:t>Evidence: Primary paper reports a solar panel, purchased MPPT controller, rechargeable battery, relay-controlled loads and student assessment. Hardware data were sampled every ten minutes in its reported outdoor run. Its focus is educational system integration; it does not establish the proposed WattSense signature estimator or any WattSense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[19] E. Yusubov and L. Bekirova, 'A standalone DC microgrid energy management strategy using the battery state of charge,' Informatyka, Automatyka, Pomiary w Gospodarce i Ochronie Środowiska, vol. 13, no. 3, pp. 75-78, 2023, doi: 10.35784/iapgos.5320.</a:t>
            </a:r>
            <a:endParaRPr/>
          </a:p>
          <a:p xmlns:a="http://schemas.openxmlformats.org/drawingml/2006/main">
            <a:pPr marL="0" lvl="0" indent="0" algn="l">
              <a:spcBef>
                <a:spcPts val="0"/>
              </a:spcBef>
              <a:spcAft>
                <a:spcPts val="0"/>
              </a:spcAft>
              <a:buNone/>
            </a:pPr>
            <a:r>
              <a:t>https://ph.pollub.pl/index.php/iapgos/en/article/view/5320</a:t>
            </a:r>
            <a:endParaRPr/>
          </a:p>
          <a:p xmlns:a="http://schemas.openxmlformats.org/drawingml/2006/main">
            <a:pPr marL="0" lvl="0" indent="0" algn="l">
              <a:spcBef>
                <a:spcPts val="0"/>
              </a:spcBef>
              <a:spcAft>
                <a:spcPts val="0"/>
              </a:spcAft>
              <a:buNone/>
            </a:pPr>
            <a:r>
              <a:t>Evidence: The publisher abstract explicitly combines available-source power, demand and SOC with load-shedding capability and evaluates an algorithm by simulation. Although authors claim battery-life benefits, the row deliberately uses SOC-limit coordination and does not present lifetime extension as measured cycling data.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[20] J. A. Basantes, D. E. Paredes, J. R. Llanos, D. E. Ortiz, and C. D. Burgos, 'Energy Management System (EMS) Based on Model Predictive Control (MPC) for an Isolated DC Microgrid,' Energies, vol. 16, no. 6, Art. 2912, 2023, doi: 10.3390/en16062912.</a:t>
            </a:r>
            <a:endParaRPr/>
          </a:p>
          <a:p xmlns:a="http://schemas.openxmlformats.org/drawingml/2006/main">
            <a:pPr marL="0" lvl="0" indent="0" algn="l">
              <a:spcBef>
                <a:spcPts val="0"/>
              </a:spcBef>
              <a:spcAft>
                <a:spcPts val="0"/>
              </a:spcAft>
              <a:buNone/>
            </a:pPr>
            <a:r>
              <a:t>https://www.mdpi.com/1996-1073/16/6/2912</a:t>
            </a:r>
            <a:endParaRPr/>
          </a:p>
          <a:p xmlns:a="http://schemas.openxmlformats.org/drawingml/2006/main">
            <a:pPr marL="0" lvl="0" indent="0" algn="l">
              <a:spcBef>
                <a:spcPts val="0"/>
              </a:spcBef>
              <a:spcAft>
                <a:spcPts val="0"/>
              </a:spcAft>
              <a:buNone/>
            </a:pPr>
            <a:r>
              <a:t>Evidence: Metadata/byline was confirmed from the primary published PDF hosted in a research repository. The study compares with/without EMS under radiation and demand disturbances. Its conclusions explicitly defer battery-degradation modeling and diesel-start constraints to future work. Real-time feedback here is within the simulated coupled control system; do not call it real hardware measurement.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WattSense is mounted near and powered by the battery. It aims to tell the user remaining usable energy, backup time and which optional load to turn off, using learned signatures and user priorities. Solar or AC/DC charging and DC or inverter-fed AC loads are supported through qualified external equipment. Current prepared items are the DC software/CAD foundation; full hardware integration and measured guidance are pending.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1d787ff0fc64d5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960544bd86542e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2686abfbc7647b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4e3f1dc6073499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83b9b87794f4f7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26cd36461eb4a1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a096f3bc2644f0c"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25fd583bfb6413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93cf0c1f71304ca8"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4f08f9ee74d45b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b3b650d66805432e"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19">
            <a:extLst xmlns:a="http://schemas.openxmlformats.org/drawingml/2006/main">
              <a:ext uri="{FF2B5EF4-FFF2-40B4-BE49-F238E27FC236}">
                <a16:creationId xmlns:a16="http://schemas.microsoft.com/office/drawing/2014/main" id="{523F81C0-FACC-4CE4-9985-847DB2C54211}"/>
              </a:ext>
            </a:extLst>
          </p:cNvPr>
          <p:cNvSpPr>
            <a:spLocks xmlns:a="http://schemas.openxmlformats.org/drawingml/2006/main" noGrp="1"/>
          </p:cNvSpPr>
          <p:nvPr>
            <p:ph type="ctrTitle" idx="0"/>
          </p:nvPr>
        </p:nvSpPr>
        <p:spPr>
          <a:xfrm xmlns:a="http://schemas.openxmlformats.org/drawingml/2006/main">
            <a:off x="311708" y="992767"/>
            <a:ext cx="8520600" cy="273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lnSpc>
                <a:spcPct val="100000"/>
              </a:lnSpc>
              <a:spcBef>
                <a:spcPts val="0"/>
              </a:spcBef>
              <a:spcAft>
                <a:spcPts val="0"/>
              </a:spcAft>
              <a:buSzPts val="5200"/>
              <a:buNone/>
              <a:defRPr sz="5200"/>
            </a:lvl6pPr>
            <a:lvl7pPr algn="ctr">
              <a:lnSpc>
                <a:spcPct val="100000"/>
              </a:lnSpc>
              <a:spcBef>
                <a:spcPts val="0"/>
              </a:spcBef>
              <a:spcAft>
                <a:spcPts val="0"/>
              </a:spcAft>
              <a:buSzPts val="5200"/>
              <a:buNone/>
              <a:defRPr sz="5200"/>
            </a:lvl7pPr>
            <a:lvl8pPr algn="ctr">
              <a:lnSpc>
                <a:spcPct val="100000"/>
              </a:lnSpc>
              <a:spcBef>
                <a:spcPts val="0"/>
              </a:spcBef>
              <a:spcAft>
                <a:spcPts val="0"/>
              </a:spcAft>
              <a:buSzPts val="5200"/>
              <a:buNone/>
              <a:defRPr sz="5200"/>
            </a:lvl8pPr>
            <a:lvl9pPr algn="ctr">
              <a:lnSpc>
                <a:spcPct val="100000"/>
              </a:lnSpc>
              <a:spcBef>
                <a:spcPts val="0"/>
              </a:spcBef>
              <a:spcAft>
                <a:spcPts val="0"/>
              </a:spcAft>
              <a:buSzPts val="5200"/>
              <a:buNone/>
              <a:defRPr sz="5200"/>
            </a:lvl9pPr>
          </a:lstStyle>
          <a:p xmlns:a="http://schemas.openxmlformats.org/drawingml/2006/main">
            <a:endParaRPr/>
          </a:p>
        </p:txBody>
      </p:sp>
      <p:sp>
        <p:nvSpPr>
          <p:cNvPr id="11" name="Google Shape;11;p19">
            <a:extLst xmlns:a="http://schemas.openxmlformats.org/drawingml/2006/main">
              <a:ext uri="{FF2B5EF4-FFF2-40B4-BE49-F238E27FC236}">
                <a16:creationId xmlns:a16="http://schemas.microsoft.com/office/drawing/2014/main" id="{9BB0F678-3725-48CE-A662-88012520A080}"/>
              </a:ext>
            </a:extLst>
          </p:cNvPr>
          <p:cNvSpPr>
            <a:spLocks xmlns:a="http://schemas.openxmlformats.org/drawingml/2006/main" noGrp="1"/>
          </p:cNvSpPr>
          <p:nvPr>
            <p:ph type="subTitle" idx="1"/>
          </p:nvPr>
        </p:nvSpPr>
        <p:spPr>
          <a:xfrm xmlns:a="http://schemas.openxmlformats.org/drawingml/2006/main">
            <a:off x="311700" y="3778833"/>
            <a:ext cx="8520600" cy="105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a:endParaRPr/>
          </a:p>
        </p:txBody>
      </p:sp>
      <p:sp>
        <p:nvSpPr>
          <p:cNvPr id="12" name="Google Shape;12;p19">
            <a:extLst xmlns:a="http://schemas.openxmlformats.org/drawingml/2006/main">
              <a:ext uri="{FF2B5EF4-FFF2-40B4-BE49-F238E27FC236}">
                <a16:creationId xmlns:a16="http://schemas.microsoft.com/office/drawing/2014/main" id="{DF8E116F-05BF-4393-B057-4C39EC2DF8BA}"/>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20">
            <a:extLst xmlns:a="http://schemas.openxmlformats.org/drawingml/2006/main">
              <a:ext uri="{FF2B5EF4-FFF2-40B4-BE49-F238E27FC236}">
                <a16:creationId xmlns:a16="http://schemas.microsoft.com/office/drawing/2014/main" id="{772481FD-C95C-4E07-95AC-743AE1B4E7DD}"/>
              </a:ext>
            </a:extLst>
          </p:cNvPr>
          <p:cNvSpPr>
            <a:spLocks xmlns:a="http://schemas.openxmlformats.org/drawingml/2006/main" noGrp="1"/>
          </p:cNvSpPr>
          <p:nvPr>
            <p:ph type="title" idx="0"/>
          </p:nvPr>
        </p:nvSpPr>
        <p:spPr>
          <a:xfrm xmlns:a="http://schemas.openxmlformats.org/drawingml/2006/main">
            <a:off x="311700" y="2867800"/>
            <a:ext cx="8520600" cy="1122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lnSpc>
                <a:spcPct val="100000"/>
              </a:lnSpc>
              <a:spcBef>
                <a:spcPts val="0"/>
              </a:spcBef>
              <a:spcAft>
                <a:spcPts val="0"/>
              </a:spcAft>
              <a:buSzPts val="3600"/>
              <a:buNone/>
              <a:defRPr sz="3600"/>
            </a:lvl6pPr>
            <a:lvl7pPr algn="ctr">
              <a:lnSpc>
                <a:spcPct val="100000"/>
              </a:lnSpc>
              <a:spcBef>
                <a:spcPts val="0"/>
              </a:spcBef>
              <a:spcAft>
                <a:spcPts val="0"/>
              </a:spcAft>
              <a:buSzPts val="3600"/>
              <a:buNone/>
              <a:defRPr sz="3600"/>
            </a:lvl7pPr>
            <a:lvl8pPr algn="ctr">
              <a:lnSpc>
                <a:spcPct val="100000"/>
              </a:lnSpc>
              <a:spcBef>
                <a:spcPts val="0"/>
              </a:spcBef>
              <a:spcAft>
                <a:spcPts val="0"/>
              </a:spcAft>
              <a:buSzPts val="3600"/>
              <a:buNone/>
              <a:defRPr sz="3600"/>
            </a:lvl8pPr>
            <a:lvl9pPr algn="ctr">
              <a:lnSpc>
                <a:spcPct val="100000"/>
              </a:lnSpc>
              <a:spcBef>
                <a:spcPts val="0"/>
              </a:spcBef>
              <a:spcAft>
                <a:spcPts val="0"/>
              </a:spcAft>
              <a:buSzPts val="3600"/>
              <a:buNone/>
              <a:defRPr sz="3600"/>
            </a:lvl9pPr>
          </a:lstStyle>
          <a:p xmlns:a="http://schemas.openxmlformats.org/drawingml/2006/main">
            <a:endParaRPr/>
          </a:p>
        </p:txBody>
      </p:sp>
      <p:sp>
        <p:nvSpPr>
          <p:cNvPr id="15" name="Google Shape;15;p20">
            <a:extLst xmlns:a="http://schemas.openxmlformats.org/drawingml/2006/main">
              <a:ext uri="{FF2B5EF4-FFF2-40B4-BE49-F238E27FC236}">
                <a16:creationId xmlns:a16="http://schemas.microsoft.com/office/drawing/2014/main" id="{07D356DF-0743-43CE-89E3-F629DDD966BD}"/>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7" name="Google Shape;17;p21">
            <a:extLst xmlns:a="http://schemas.openxmlformats.org/drawingml/2006/main">
              <a:ext uri="{FF2B5EF4-FFF2-40B4-BE49-F238E27FC236}">
                <a16:creationId xmlns:a16="http://schemas.microsoft.com/office/drawing/2014/main" id="{903DDB67-C972-47F7-BC86-100F862DF7E0}"/>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Big number">
  <p:cSld name="Big number">
    <p:spTree>
      <p:nvGrpSpPr>
        <p:cNvPr id="1" name=""/>
        <p:cNvGrpSpPr/>
        <p:nvPr/>
      </p:nvGrpSpPr>
      <p:grpSpPr>
        <a:xfrm xmlns:a="http://schemas.openxmlformats.org/drawingml/2006/main"/>
      </p:grpSpPr>
      <p:sp>
        <p:nvSpPr>
          <p:cNvPr id="19" name="Google Shape;19;p22">
            <a:extLst xmlns:a="http://schemas.openxmlformats.org/drawingml/2006/main">
              <a:ext uri="{FF2B5EF4-FFF2-40B4-BE49-F238E27FC236}">
                <a16:creationId xmlns:a16="http://schemas.microsoft.com/office/drawing/2014/main" id="{B96D26BF-6171-400F-8EC7-97CA30416F1C}"/>
              </a:ext>
            </a:extLst>
          </p:cNvPr>
          <p:cNvSpPr>
            <a:spLocks xmlns:a="http://schemas.openxmlformats.org/drawingml/2006/main" noGrp="1"/>
          </p:cNvSpPr>
          <p:nvPr>
            <p:ph type="title" idx="0"/>
          </p:nvPr>
        </p:nvSpPr>
        <p:spPr>
          <a:xfrm xmlns:a="http://schemas.openxmlformats.org/drawingml/2006/main">
            <a:off x="311700" y="1474833"/>
            <a:ext cx="8520600" cy="2618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lnSpc>
                <a:spcPct val="100000"/>
              </a:lnSpc>
              <a:spcBef>
                <a:spcPts val="0"/>
              </a:spcBef>
              <a:spcAft>
                <a:spcPts val="0"/>
              </a:spcAft>
              <a:buSzPts val="12000"/>
              <a:buNone/>
              <a:defRPr sz="12000"/>
            </a:lvl6pPr>
            <a:lvl7pPr algn="ctr">
              <a:lnSpc>
                <a:spcPct val="100000"/>
              </a:lnSpc>
              <a:spcBef>
                <a:spcPts val="0"/>
              </a:spcBef>
              <a:spcAft>
                <a:spcPts val="0"/>
              </a:spcAft>
              <a:buSzPts val="12000"/>
              <a:buNone/>
              <a:defRPr sz="12000"/>
            </a:lvl7pPr>
            <a:lvl8pPr algn="ctr">
              <a:lnSpc>
                <a:spcPct val="100000"/>
              </a:lnSpc>
              <a:spcBef>
                <a:spcPts val="0"/>
              </a:spcBef>
              <a:spcAft>
                <a:spcPts val="0"/>
              </a:spcAft>
              <a:buSzPts val="12000"/>
              <a:buNone/>
              <a:defRPr sz="12000"/>
            </a:lvl8pPr>
            <a:lvl9pPr algn="ctr">
              <a:lnSpc>
                <a:spcPct val="100000"/>
              </a:lnSpc>
              <a:spcBef>
                <a:spcPts val="0"/>
              </a:spcBef>
              <a:spcAft>
                <a:spcPts val="0"/>
              </a:spcAft>
              <a:buSzPts val="12000"/>
              <a:buNone/>
              <a:defRPr sz="12000"/>
            </a:lvl9pPr>
          </a:lstStyle>
          <a:p xmlns:a="http://schemas.openxmlformats.org/drawingml/2006/main">
            <a:endParaRPr/>
          </a:p>
        </p:txBody>
      </p:sp>
      <p:sp>
        <p:nvSpPr>
          <p:cNvPr id="20" name="Google Shape;20;p22">
            <a:extLst xmlns:a="http://schemas.openxmlformats.org/drawingml/2006/main">
              <a:ext uri="{FF2B5EF4-FFF2-40B4-BE49-F238E27FC236}">
                <a16:creationId xmlns:a16="http://schemas.microsoft.com/office/drawing/2014/main" id="{037AC9EE-916E-4597-A993-27FBE704E3B2}"/>
              </a:ext>
            </a:extLst>
          </p:cNvPr>
          <p:cNvSpPr>
            <a:spLocks xmlns:a="http://schemas.openxmlformats.org/drawingml/2006/main" noGrp="1"/>
          </p:cNvSpPr>
          <p:nvPr>
            <p:ph type="body" idx="1"/>
          </p:nvPr>
        </p:nvSpPr>
        <p:spPr>
          <a:xfrm xmlns:a="http://schemas.openxmlformats.org/drawingml/2006/main">
            <a:off x="311700" y="4202967"/>
            <a:ext cx="8520600" cy="173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lnSpc>
                <a:spcPct val="100000"/>
              </a:lnSpc>
              <a:spcBef>
                <a:spcPts val="0"/>
              </a:spcBef>
              <a:spcAft>
                <a:spcPts val="0"/>
              </a:spcAft>
              <a:buSzPts val="1400"/>
              <a:buChar char="■"/>
              <a:defRPr/>
            </a:lvl6pPr>
            <a:lvl7pPr marL="3200400" indent="-317500" algn="ctr">
              <a:lnSpc>
                <a:spcPct val="100000"/>
              </a:lnSpc>
              <a:spcBef>
                <a:spcPts val="0"/>
              </a:spcBef>
              <a:spcAft>
                <a:spcPts val="0"/>
              </a:spcAft>
              <a:buSzPts val="1400"/>
              <a:buChar char="●"/>
              <a:defRPr/>
            </a:lvl7pPr>
            <a:lvl8pPr marL="3657600" indent="-317500" algn="ctr">
              <a:lnSpc>
                <a:spcPct val="100000"/>
              </a:lnSpc>
              <a:spcBef>
                <a:spcPts val="0"/>
              </a:spcBef>
              <a:spcAft>
                <a:spcPts val="0"/>
              </a:spcAft>
              <a:buSzPts val="1400"/>
              <a:buChar char="○"/>
              <a:defRPr/>
            </a:lvl8pPr>
            <a:lvl9pPr marL="4114800" indent="-317500" algn="ctr">
              <a:lnSpc>
                <a:spcPct val="100000"/>
              </a:lnSpc>
              <a:spcBef>
                <a:spcPts val="0"/>
              </a:spcBef>
              <a:spcAft>
                <a:spcPts val="0"/>
              </a:spcAft>
              <a:buSzPts val="1400"/>
              <a:buChar char="■"/>
              <a:defRPr/>
            </a:lvl9pPr>
          </a:lstStyle>
          <a:p xmlns:a="http://schemas.openxmlformats.org/drawingml/2006/main">
            <a:endParaRPr/>
          </a:p>
        </p:txBody>
      </p:sp>
      <p:sp>
        <p:nvSpPr>
          <p:cNvPr id="21" name="Google Shape;21;p22">
            <a:extLst xmlns:a="http://schemas.openxmlformats.org/drawingml/2006/main">
              <a:ext uri="{FF2B5EF4-FFF2-40B4-BE49-F238E27FC236}">
                <a16:creationId xmlns:a16="http://schemas.microsoft.com/office/drawing/2014/main" id="{1A04E397-50E4-43A2-B348-B5C82A63CF7E}"/>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Caption">
  <p:cSld name="Caption">
    <p:spTree>
      <p:nvGrpSpPr>
        <p:cNvPr id="1" name=""/>
        <p:cNvGrpSpPr/>
        <p:nvPr/>
      </p:nvGrpSpPr>
      <p:grpSpPr>
        <a:xfrm xmlns:a="http://schemas.openxmlformats.org/drawingml/2006/main"/>
      </p:grpSpPr>
      <p:sp>
        <p:nvSpPr>
          <p:cNvPr id="23" name="Google Shape;23;p23">
            <a:extLst xmlns:a="http://schemas.openxmlformats.org/drawingml/2006/main">
              <a:ext uri="{FF2B5EF4-FFF2-40B4-BE49-F238E27FC236}">
                <a16:creationId xmlns:a16="http://schemas.microsoft.com/office/drawing/2014/main" id="{F8D27892-4C40-4B6B-9E53-C9412EA1F04F}"/>
              </a:ext>
            </a:extLst>
          </p:cNvPr>
          <p:cNvSpPr>
            <a:spLocks xmlns:a="http://schemas.openxmlformats.org/drawingml/2006/main" noGrp="1"/>
          </p:cNvSpPr>
          <p:nvPr>
            <p:ph type="body" idx="1"/>
          </p:nvPr>
        </p:nvSpPr>
        <p:spPr>
          <a:xfrm xmlns:a="http://schemas.openxmlformats.org/drawingml/2006/main">
            <a:off x="311700" y="5640767"/>
            <a:ext cx="5998800" cy="80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228600" algn="l">
              <a:lnSpc>
                <a:spcPct val="100000"/>
              </a:lnSpc>
              <a:spcBef>
                <a:spcPts val="0"/>
              </a:spcBef>
              <a:spcAft>
                <a:spcPts val="0"/>
              </a:spcAft>
              <a:buSzPts val="1800"/>
              <a:buNone/>
              <a:defRPr/>
            </a:lvl1pPr>
            <a:lvl2pPr marL="914400" indent="-342900" algn="l">
              <a:spcBef>
                <a:spcPts val="0"/>
              </a:spcBef>
              <a:spcAft>
                <a:spcPts val="0"/>
              </a:spcAft>
              <a:buSzPts val="1800"/>
              <a:buChar char="–"/>
              <a:defRPr/>
            </a:lvl2pPr>
            <a:lvl3pPr marL="1371600" indent="-342900" algn="l">
              <a:spcBef>
                <a:spcPts val="0"/>
              </a:spcBef>
              <a:spcAft>
                <a:spcPts val="0"/>
              </a:spcAft>
              <a:buSzPts val="1800"/>
              <a:buChar char="•"/>
              <a:defRPr/>
            </a:lvl3pPr>
            <a:lvl4pPr marL="1828800" indent="-342900" algn="l">
              <a:spcBef>
                <a:spcPts val="0"/>
              </a:spcBef>
              <a:spcAft>
                <a:spcPts val="0"/>
              </a:spcAft>
              <a:buSzPts val="1800"/>
              <a:buChar char="–"/>
              <a:defRPr/>
            </a:lvl4pPr>
            <a:lvl5pPr marL="2286000" indent="-342900" algn="l">
              <a:spcBef>
                <a:spcPts val="0"/>
              </a:spcBef>
              <a:spcAft>
                <a:spcPts val="0"/>
              </a:spcAft>
              <a:buSzPts val="1800"/>
              <a:buChar char="»"/>
              <a:defRPr/>
            </a:lvl5pPr>
            <a:lvl6pPr marL="2743200" indent="-228600" algn="l">
              <a:lnSpc>
                <a:spcPct val="100000"/>
              </a:lnSpc>
              <a:spcBef>
                <a:spcPts val="0"/>
              </a:spcBef>
              <a:spcAft>
                <a:spcPts val="0"/>
              </a:spcAft>
              <a:buSzPts val="1400"/>
              <a:buNone/>
              <a:defRPr/>
            </a:lvl6pPr>
            <a:lvl7pPr marL="3200400" indent="-228600" algn="l">
              <a:lnSpc>
                <a:spcPct val="100000"/>
              </a:lnSpc>
              <a:spcBef>
                <a:spcPts val="0"/>
              </a:spcBef>
              <a:spcAft>
                <a:spcPts val="0"/>
              </a:spcAft>
              <a:buSzPts val="1400"/>
              <a:buNone/>
              <a:defRPr/>
            </a:lvl7pPr>
            <a:lvl8pPr marL="3657600" indent="-228600" algn="l">
              <a:lnSpc>
                <a:spcPct val="100000"/>
              </a:lnSpc>
              <a:spcBef>
                <a:spcPts val="0"/>
              </a:spcBef>
              <a:spcAft>
                <a:spcPts val="0"/>
              </a:spcAft>
              <a:buSzPts val="1400"/>
              <a:buNone/>
              <a:defRPr/>
            </a:lvl8pPr>
            <a:lvl9pPr marL="4114800" indent="-228600" algn="l">
              <a:lnSpc>
                <a:spcPct val="100000"/>
              </a:lnSpc>
              <a:spcBef>
                <a:spcPts val="0"/>
              </a:spcBef>
              <a:spcAft>
                <a:spcPts val="0"/>
              </a:spcAft>
              <a:buSzPts val="1400"/>
              <a:buNone/>
              <a:defRPr/>
            </a:lvl9pPr>
          </a:lstStyle>
          <a:p xmlns:a="http://schemas.openxmlformats.org/drawingml/2006/main">
            <a:endParaRPr/>
          </a:p>
        </p:txBody>
      </p:sp>
      <p:sp>
        <p:nvSpPr>
          <p:cNvPr id="24" name="Google Shape;24;p23">
            <a:extLst xmlns:a="http://schemas.openxmlformats.org/drawingml/2006/main">
              <a:ext uri="{FF2B5EF4-FFF2-40B4-BE49-F238E27FC236}">
                <a16:creationId xmlns:a16="http://schemas.microsoft.com/office/drawing/2014/main" id="{5BE2862D-9734-4453-A181-4A6F0CDCA8B2}"/>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Main point">
  <p:cSld name="Main point">
    <p:spTree>
      <p:nvGrpSpPr>
        <p:cNvPr id="1" name=""/>
        <p:cNvGrpSpPr/>
        <p:nvPr/>
      </p:nvGrpSpPr>
      <p:grpSpPr>
        <a:xfrm xmlns:a="http://schemas.openxmlformats.org/drawingml/2006/main"/>
      </p:grpSpPr>
      <p:sp>
        <p:nvSpPr>
          <p:cNvPr id="26" name="Google Shape;26;p24">
            <a:extLst xmlns:a="http://schemas.openxmlformats.org/drawingml/2006/main">
              <a:ext uri="{FF2B5EF4-FFF2-40B4-BE49-F238E27FC236}">
                <a16:creationId xmlns:a16="http://schemas.microsoft.com/office/drawing/2014/main" id="{60006DDE-A4E5-4CBA-A63A-E6F7BBBC4BFC}"/>
              </a:ext>
            </a:extLst>
          </p:cNvPr>
          <p:cNvSpPr>
            <a:spLocks xmlns:a="http://schemas.openxmlformats.org/drawingml/2006/main" noGrp="1"/>
          </p:cNvSpPr>
          <p:nvPr>
            <p:ph type="title" idx="0"/>
          </p:nvPr>
        </p:nvSpPr>
        <p:spPr>
          <a:xfrm xmlns:a="http://schemas.openxmlformats.org/drawingml/2006/main">
            <a:off x="490250" y="600200"/>
            <a:ext cx="6367800" cy="545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l">
              <a:spcBef>
                <a:spcPts val="0"/>
              </a:spcBef>
              <a:spcAft>
                <a:spcPts val="0"/>
              </a:spcAft>
              <a:buSzPts val="4800"/>
              <a:buNone/>
              <a:defRPr sz="4800"/>
            </a:lvl1pPr>
            <a:lvl2pPr algn="l">
              <a:spcBef>
                <a:spcPts val="0"/>
              </a:spcBef>
              <a:spcAft>
                <a:spcPts val="0"/>
              </a:spcAft>
              <a:buSzPts val="4800"/>
              <a:buNone/>
              <a:defRPr sz="4800"/>
            </a:lvl2pPr>
            <a:lvl3pPr algn="l">
              <a:spcBef>
                <a:spcPts val="0"/>
              </a:spcBef>
              <a:spcAft>
                <a:spcPts val="0"/>
              </a:spcAft>
              <a:buSzPts val="4800"/>
              <a:buNone/>
              <a:defRPr sz="4800"/>
            </a:lvl3pPr>
            <a:lvl4pPr algn="l">
              <a:spcBef>
                <a:spcPts val="0"/>
              </a:spcBef>
              <a:spcAft>
                <a:spcPts val="0"/>
              </a:spcAft>
              <a:buSzPts val="4800"/>
              <a:buNone/>
              <a:defRPr sz="4800"/>
            </a:lvl4pPr>
            <a:lvl5pPr algn="l">
              <a:spcBef>
                <a:spcPts val="0"/>
              </a:spcBef>
              <a:spcAft>
                <a:spcPts val="0"/>
              </a:spcAft>
              <a:buSzPts val="4800"/>
              <a:buNone/>
              <a:defRPr sz="4800"/>
            </a:lvl5pPr>
            <a:lvl6pPr algn="l">
              <a:lnSpc>
                <a:spcPct val="100000"/>
              </a:lnSpc>
              <a:spcBef>
                <a:spcPts val="0"/>
              </a:spcBef>
              <a:spcAft>
                <a:spcPts val="0"/>
              </a:spcAft>
              <a:buSzPts val="4800"/>
              <a:buNone/>
              <a:defRPr sz="4800"/>
            </a:lvl6pPr>
            <a:lvl7pPr algn="l">
              <a:lnSpc>
                <a:spcPct val="100000"/>
              </a:lnSpc>
              <a:spcBef>
                <a:spcPts val="0"/>
              </a:spcBef>
              <a:spcAft>
                <a:spcPts val="0"/>
              </a:spcAft>
              <a:buSzPts val="4800"/>
              <a:buNone/>
              <a:defRPr sz="4800"/>
            </a:lvl7pPr>
            <a:lvl8pPr algn="l">
              <a:lnSpc>
                <a:spcPct val="100000"/>
              </a:lnSpc>
              <a:spcBef>
                <a:spcPts val="0"/>
              </a:spcBef>
              <a:spcAft>
                <a:spcPts val="0"/>
              </a:spcAft>
              <a:buSzPts val="4800"/>
              <a:buNone/>
              <a:defRPr sz="4800"/>
            </a:lvl8pPr>
            <a:lvl9pPr algn="l">
              <a:lnSpc>
                <a:spcPct val="100000"/>
              </a:lnSpc>
              <a:spcBef>
                <a:spcPts val="0"/>
              </a:spcBef>
              <a:spcAft>
                <a:spcPts val="0"/>
              </a:spcAft>
              <a:buSzPts val="4800"/>
              <a:buNone/>
              <a:defRPr sz="4800"/>
            </a:lvl9pPr>
          </a:lstStyle>
          <a:p xmlns:a="http://schemas.openxmlformats.org/drawingml/2006/main">
            <a:endParaRPr/>
          </a:p>
        </p:txBody>
      </p:sp>
      <p:sp>
        <p:nvSpPr>
          <p:cNvPr id="27" name="Google Shape;27;p24">
            <a:extLst xmlns:a="http://schemas.openxmlformats.org/drawingml/2006/main">
              <a:ext uri="{FF2B5EF4-FFF2-40B4-BE49-F238E27FC236}">
                <a16:creationId xmlns:a16="http://schemas.microsoft.com/office/drawing/2014/main" id="{CDB6708E-1319-4DC4-A34A-DA1688FE8A89}"/>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One column text">
  <p:cSld name="One column text">
    <p:spTree>
      <p:nvGrpSpPr>
        <p:cNvPr id="1" name=""/>
        <p:cNvGrpSpPr/>
        <p:nvPr/>
      </p:nvGrpSpPr>
      <p:grpSpPr>
        <a:xfrm xmlns:a="http://schemas.openxmlformats.org/drawingml/2006/main"/>
      </p:grpSpPr>
      <p:sp>
        <p:nvSpPr>
          <p:cNvPr id="29" name="Google Shape;29;p25">
            <a:extLst xmlns:a="http://schemas.openxmlformats.org/drawingml/2006/main">
              <a:ext uri="{FF2B5EF4-FFF2-40B4-BE49-F238E27FC236}">
                <a16:creationId xmlns:a16="http://schemas.microsoft.com/office/drawing/2014/main" id="{6DF6937A-4D48-470E-8D96-9D16779C3A46}"/>
              </a:ext>
            </a:extLst>
          </p:cNvPr>
          <p:cNvSpPr>
            <a:spLocks xmlns:a="http://schemas.openxmlformats.org/drawingml/2006/main" noGrp="1"/>
          </p:cNvSpPr>
          <p:nvPr>
            <p:ph type="title" idx="0"/>
          </p:nvPr>
        </p:nvSpPr>
        <p:spPr>
          <a:xfrm xmlns:a="http://schemas.openxmlformats.org/drawingml/2006/main">
            <a:off x="311700" y="740800"/>
            <a:ext cx="2808000" cy="100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spcBef>
                <a:spcPts val="0"/>
              </a:spcBef>
              <a:spcAft>
                <a:spcPts val="0"/>
              </a:spcAft>
              <a:buSzPts val="2400"/>
              <a:buNone/>
              <a:defRPr sz="2400"/>
            </a:lvl1pPr>
            <a:lvl2pPr algn="l">
              <a:spcBef>
                <a:spcPts val="0"/>
              </a:spcBef>
              <a:spcAft>
                <a:spcPts val="0"/>
              </a:spcAft>
              <a:buSzPts val="2400"/>
              <a:buNone/>
              <a:defRPr sz="2400"/>
            </a:lvl2pPr>
            <a:lvl3pPr algn="l">
              <a:spcBef>
                <a:spcPts val="0"/>
              </a:spcBef>
              <a:spcAft>
                <a:spcPts val="0"/>
              </a:spcAft>
              <a:buSzPts val="2400"/>
              <a:buNone/>
              <a:defRPr sz="2400"/>
            </a:lvl3pPr>
            <a:lvl4pPr algn="l">
              <a:spcBef>
                <a:spcPts val="0"/>
              </a:spcBef>
              <a:spcAft>
                <a:spcPts val="0"/>
              </a:spcAft>
              <a:buSzPts val="2400"/>
              <a:buNone/>
              <a:defRPr sz="2400"/>
            </a:lvl4pPr>
            <a:lvl5pPr algn="l">
              <a:spcBef>
                <a:spcPts val="0"/>
              </a:spcBef>
              <a:spcAft>
                <a:spcPts val="0"/>
              </a:spcAft>
              <a:buSzPts val="2400"/>
              <a:buNone/>
              <a:defRPr sz="2400"/>
            </a:lvl5pPr>
            <a:lvl6pPr algn="l">
              <a:lnSpc>
                <a:spcPct val="100000"/>
              </a:lnSpc>
              <a:spcBef>
                <a:spcPts val="0"/>
              </a:spcBef>
              <a:spcAft>
                <a:spcPts val="0"/>
              </a:spcAft>
              <a:buSzPts val="2400"/>
              <a:buNone/>
              <a:defRPr sz="2400"/>
            </a:lvl6pPr>
            <a:lvl7pPr algn="l">
              <a:lnSpc>
                <a:spcPct val="100000"/>
              </a:lnSpc>
              <a:spcBef>
                <a:spcPts val="0"/>
              </a:spcBef>
              <a:spcAft>
                <a:spcPts val="0"/>
              </a:spcAft>
              <a:buSzPts val="2400"/>
              <a:buNone/>
              <a:defRPr sz="2400"/>
            </a:lvl7pPr>
            <a:lvl8pPr algn="l">
              <a:lnSpc>
                <a:spcPct val="100000"/>
              </a:lnSpc>
              <a:spcBef>
                <a:spcPts val="0"/>
              </a:spcBef>
              <a:spcAft>
                <a:spcPts val="0"/>
              </a:spcAft>
              <a:buSzPts val="2400"/>
              <a:buNone/>
              <a:defRPr sz="2400"/>
            </a:lvl8pPr>
            <a:lvl9pPr algn="l">
              <a:lnSpc>
                <a:spcPct val="100000"/>
              </a:lnSpc>
              <a:spcBef>
                <a:spcPts val="0"/>
              </a:spcBef>
              <a:spcAft>
                <a:spcPts val="0"/>
              </a:spcAft>
              <a:buSzPts val="2400"/>
              <a:buNone/>
              <a:defRPr sz="2400"/>
            </a:lvl9pPr>
          </a:lstStyle>
          <a:p xmlns:a="http://schemas.openxmlformats.org/drawingml/2006/main">
            <a:endParaRPr/>
          </a:p>
        </p:txBody>
      </p:sp>
      <p:sp>
        <p:nvSpPr>
          <p:cNvPr id="30" name="Google Shape;30;p25">
            <a:extLst xmlns:a="http://schemas.openxmlformats.org/drawingml/2006/main">
              <a:ext uri="{FF2B5EF4-FFF2-40B4-BE49-F238E27FC236}">
                <a16:creationId xmlns:a16="http://schemas.microsoft.com/office/drawing/2014/main" id="{B26558BA-F46E-49F2-8A25-7BD710BA1AF2}"/>
              </a:ext>
            </a:extLst>
          </p:cNvPr>
          <p:cNvSpPr>
            <a:spLocks xmlns:a="http://schemas.openxmlformats.org/drawingml/2006/main" noGrp="1"/>
          </p:cNvSpPr>
          <p:nvPr>
            <p:ph type="body" idx="1"/>
          </p:nvPr>
        </p:nvSpPr>
        <p:spPr>
          <a:xfrm xmlns:a="http://schemas.openxmlformats.org/drawingml/2006/main">
            <a:off x="311700" y="1852800"/>
            <a:ext cx="2808000" cy="423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04800" algn="l">
              <a:spcBef>
                <a:spcPts val="0"/>
              </a:spcBef>
              <a:spcAft>
                <a:spcPts val="0"/>
              </a:spcAft>
              <a:buSzPts val="1200"/>
              <a:buChar char="●"/>
              <a:defRPr sz="1200"/>
            </a:lvl1pPr>
            <a:lvl2pPr marL="914400" indent="-304800" algn="l">
              <a:spcBef>
                <a:spcPts val="0"/>
              </a:spcBef>
              <a:spcAft>
                <a:spcPts val="0"/>
              </a:spcAft>
              <a:buSzPts val="1200"/>
              <a:buChar char="○"/>
              <a:defRPr sz="1200"/>
            </a:lvl2pPr>
            <a:lvl3pPr marL="1371600" indent="-304800" algn="l">
              <a:spcBef>
                <a:spcPts val="0"/>
              </a:spcBef>
              <a:spcAft>
                <a:spcPts val="0"/>
              </a:spcAft>
              <a:buSzPts val="1200"/>
              <a:buChar char="■"/>
              <a:defRPr sz="1200"/>
            </a:lvl3pPr>
            <a:lvl4pPr marL="1828800" indent="-304800" algn="l">
              <a:spcBef>
                <a:spcPts val="0"/>
              </a:spcBef>
              <a:spcAft>
                <a:spcPts val="0"/>
              </a:spcAft>
              <a:buSzPts val="1200"/>
              <a:buChar char="●"/>
              <a:defRPr sz="1200"/>
            </a:lvl4pPr>
            <a:lvl5pPr marL="2286000" indent="-304800" algn="l">
              <a:spcBef>
                <a:spcPts val="0"/>
              </a:spcBef>
              <a:spcAft>
                <a:spcPts val="0"/>
              </a:spcAft>
              <a:buSzPts val="1200"/>
              <a:buChar char="○"/>
              <a:defRPr sz="1200"/>
            </a:lvl5pPr>
            <a:lvl6pPr marL="2743200" indent="-304800" algn="l">
              <a:lnSpc>
                <a:spcPct val="100000"/>
              </a:lnSpc>
              <a:spcBef>
                <a:spcPts val="0"/>
              </a:spcBef>
              <a:spcAft>
                <a:spcPts val="0"/>
              </a:spcAft>
              <a:buSzPts val="1200"/>
              <a:buChar char="■"/>
              <a:defRPr sz="1200"/>
            </a:lvl6pPr>
            <a:lvl7pPr marL="3200400" indent="-304800" algn="l">
              <a:lnSpc>
                <a:spcPct val="100000"/>
              </a:lnSpc>
              <a:spcBef>
                <a:spcPts val="0"/>
              </a:spcBef>
              <a:spcAft>
                <a:spcPts val="0"/>
              </a:spcAft>
              <a:buSzPts val="1200"/>
              <a:buChar char="●"/>
              <a:defRPr sz="1200"/>
            </a:lvl7pPr>
            <a:lvl8pPr marL="3657600" indent="-304800" algn="l">
              <a:lnSpc>
                <a:spcPct val="100000"/>
              </a:lnSpc>
              <a:spcBef>
                <a:spcPts val="0"/>
              </a:spcBef>
              <a:spcAft>
                <a:spcPts val="0"/>
              </a:spcAft>
              <a:buSzPts val="1200"/>
              <a:buChar char="○"/>
              <a:defRPr sz="1200"/>
            </a:lvl8pPr>
            <a:lvl9pPr marL="4114800" indent="-304800" algn="l">
              <a:lnSpc>
                <a:spcPct val="100000"/>
              </a:lnSpc>
              <a:spcBef>
                <a:spcPts val="0"/>
              </a:spcBef>
              <a:spcAft>
                <a:spcPts val="0"/>
              </a:spcAft>
              <a:buSzPts val="1200"/>
              <a:buChar char="■"/>
              <a:defRPr sz="1200"/>
            </a:lvl9pPr>
          </a:lstStyle>
          <a:p xmlns:a="http://schemas.openxmlformats.org/drawingml/2006/main">
            <a:endParaRPr/>
          </a:p>
        </p:txBody>
      </p:sp>
      <p:sp>
        <p:nvSpPr>
          <p:cNvPr id="31" name="Google Shape;31;p25">
            <a:extLst xmlns:a="http://schemas.openxmlformats.org/drawingml/2006/main">
              <a:ext uri="{FF2B5EF4-FFF2-40B4-BE49-F238E27FC236}">
                <a16:creationId xmlns:a16="http://schemas.microsoft.com/office/drawing/2014/main" id="{D4486FAE-E36C-483C-939C-54FBCAC7B5A4}"/>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33" name="Google Shape;33;p26">
            <a:extLst xmlns:a="http://schemas.openxmlformats.org/drawingml/2006/main">
              <a:ext uri="{FF2B5EF4-FFF2-40B4-BE49-F238E27FC236}">
                <a16:creationId xmlns:a16="http://schemas.microsoft.com/office/drawing/2014/main" id="{E2ACF709-6E0B-44DB-8DE1-B6ABE81CDB94}"/>
              </a:ext>
            </a:extLst>
          </p:cNvPr>
          <p:cNvSpPr>
            <a:spLocks xmlns:a="http://schemas.openxmlformats.org/drawingml/2006/main" noGrp="1"/>
          </p:cNvSpPr>
          <p:nvPr>
            <p:ph type="title" idx="0"/>
          </p:nvPr>
        </p:nvSpPr>
        <p:spPr>
          <a:xfrm xmlns:a="http://schemas.openxmlformats.org/drawingml/2006/main">
            <a:off x="311700" y="593367"/>
            <a:ext cx="8520600" cy="7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spcBef>
                <a:spcPts val="0"/>
              </a:spcBef>
              <a:spcAft>
                <a:spcPts val="0"/>
              </a:spcAft>
              <a:buSzPts val="2800"/>
              <a:buNone/>
              <a:defRPr/>
            </a:lvl1pPr>
            <a:lvl2pPr algn="l">
              <a:spcBef>
                <a:spcPts val="0"/>
              </a:spcBef>
              <a:spcAft>
                <a:spcPts val="0"/>
              </a:spcAft>
              <a:buSzPts val="2800"/>
              <a:buNone/>
              <a:defRPr/>
            </a:lvl2pPr>
            <a:lvl3pPr algn="l">
              <a:spcBef>
                <a:spcPts val="0"/>
              </a:spcBef>
              <a:spcAft>
                <a:spcPts val="0"/>
              </a:spcAft>
              <a:buSzPts val="2800"/>
              <a:buNone/>
              <a:defRPr/>
            </a:lvl3pPr>
            <a:lvl4pPr algn="l">
              <a:spcBef>
                <a:spcPts val="0"/>
              </a:spcBef>
              <a:spcAft>
                <a:spcPts val="0"/>
              </a:spcAft>
              <a:buSzPts val="2800"/>
              <a:buNone/>
              <a:defRPr/>
            </a:lvl4pPr>
            <a:lvl5pPr algn="l">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34" name="Google Shape;34;p26">
            <a:extLst xmlns:a="http://schemas.openxmlformats.org/drawingml/2006/main">
              <a:ext uri="{FF2B5EF4-FFF2-40B4-BE49-F238E27FC236}">
                <a16:creationId xmlns:a16="http://schemas.microsoft.com/office/drawing/2014/main" id="{151F4382-2723-43D2-9A0D-F436CFD967BF}"/>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36" name="Google Shape;36;p27">
            <a:extLst xmlns:a="http://schemas.openxmlformats.org/drawingml/2006/main">
              <a:ext uri="{FF2B5EF4-FFF2-40B4-BE49-F238E27FC236}">
                <a16:creationId xmlns:a16="http://schemas.microsoft.com/office/drawing/2014/main" id="{94C03FE4-EA33-4D3A-B15F-78263522136E}"/>
              </a:ext>
            </a:extLst>
          </p:cNvPr>
          <p:cNvSpPr>
            <a:spLocks xmlns:a="http://schemas.openxmlformats.org/drawingml/2006/main" noGrp="1"/>
          </p:cNvSpPr>
          <p:nvPr>
            <p:ph type="title" idx="0"/>
          </p:nvPr>
        </p:nvSpPr>
        <p:spPr>
          <a:xfrm xmlns:a="http://schemas.openxmlformats.org/drawingml/2006/main">
            <a:off x="311700" y="593367"/>
            <a:ext cx="8520600" cy="7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spcBef>
                <a:spcPts val="0"/>
              </a:spcBef>
              <a:spcAft>
                <a:spcPts val="0"/>
              </a:spcAft>
              <a:buSzPts val="2800"/>
              <a:buNone/>
              <a:defRPr/>
            </a:lvl1pPr>
            <a:lvl2pPr algn="l">
              <a:spcBef>
                <a:spcPts val="0"/>
              </a:spcBef>
              <a:spcAft>
                <a:spcPts val="0"/>
              </a:spcAft>
              <a:buSzPts val="2800"/>
              <a:buNone/>
              <a:defRPr/>
            </a:lvl2pPr>
            <a:lvl3pPr algn="l">
              <a:spcBef>
                <a:spcPts val="0"/>
              </a:spcBef>
              <a:spcAft>
                <a:spcPts val="0"/>
              </a:spcAft>
              <a:buSzPts val="2800"/>
              <a:buNone/>
              <a:defRPr/>
            </a:lvl3pPr>
            <a:lvl4pPr algn="l">
              <a:spcBef>
                <a:spcPts val="0"/>
              </a:spcBef>
              <a:spcAft>
                <a:spcPts val="0"/>
              </a:spcAft>
              <a:buSzPts val="2800"/>
              <a:buNone/>
              <a:defRPr/>
            </a:lvl4pPr>
            <a:lvl5pPr algn="l">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37" name="Google Shape;37;p27">
            <a:extLst xmlns:a="http://schemas.openxmlformats.org/drawingml/2006/main">
              <a:ext uri="{FF2B5EF4-FFF2-40B4-BE49-F238E27FC236}">
                <a16:creationId xmlns:a16="http://schemas.microsoft.com/office/drawing/2014/main" id="{A516A97E-4FB1-4783-9992-4D2BC4CFB98D}"/>
              </a:ext>
            </a:extLst>
          </p:cNvPr>
          <p:cNvSpPr>
            <a:spLocks xmlns:a="http://schemas.openxmlformats.org/drawingml/2006/main" noGrp="1"/>
          </p:cNvSpPr>
          <p:nvPr>
            <p:ph type="body" idx="1"/>
          </p:nvPr>
        </p:nvSpPr>
        <p:spPr>
          <a:xfrm xmlns:a="http://schemas.openxmlformats.org/drawingml/2006/main">
            <a:off x="311700" y="1536633"/>
            <a:ext cx="3999900" cy="455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spcBef>
                <a:spcPts val="0"/>
              </a:spcBef>
              <a:spcAft>
                <a:spcPts val="0"/>
              </a:spcAft>
              <a:buSzPts val="1400"/>
              <a:buChar char="●"/>
              <a:defRPr sz="1400"/>
            </a:lvl1pPr>
            <a:lvl2pPr marL="914400" indent="-304800" algn="l">
              <a:spcBef>
                <a:spcPts val="0"/>
              </a:spcBef>
              <a:spcAft>
                <a:spcPts val="0"/>
              </a:spcAft>
              <a:buSzPts val="1200"/>
              <a:buChar char="○"/>
              <a:defRPr sz="1200"/>
            </a:lvl2pPr>
            <a:lvl3pPr marL="1371600" indent="-304800" algn="l">
              <a:spcBef>
                <a:spcPts val="0"/>
              </a:spcBef>
              <a:spcAft>
                <a:spcPts val="0"/>
              </a:spcAft>
              <a:buSzPts val="1200"/>
              <a:buChar char="■"/>
              <a:defRPr sz="1200"/>
            </a:lvl3pPr>
            <a:lvl4pPr marL="1828800" indent="-304800" algn="l">
              <a:spcBef>
                <a:spcPts val="0"/>
              </a:spcBef>
              <a:spcAft>
                <a:spcPts val="0"/>
              </a:spcAft>
              <a:buSzPts val="1200"/>
              <a:buChar char="●"/>
              <a:defRPr sz="1200"/>
            </a:lvl4pPr>
            <a:lvl5pPr marL="2286000" indent="-304800" algn="l">
              <a:spcBef>
                <a:spcPts val="0"/>
              </a:spcBef>
              <a:spcAft>
                <a:spcPts val="0"/>
              </a:spcAft>
              <a:buSzPts val="1200"/>
              <a:buChar char="○"/>
              <a:defRPr sz="1200"/>
            </a:lvl5pPr>
            <a:lvl6pPr marL="2743200" indent="-304800" algn="l">
              <a:lnSpc>
                <a:spcPct val="100000"/>
              </a:lnSpc>
              <a:spcBef>
                <a:spcPts val="0"/>
              </a:spcBef>
              <a:spcAft>
                <a:spcPts val="0"/>
              </a:spcAft>
              <a:buSzPts val="1200"/>
              <a:buChar char="■"/>
              <a:defRPr sz="1200"/>
            </a:lvl6pPr>
            <a:lvl7pPr marL="3200400" indent="-304800" algn="l">
              <a:lnSpc>
                <a:spcPct val="100000"/>
              </a:lnSpc>
              <a:spcBef>
                <a:spcPts val="0"/>
              </a:spcBef>
              <a:spcAft>
                <a:spcPts val="0"/>
              </a:spcAft>
              <a:buSzPts val="1200"/>
              <a:buChar char="●"/>
              <a:defRPr sz="1200"/>
            </a:lvl7pPr>
            <a:lvl8pPr marL="3657600" indent="-304800" algn="l">
              <a:lnSpc>
                <a:spcPct val="100000"/>
              </a:lnSpc>
              <a:spcBef>
                <a:spcPts val="0"/>
              </a:spcBef>
              <a:spcAft>
                <a:spcPts val="0"/>
              </a:spcAft>
              <a:buSzPts val="1200"/>
              <a:buChar char="○"/>
              <a:defRPr sz="1200"/>
            </a:lvl8pPr>
            <a:lvl9pPr marL="4114800" indent="-304800" algn="l">
              <a:lnSpc>
                <a:spcPct val="100000"/>
              </a:lnSpc>
              <a:spcBef>
                <a:spcPts val="0"/>
              </a:spcBef>
              <a:spcAft>
                <a:spcPts val="0"/>
              </a:spcAft>
              <a:buSzPts val="1200"/>
              <a:buChar char="■"/>
              <a:defRPr sz="1200"/>
            </a:lvl9pPr>
          </a:lstStyle>
          <a:p xmlns:a="http://schemas.openxmlformats.org/drawingml/2006/main">
            <a:endParaRPr/>
          </a:p>
        </p:txBody>
      </p:sp>
      <p:sp>
        <p:nvSpPr>
          <p:cNvPr id="38" name="Google Shape;38;p27">
            <a:extLst xmlns:a="http://schemas.openxmlformats.org/drawingml/2006/main">
              <a:ext uri="{FF2B5EF4-FFF2-40B4-BE49-F238E27FC236}">
                <a16:creationId xmlns:a16="http://schemas.microsoft.com/office/drawing/2014/main" id="{3DB6D31A-4BC6-49EE-9A23-89168675C58A}"/>
              </a:ext>
            </a:extLst>
          </p:cNvPr>
          <p:cNvSpPr>
            <a:spLocks xmlns:a="http://schemas.openxmlformats.org/drawingml/2006/main" noGrp="1"/>
          </p:cNvSpPr>
          <p:nvPr>
            <p:ph type="body" idx="2"/>
          </p:nvPr>
        </p:nvSpPr>
        <p:spPr>
          <a:xfrm xmlns:a="http://schemas.openxmlformats.org/drawingml/2006/main">
            <a:off x="4832400" y="1536633"/>
            <a:ext cx="3999900" cy="455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spcBef>
                <a:spcPts val="0"/>
              </a:spcBef>
              <a:spcAft>
                <a:spcPts val="0"/>
              </a:spcAft>
              <a:buSzPts val="1400"/>
              <a:buChar char="●"/>
              <a:defRPr sz="1400"/>
            </a:lvl1pPr>
            <a:lvl2pPr marL="914400" indent="-304800" algn="l">
              <a:spcBef>
                <a:spcPts val="0"/>
              </a:spcBef>
              <a:spcAft>
                <a:spcPts val="0"/>
              </a:spcAft>
              <a:buSzPts val="1200"/>
              <a:buChar char="○"/>
              <a:defRPr sz="1200"/>
            </a:lvl2pPr>
            <a:lvl3pPr marL="1371600" indent="-304800" algn="l">
              <a:spcBef>
                <a:spcPts val="0"/>
              </a:spcBef>
              <a:spcAft>
                <a:spcPts val="0"/>
              </a:spcAft>
              <a:buSzPts val="1200"/>
              <a:buChar char="■"/>
              <a:defRPr sz="1200"/>
            </a:lvl3pPr>
            <a:lvl4pPr marL="1828800" indent="-304800" algn="l">
              <a:spcBef>
                <a:spcPts val="0"/>
              </a:spcBef>
              <a:spcAft>
                <a:spcPts val="0"/>
              </a:spcAft>
              <a:buSzPts val="1200"/>
              <a:buChar char="●"/>
              <a:defRPr sz="1200"/>
            </a:lvl4pPr>
            <a:lvl5pPr marL="2286000" indent="-304800" algn="l">
              <a:spcBef>
                <a:spcPts val="0"/>
              </a:spcBef>
              <a:spcAft>
                <a:spcPts val="0"/>
              </a:spcAft>
              <a:buSzPts val="1200"/>
              <a:buChar char="○"/>
              <a:defRPr sz="1200"/>
            </a:lvl5pPr>
            <a:lvl6pPr marL="2743200" indent="-304800" algn="l">
              <a:lnSpc>
                <a:spcPct val="100000"/>
              </a:lnSpc>
              <a:spcBef>
                <a:spcPts val="0"/>
              </a:spcBef>
              <a:spcAft>
                <a:spcPts val="0"/>
              </a:spcAft>
              <a:buSzPts val="1200"/>
              <a:buChar char="■"/>
              <a:defRPr sz="1200"/>
            </a:lvl6pPr>
            <a:lvl7pPr marL="3200400" indent="-304800" algn="l">
              <a:lnSpc>
                <a:spcPct val="100000"/>
              </a:lnSpc>
              <a:spcBef>
                <a:spcPts val="0"/>
              </a:spcBef>
              <a:spcAft>
                <a:spcPts val="0"/>
              </a:spcAft>
              <a:buSzPts val="1200"/>
              <a:buChar char="●"/>
              <a:defRPr sz="1200"/>
            </a:lvl7pPr>
            <a:lvl8pPr marL="3657600" indent="-304800" algn="l">
              <a:lnSpc>
                <a:spcPct val="100000"/>
              </a:lnSpc>
              <a:spcBef>
                <a:spcPts val="0"/>
              </a:spcBef>
              <a:spcAft>
                <a:spcPts val="0"/>
              </a:spcAft>
              <a:buSzPts val="1200"/>
              <a:buChar char="○"/>
              <a:defRPr sz="1200"/>
            </a:lvl8pPr>
            <a:lvl9pPr marL="4114800" indent="-304800" algn="l">
              <a:lnSpc>
                <a:spcPct val="100000"/>
              </a:lnSpc>
              <a:spcBef>
                <a:spcPts val="0"/>
              </a:spcBef>
              <a:spcAft>
                <a:spcPts val="0"/>
              </a:spcAft>
              <a:buSzPts val="1200"/>
              <a:buChar char="■"/>
              <a:defRPr sz="1200"/>
            </a:lvl9pPr>
          </a:lstStyle>
          <a:p xmlns:a="http://schemas.openxmlformats.org/drawingml/2006/main">
            <a:endParaRPr/>
          </a:p>
        </p:txBody>
      </p:sp>
      <p:sp>
        <p:nvSpPr>
          <p:cNvPr id="39" name="Google Shape;39;p27">
            <a:extLst xmlns:a="http://schemas.openxmlformats.org/drawingml/2006/main">
              <a:ext uri="{FF2B5EF4-FFF2-40B4-BE49-F238E27FC236}">
                <a16:creationId xmlns:a16="http://schemas.microsoft.com/office/drawing/2014/main" id="{D2E295CE-5952-44FD-ACBF-24BDA2DE06B8}"/>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41" name="Google Shape;41;p28">
            <a:extLst xmlns:a="http://schemas.openxmlformats.org/drawingml/2006/main">
              <a:ext uri="{FF2B5EF4-FFF2-40B4-BE49-F238E27FC236}">
                <a16:creationId xmlns:a16="http://schemas.microsoft.com/office/drawing/2014/main" id="{D9887563-64CF-4123-AF09-F4B217377DEC}"/>
              </a:ext>
            </a:extLst>
          </p:cNvPr>
          <p:cNvSpPr>
            <a:spLocks xmlns:a="http://schemas.openxmlformats.org/drawingml/2006/main" noGrp="1"/>
          </p:cNvSpPr>
          <p:nvPr>
            <p:ph type="title" idx="0"/>
          </p:nvPr>
        </p:nvSpPr>
        <p:spPr>
          <a:xfrm xmlns:a="http://schemas.openxmlformats.org/drawingml/2006/main">
            <a:off x="311700" y="593367"/>
            <a:ext cx="8520600" cy="7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spcBef>
                <a:spcPts val="0"/>
              </a:spcBef>
              <a:spcAft>
                <a:spcPts val="0"/>
              </a:spcAft>
              <a:buSzPts val="2800"/>
              <a:buNone/>
              <a:defRPr/>
            </a:lvl1pPr>
            <a:lvl2pPr algn="l">
              <a:spcBef>
                <a:spcPts val="0"/>
              </a:spcBef>
              <a:spcAft>
                <a:spcPts val="0"/>
              </a:spcAft>
              <a:buSzPts val="2800"/>
              <a:buNone/>
              <a:defRPr/>
            </a:lvl2pPr>
            <a:lvl3pPr algn="l">
              <a:spcBef>
                <a:spcPts val="0"/>
              </a:spcBef>
              <a:spcAft>
                <a:spcPts val="0"/>
              </a:spcAft>
              <a:buSzPts val="2800"/>
              <a:buNone/>
              <a:defRPr/>
            </a:lvl3pPr>
            <a:lvl4pPr algn="l">
              <a:spcBef>
                <a:spcPts val="0"/>
              </a:spcBef>
              <a:spcAft>
                <a:spcPts val="0"/>
              </a:spcAft>
              <a:buSzPts val="2800"/>
              <a:buNone/>
              <a:defRPr/>
            </a:lvl4pPr>
            <a:lvl5pPr algn="l">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42" name="Google Shape;42;p28">
            <a:extLst xmlns:a="http://schemas.openxmlformats.org/drawingml/2006/main">
              <a:ext uri="{FF2B5EF4-FFF2-40B4-BE49-F238E27FC236}">
                <a16:creationId xmlns:a16="http://schemas.microsoft.com/office/drawing/2014/main" id="{70F814D0-F72E-480D-BE2E-FE2E3EB16A90}"/>
              </a:ext>
            </a:extLst>
          </p:cNvPr>
          <p:cNvSpPr>
            <a:spLocks xmlns:a="http://schemas.openxmlformats.org/drawingml/2006/main" noGrp="1"/>
          </p:cNvSpPr>
          <p:nvPr>
            <p:ph type="body" idx="1"/>
          </p:nvPr>
        </p:nvSpPr>
        <p:spPr>
          <a:xfrm xmlns:a="http://schemas.openxmlformats.org/drawingml/2006/main">
            <a:off x="311700" y="1536633"/>
            <a:ext cx="8520600" cy="455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l">
              <a:spcBef>
                <a:spcPts val="0"/>
              </a:spcBef>
              <a:spcAft>
                <a:spcPts val="0"/>
              </a:spcAft>
              <a:buSzPts val="1800"/>
              <a:buChar char="●"/>
              <a:defRPr/>
            </a:lvl1pPr>
            <a:lvl2pPr marL="914400" indent="-317500" algn="l">
              <a:spcBef>
                <a:spcPts val="0"/>
              </a:spcBef>
              <a:spcAft>
                <a:spcPts val="0"/>
              </a:spcAft>
              <a:buSzPts val="1400"/>
              <a:buChar char="○"/>
              <a:defRPr/>
            </a:lvl2pPr>
            <a:lvl3pPr marL="1371600" indent="-317500" algn="l">
              <a:spcBef>
                <a:spcPts val="0"/>
              </a:spcBef>
              <a:spcAft>
                <a:spcPts val="0"/>
              </a:spcAft>
              <a:buSzPts val="1400"/>
              <a:buChar char="■"/>
              <a:defRPr/>
            </a:lvl3pPr>
            <a:lvl4pPr marL="1828800" indent="-317500" algn="l">
              <a:spcBef>
                <a:spcPts val="0"/>
              </a:spcBef>
              <a:spcAft>
                <a:spcPts val="0"/>
              </a:spcAft>
              <a:buSzPts val="1400"/>
              <a:buChar char="●"/>
              <a:defRPr/>
            </a:lvl4pPr>
            <a:lvl5pPr marL="2286000" indent="-317500" algn="l">
              <a:spcBef>
                <a:spcPts val="0"/>
              </a:spcBef>
              <a:spcAft>
                <a:spcPts val="0"/>
              </a:spcAft>
              <a:buSzPts val="1400"/>
              <a:buChar char="○"/>
              <a:defRPr/>
            </a:lvl5pPr>
            <a:lvl6pPr marL="2743200" indent="-317500" algn="l">
              <a:lnSpc>
                <a:spcPct val="100000"/>
              </a:lnSpc>
              <a:spcBef>
                <a:spcPts val="0"/>
              </a:spcBef>
              <a:spcAft>
                <a:spcPts val="0"/>
              </a:spcAft>
              <a:buSzPts val="1400"/>
              <a:buChar char="■"/>
              <a:defRPr/>
            </a:lvl6pPr>
            <a:lvl7pPr marL="3200400" indent="-317500" algn="l">
              <a:lnSpc>
                <a:spcPct val="100000"/>
              </a:lnSpc>
              <a:spcBef>
                <a:spcPts val="0"/>
              </a:spcBef>
              <a:spcAft>
                <a:spcPts val="0"/>
              </a:spcAft>
              <a:buSzPts val="1400"/>
              <a:buChar char="●"/>
              <a:defRPr/>
            </a:lvl7pPr>
            <a:lvl8pPr marL="3657600" indent="-317500" algn="l">
              <a:lnSpc>
                <a:spcPct val="100000"/>
              </a:lnSpc>
              <a:spcBef>
                <a:spcPts val="0"/>
              </a:spcBef>
              <a:spcAft>
                <a:spcPts val="0"/>
              </a:spcAft>
              <a:buSzPts val="1400"/>
              <a:buChar char="○"/>
              <a:defRPr/>
            </a:lvl8pPr>
            <a:lvl9pPr marL="4114800" indent="-317500" algn="l">
              <a:lnSpc>
                <a:spcPct val="100000"/>
              </a:lnSpc>
              <a:spcBef>
                <a:spcPts val="0"/>
              </a:spcBef>
              <a:spcAft>
                <a:spcPts val="0"/>
              </a:spcAft>
              <a:buSzPts val="1400"/>
              <a:buChar char="■"/>
              <a:defRPr/>
            </a:lvl9pPr>
          </a:lstStyle>
          <a:p xmlns:a="http://schemas.openxmlformats.org/drawingml/2006/main">
            <a:endParaRPr/>
          </a:p>
        </p:txBody>
      </p:sp>
      <p:sp>
        <p:nvSpPr>
          <p:cNvPr id="43" name="Google Shape;43;p28">
            <a:extLst xmlns:a="http://schemas.openxmlformats.org/drawingml/2006/main">
              <a:ext uri="{FF2B5EF4-FFF2-40B4-BE49-F238E27FC236}">
                <a16:creationId xmlns:a16="http://schemas.microsoft.com/office/drawing/2014/main" id="{F820956B-105E-4054-8C68-0C41410FE0F9}"/>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Section title and description">
  <p:cSld name="Section title and description">
    <p:spTree>
      <p:nvGrpSpPr>
        <p:cNvPr id="1" name=""/>
        <p:cNvGrpSpPr/>
        <p:nvPr/>
      </p:nvGrpSpPr>
      <p:grpSpPr>
        <a:xfrm xmlns:a="http://schemas.openxmlformats.org/drawingml/2006/main"/>
      </p:grpSpPr>
      <p:sp>
        <p:nvSpPr>
          <p:cNvPr id="50" name="Google Shape;50;p30">
            <a:extLst xmlns:a="http://schemas.openxmlformats.org/drawingml/2006/main">
              <a:ext uri="{FF2B5EF4-FFF2-40B4-BE49-F238E27FC236}">
                <a16:creationId xmlns:a16="http://schemas.microsoft.com/office/drawing/2014/main" id="{2FE12AD0-B76A-4C52-8A71-1617C3C8D846}"/>
              </a:ext>
            </a:extLst>
          </p:cNvPr>
          <p:cNvSpPr>
            <a:spLocks xmlns:a="http://schemas.openxmlformats.org/drawingml/2006/main" noGrp="1"/>
          </p:cNvSpPr>
          <p:nvPr>
            <p:ph type="title" idx="0"/>
          </p:nvPr>
        </p:nvSpPr>
        <p:spPr>
          <a:xfrm xmlns:a="http://schemas.openxmlformats.org/drawingml/2006/main">
            <a:off x="265500" y="1644233"/>
            <a:ext cx="4045200" cy="197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lnSpc>
                <a:spcPct val="100000"/>
              </a:lnSpc>
              <a:spcBef>
                <a:spcPts val="0"/>
              </a:spcBef>
              <a:spcAft>
                <a:spcPts val="0"/>
              </a:spcAft>
              <a:buSzPts val="4200"/>
              <a:buNone/>
              <a:defRPr sz="4200"/>
            </a:lvl6pPr>
            <a:lvl7pPr algn="ctr">
              <a:lnSpc>
                <a:spcPct val="100000"/>
              </a:lnSpc>
              <a:spcBef>
                <a:spcPts val="0"/>
              </a:spcBef>
              <a:spcAft>
                <a:spcPts val="0"/>
              </a:spcAft>
              <a:buSzPts val="4200"/>
              <a:buNone/>
              <a:defRPr sz="4200"/>
            </a:lvl7pPr>
            <a:lvl8pPr algn="ctr">
              <a:lnSpc>
                <a:spcPct val="100000"/>
              </a:lnSpc>
              <a:spcBef>
                <a:spcPts val="0"/>
              </a:spcBef>
              <a:spcAft>
                <a:spcPts val="0"/>
              </a:spcAft>
              <a:buSzPts val="4200"/>
              <a:buNone/>
              <a:defRPr sz="4200"/>
            </a:lvl8pPr>
            <a:lvl9pPr algn="ctr">
              <a:lnSpc>
                <a:spcPct val="100000"/>
              </a:lnSpc>
              <a:spcBef>
                <a:spcPts val="0"/>
              </a:spcBef>
              <a:spcAft>
                <a:spcPts val="0"/>
              </a:spcAft>
              <a:buSzPts val="4200"/>
              <a:buNone/>
              <a:defRPr sz="4200"/>
            </a:lvl9pPr>
          </a:lstStyle>
          <a:p xmlns:a="http://schemas.openxmlformats.org/drawingml/2006/main">
            <a:endParaRPr/>
          </a:p>
        </p:txBody>
      </p:sp>
      <p:sp>
        <p:nvSpPr>
          <p:cNvPr id="51" name="Google Shape;51;p30">
            <a:extLst xmlns:a="http://schemas.openxmlformats.org/drawingml/2006/main">
              <a:ext uri="{FF2B5EF4-FFF2-40B4-BE49-F238E27FC236}">
                <a16:creationId xmlns:a16="http://schemas.microsoft.com/office/drawing/2014/main" id="{BA62FE3D-6FD1-409A-B6A8-BF71EA6D5D13}"/>
              </a:ext>
            </a:extLst>
          </p:cNvPr>
          <p:cNvSpPr>
            <a:spLocks xmlns:a="http://schemas.openxmlformats.org/drawingml/2006/main" noGrp="1"/>
          </p:cNvSpPr>
          <p:nvPr>
            <p:ph type="subTitle" idx="1"/>
          </p:nvPr>
        </p:nvSpPr>
        <p:spPr>
          <a:xfrm xmlns:a="http://schemas.openxmlformats.org/drawingml/2006/main">
            <a:off x="265500" y="3737433"/>
            <a:ext cx="4045200" cy="164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a:endParaRPr/>
          </a:p>
        </p:txBody>
      </p:sp>
      <p:sp>
        <p:nvSpPr>
          <p:cNvPr id="52" name="Google Shape;52;p30">
            <a:extLst xmlns:a="http://schemas.openxmlformats.org/drawingml/2006/main">
              <a:ext uri="{FF2B5EF4-FFF2-40B4-BE49-F238E27FC236}">
                <a16:creationId xmlns:a16="http://schemas.microsoft.com/office/drawing/2014/main" id="{F798C3D7-4673-43EF-AEC1-5379DD7DB3F6}"/>
              </a:ext>
            </a:extLst>
          </p:cNvPr>
          <p:cNvSpPr>
            <a:spLocks xmlns:a="http://schemas.openxmlformats.org/drawingml/2006/main" noGrp="1"/>
          </p:cNvSpPr>
          <p:nvPr>
            <p:ph type="body" idx="2"/>
          </p:nvPr>
        </p:nvSpPr>
        <p:spPr>
          <a:xfrm xmlns:a="http://schemas.openxmlformats.org/drawingml/2006/main">
            <a:off x="4939500" y="965433"/>
            <a:ext cx="3837000" cy="4926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342900" algn="l">
              <a:spcBef>
                <a:spcPts val="0"/>
              </a:spcBef>
              <a:spcAft>
                <a:spcPts val="0"/>
              </a:spcAft>
              <a:buSzPts val="1800"/>
              <a:buChar char="●"/>
              <a:defRPr/>
            </a:lvl1pPr>
            <a:lvl2pPr marL="914400" indent="-317500" algn="l">
              <a:spcBef>
                <a:spcPts val="0"/>
              </a:spcBef>
              <a:spcAft>
                <a:spcPts val="0"/>
              </a:spcAft>
              <a:buSzPts val="1400"/>
              <a:buChar char="○"/>
              <a:defRPr/>
            </a:lvl2pPr>
            <a:lvl3pPr marL="1371600" indent="-317500" algn="l">
              <a:spcBef>
                <a:spcPts val="0"/>
              </a:spcBef>
              <a:spcAft>
                <a:spcPts val="0"/>
              </a:spcAft>
              <a:buSzPts val="1400"/>
              <a:buChar char="■"/>
              <a:defRPr/>
            </a:lvl3pPr>
            <a:lvl4pPr marL="1828800" indent="-317500" algn="l">
              <a:spcBef>
                <a:spcPts val="0"/>
              </a:spcBef>
              <a:spcAft>
                <a:spcPts val="0"/>
              </a:spcAft>
              <a:buSzPts val="1400"/>
              <a:buChar char="●"/>
              <a:defRPr/>
            </a:lvl4pPr>
            <a:lvl5pPr marL="2286000" indent="-317500" algn="l">
              <a:spcBef>
                <a:spcPts val="0"/>
              </a:spcBef>
              <a:spcAft>
                <a:spcPts val="0"/>
              </a:spcAft>
              <a:buSzPts val="1400"/>
              <a:buChar char="○"/>
              <a:defRPr/>
            </a:lvl5pPr>
            <a:lvl6pPr marL="2743200" indent="-317500" algn="l">
              <a:lnSpc>
                <a:spcPct val="100000"/>
              </a:lnSpc>
              <a:spcBef>
                <a:spcPts val="0"/>
              </a:spcBef>
              <a:spcAft>
                <a:spcPts val="0"/>
              </a:spcAft>
              <a:buSzPts val="1400"/>
              <a:buChar char="■"/>
              <a:defRPr/>
            </a:lvl6pPr>
            <a:lvl7pPr marL="3200400" indent="-317500" algn="l">
              <a:lnSpc>
                <a:spcPct val="100000"/>
              </a:lnSpc>
              <a:spcBef>
                <a:spcPts val="0"/>
              </a:spcBef>
              <a:spcAft>
                <a:spcPts val="0"/>
              </a:spcAft>
              <a:buSzPts val="1400"/>
              <a:buChar char="●"/>
              <a:defRPr/>
            </a:lvl7pPr>
            <a:lvl8pPr marL="3657600" indent="-317500" algn="l">
              <a:lnSpc>
                <a:spcPct val="100000"/>
              </a:lnSpc>
              <a:spcBef>
                <a:spcPts val="0"/>
              </a:spcBef>
              <a:spcAft>
                <a:spcPts val="0"/>
              </a:spcAft>
              <a:buSzPts val="1400"/>
              <a:buChar char="○"/>
              <a:defRPr/>
            </a:lvl8pPr>
            <a:lvl9pPr marL="4114800" indent="-317500" algn="l">
              <a:lnSpc>
                <a:spcPct val="100000"/>
              </a:lnSpc>
              <a:spcBef>
                <a:spcPts val="0"/>
              </a:spcBef>
              <a:spcAft>
                <a:spcPts val="0"/>
              </a:spcAft>
              <a:buSzPts val="1400"/>
              <a:buChar char="■"/>
              <a:defRPr/>
            </a:lvl9pPr>
          </a:lstStyle>
          <a:p xmlns:a="http://schemas.openxmlformats.org/drawingml/2006/main">
            <a:endParaRPr/>
          </a:p>
        </p:txBody>
      </p:sp>
      <p:sp>
        <p:nvSpPr>
          <p:cNvPr id="53" name="Google Shape;53;p30">
            <a:extLst xmlns:a="http://schemas.openxmlformats.org/drawingml/2006/main">
              <a:ext uri="{FF2B5EF4-FFF2-40B4-BE49-F238E27FC236}">
                <a16:creationId xmlns:a16="http://schemas.microsoft.com/office/drawing/2014/main" id="{F27FB3B2-40DF-4FFC-B435-4924FB3EE339}"/>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74df10ad2824c62" /><Relationship Type="http://schemas.openxmlformats.org/officeDocument/2006/relationships/slideLayout" Target="/ppt/slideLayouts/slideLayout1.xml" Id="Rc00526479eb94617" /><Relationship Type="http://schemas.openxmlformats.org/officeDocument/2006/relationships/slideLayout" Target="/ppt/slideLayouts/slideLayout2.xml" Id="Reb2672e97fb64557" /><Relationship Type="http://schemas.openxmlformats.org/officeDocument/2006/relationships/slideLayout" Target="/ppt/slideLayouts/slideLayout3.xml" Id="R04ff516691094bfb" /><Relationship Type="http://schemas.openxmlformats.org/officeDocument/2006/relationships/slideLayout" Target="/ppt/slideLayouts/slideLayout4.xml" Id="R9794e9f961db4b58" /><Relationship Type="http://schemas.openxmlformats.org/officeDocument/2006/relationships/slideLayout" Target="/ppt/slideLayouts/slideLayout5.xml" Id="R1da35f467c454d30" /><Relationship Type="http://schemas.openxmlformats.org/officeDocument/2006/relationships/slideLayout" Target="/ppt/slideLayouts/slideLayout6.xml" Id="R42f80eebf3f14b47" /><Relationship Type="http://schemas.openxmlformats.org/officeDocument/2006/relationships/slideLayout" Target="/ppt/slideLayouts/slideLayout7.xml" Id="R9e007c911b544a90" /><Relationship Type="http://schemas.openxmlformats.org/officeDocument/2006/relationships/slideLayout" Target="/ppt/slideLayouts/slideLayout8.xml" Id="R0d6643e69014446c" /><Relationship Type="http://schemas.openxmlformats.org/officeDocument/2006/relationships/slideLayout" Target="/ppt/slideLayouts/slideLayout9.xml" Id="Rd1e37b8d105a48e5" /><Relationship Type="http://schemas.openxmlformats.org/officeDocument/2006/relationships/slideLayout" Target="/ppt/slideLayouts/slideLayout10.xml" Id="Rb96043b76cb04957"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760b2f796e7f4852" /><Relationship Type="http://schemas.openxmlformats.org/officeDocument/2006/relationships/slideLayout" Target="/ppt/slideLayouts/slideLayout11.xml" Id="Rd395b1b955554101"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8">
            <a:extLst xmlns:a="http://schemas.openxmlformats.org/drawingml/2006/main">
              <a:ext uri="{FF2B5EF4-FFF2-40B4-BE49-F238E27FC236}">
                <a16:creationId xmlns:a16="http://schemas.microsoft.com/office/drawing/2014/main" id="{18CF8568-4456-499B-B6ED-C829390A30B6}"/>
              </a:ext>
            </a:extLst>
          </p:cNvPr>
          <p:cNvSpPr>
            <a:spLocks xmlns:a="http://schemas.openxmlformats.org/drawingml/2006/main" noGrp="1"/>
          </p:cNvSpPr>
          <p:nvPr>
            <p:ph type="title" idx="0"/>
          </p:nvPr>
        </p:nvSpPr>
        <p:spPr>
          <a:xfrm xmlns:a="http://schemas.openxmlformats.org/drawingml/2006/main">
            <a:off x="311150" y="593725"/>
            <a:ext cx="8521700" cy="7635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R="0" algn="l">
              <a:spcBef>
                <a:spcPts val="0"/>
              </a:spcBef>
              <a:spcAft>
                <a:spcPts val="0"/>
              </a:spcAft>
              <a:buSzPts val="1400"/>
              <a:buNone/>
              <a:defRPr sz="1400" b="0" i="0" u="none" cap="none">
                <a:solidFill>
                  <a:srgbClr val="000000"/>
                </a:solidFill>
                <a:latin typeface="Arial"/>
                <a:ea typeface="Arial"/>
                <a:cs typeface="Arial"/>
              </a:defRPr>
            </a:lvl1pPr>
            <a:lvl2pPr marR="0" algn="l">
              <a:spcBef>
                <a:spcPts val="0"/>
              </a:spcBef>
              <a:spcAft>
                <a:spcPts val="0"/>
              </a:spcAft>
              <a:buSzPts val="1400"/>
              <a:buNone/>
              <a:defRPr sz="1400" b="0" i="0" u="none" cap="none">
                <a:solidFill>
                  <a:srgbClr val="000000"/>
                </a:solidFill>
                <a:latin typeface="Arial"/>
                <a:ea typeface="Arial"/>
                <a:cs typeface="Arial"/>
              </a:defRPr>
            </a:lvl2pPr>
            <a:lvl3pPr marR="0" algn="l">
              <a:spcBef>
                <a:spcPts val="0"/>
              </a:spcBef>
              <a:spcAft>
                <a:spcPts val="0"/>
              </a:spcAft>
              <a:buSzPts val="1400"/>
              <a:buNone/>
              <a:defRPr sz="1400" b="0" i="0" u="none" cap="none">
                <a:solidFill>
                  <a:srgbClr val="000000"/>
                </a:solidFill>
                <a:latin typeface="Arial"/>
                <a:ea typeface="Arial"/>
                <a:cs typeface="Arial"/>
              </a:defRPr>
            </a:lvl3pPr>
            <a:lvl4pPr marR="0" algn="l">
              <a:spcBef>
                <a:spcPts val="0"/>
              </a:spcBef>
              <a:spcAft>
                <a:spcPts val="0"/>
              </a:spcAft>
              <a:buSzPts val="1400"/>
              <a:buNone/>
              <a:defRPr sz="1400" b="0" i="0" u="none" cap="none">
                <a:solidFill>
                  <a:srgbClr val="000000"/>
                </a:solidFill>
                <a:latin typeface="Arial"/>
                <a:ea typeface="Arial"/>
                <a:cs typeface="Arial"/>
              </a:defRPr>
            </a:lvl4pPr>
            <a:lvl5pPr marR="0" algn="l">
              <a:spcBef>
                <a:spcPts val="0"/>
              </a:spcBef>
              <a:spcAft>
                <a:spcPts val="0"/>
              </a:spcAft>
              <a:buSzPts val="1400"/>
              <a:buNone/>
              <a:defRPr sz="1400" b="0" i="0" u="none" cap="none">
                <a:solidFill>
                  <a:srgbClr val="000000"/>
                </a:solidFill>
                <a:latin typeface="Arial"/>
                <a:ea typeface="Arial"/>
                <a:cs typeface="Arial"/>
              </a:defRPr>
            </a:lvl5pPr>
            <a:lvl6pPr marR="0" algn="l">
              <a:lnSpc>
                <a:spcPct val="100000"/>
              </a:lnSpc>
              <a:spcBef>
                <a:spcPts val="0"/>
              </a:spcBef>
              <a:spcAft>
                <a:spcPts val="0"/>
              </a:spcAft>
              <a:buSzPts val="1400"/>
              <a:buNone/>
              <a:defRPr sz="1400" b="0" i="0" u="none" cap="none">
                <a:solidFill>
                  <a:srgbClr val="000000"/>
                </a:solidFill>
                <a:latin typeface="Arial"/>
                <a:ea typeface="Arial"/>
                <a:cs typeface="Arial"/>
              </a:defRPr>
            </a:lvl6pPr>
            <a:lvl7pPr marR="0" algn="l">
              <a:lnSpc>
                <a:spcPct val="100000"/>
              </a:lnSpc>
              <a:spcBef>
                <a:spcPts val="0"/>
              </a:spcBef>
              <a:spcAft>
                <a:spcPts val="0"/>
              </a:spcAft>
              <a:buSzPts val="1400"/>
              <a:buNone/>
              <a:defRPr sz="1400" b="0" i="0" u="none" cap="none">
                <a:solidFill>
                  <a:srgbClr val="000000"/>
                </a:solidFill>
                <a:latin typeface="Arial"/>
                <a:ea typeface="Arial"/>
                <a:cs typeface="Arial"/>
              </a:defRPr>
            </a:lvl7pPr>
            <a:lvl8pPr marR="0" algn="l">
              <a:lnSpc>
                <a:spcPct val="100000"/>
              </a:lnSpc>
              <a:spcBef>
                <a:spcPts val="0"/>
              </a:spcBef>
              <a:spcAft>
                <a:spcPts val="0"/>
              </a:spcAft>
              <a:buSzPts val="1400"/>
              <a:buNone/>
              <a:defRPr sz="1400" b="0" i="0" u="none" cap="none">
                <a:solidFill>
                  <a:srgbClr val="000000"/>
                </a:solidFill>
                <a:latin typeface="Arial"/>
                <a:ea typeface="Arial"/>
                <a:cs typeface="Arial"/>
              </a:defRPr>
            </a:lvl8pPr>
            <a:lvl9pPr marR="0" algn="l">
              <a:lnSpc>
                <a:spcPct val="100000"/>
              </a:lnSpc>
              <a:spcBef>
                <a:spcPts val="0"/>
              </a:spcBef>
              <a:spcAft>
                <a:spcPts val="0"/>
              </a:spcAft>
              <a:buSzPts val="1400"/>
              <a:buNone/>
              <a:defRPr sz="1400" b="0" i="0" u="none" cap="none">
                <a:solidFill>
                  <a:srgbClr val="000000"/>
                </a:solidFill>
                <a:latin typeface="Arial"/>
                <a:ea typeface="Arial"/>
                <a:cs typeface="Arial"/>
              </a:defRPr>
            </a:lvl9pPr>
          </a:lstStyle>
          <a:p xmlns:a="http://schemas.openxmlformats.org/drawingml/2006/main">
            <a:endParaRPr/>
          </a:p>
        </p:txBody>
      </p:sp>
      <p:sp>
        <p:nvSpPr>
          <p:cNvPr id="7" name="Google Shape;7;p18">
            <a:extLst xmlns:a="http://schemas.openxmlformats.org/drawingml/2006/main">
              <a:ext uri="{FF2B5EF4-FFF2-40B4-BE49-F238E27FC236}">
                <a16:creationId xmlns:a16="http://schemas.microsoft.com/office/drawing/2014/main" id="{96E2DB09-594F-48F2-85A9-727B5B47092E}"/>
              </a:ext>
            </a:extLst>
          </p:cNvPr>
          <p:cNvSpPr>
            <a:spLocks xmlns:a="http://schemas.openxmlformats.org/drawingml/2006/main" noGrp="1"/>
          </p:cNvSpPr>
          <p:nvPr>
            <p:ph type="body" idx="1"/>
          </p:nvPr>
        </p:nvSpPr>
        <p:spPr>
          <a:xfrm xmlns:a="http://schemas.openxmlformats.org/drawingml/2006/main">
            <a:off x="311150" y="1536700"/>
            <a:ext cx="8521700" cy="45545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1pPr>
            <a:lvl2pPr marL="9144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2pPr>
            <a:lvl3pPr marL="13716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3pPr>
            <a:lvl4pPr marL="18288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4pPr>
            <a:lvl5pPr marL="22860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5pPr>
            <a:lvl6pPr marL="27432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6pPr>
            <a:lvl7pPr marL="32004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7pPr>
            <a:lvl8pPr marL="36576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8pPr>
            <a:lvl9pPr marL="41148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9pPr>
          </a:lstStyle>
          <a:p xmlns:a="http://schemas.openxmlformats.org/drawingml/2006/main">
            <a:endParaRPr/>
          </a:p>
        </p:txBody>
      </p:sp>
      <p:sp>
        <p:nvSpPr>
          <p:cNvPr id="8" name="Google Shape;8;p18">
            <a:extLst xmlns:a="http://schemas.openxmlformats.org/drawingml/2006/main">
              <a:ext uri="{FF2B5EF4-FFF2-40B4-BE49-F238E27FC236}">
                <a16:creationId xmlns:a16="http://schemas.microsoft.com/office/drawing/2014/main" id="{EC49F0F6-20BF-447F-AE13-DC74D89E0157}"/>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cap="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c00526479eb94617"/>
    <p:sldLayoutId xmlns:r="http://schemas.openxmlformats.org/officeDocument/2006/relationships" id="2147483650" r:id="Reb2672e97fb64557"/>
    <p:sldLayoutId xmlns:r="http://schemas.openxmlformats.org/officeDocument/2006/relationships" id="2147483651" r:id="R04ff516691094bfb"/>
    <p:sldLayoutId xmlns:r="http://schemas.openxmlformats.org/officeDocument/2006/relationships" id="2147483652" r:id="R9794e9f961db4b58"/>
    <p:sldLayoutId xmlns:r="http://schemas.openxmlformats.org/officeDocument/2006/relationships" id="2147483653" r:id="R1da35f467c454d30"/>
    <p:sldLayoutId xmlns:r="http://schemas.openxmlformats.org/officeDocument/2006/relationships" id="2147483654" r:id="R42f80eebf3f14b47"/>
    <p:sldLayoutId xmlns:r="http://schemas.openxmlformats.org/officeDocument/2006/relationships" id="2147483655" r:id="R9e007c911b544a90"/>
    <p:sldLayoutId xmlns:r="http://schemas.openxmlformats.org/officeDocument/2006/relationships" id="2147483656" r:id="R0d6643e69014446c"/>
    <p:sldLayoutId xmlns:r="http://schemas.openxmlformats.org/officeDocument/2006/relationships" id="2147483657" r:id="Rd1e37b8d105a48e5"/>
    <p:sldLayoutId xmlns:r="http://schemas.openxmlformats.org/officeDocument/2006/relationships" id="2147483658" r:id="Rb96043b76cb04957"/>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45" name="Google Shape;45;p29">
            <a:extLst xmlns:a="http://schemas.openxmlformats.org/drawingml/2006/main">
              <a:ext uri="{FF2B5EF4-FFF2-40B4-BE49-F238E27FC236}">
                <a16:creationId xmlns:a16="http://schemas.microsoft.com/office/drawing/2014/main" id="{229040EF-3E2B-470A-A02F-B53CE217223B}"/>
              </a:ext>
            </a:extLst>
          </p:cNvPr>
          <p:cNvSpPr>
            <a:spLocks xmlns:a="http://schemas.openxmlformats.org/drawingml/2006/main" noGrp="1"/>
          </p:cNvSpPr>
          <p:nvPr/>
        </p:nvSpPr>
        <p:spPr>
          <a:xfrm xmlns:a="http://schemas.openxmlformats.org/drawingml/2006/main">
            <a:off x="4572000" y="0"/>
            <a:ext cx="4572000" cy="68580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None/>
            </a:pPr>
            <a:endParaRPr sz="1400" b="0" i="0" u="none">
              <a:solidFill>
                <a:srgbClr val="000000"/>
              </a:solidFill>
              <a:latin typeface="Arial"/>
              <a:ea typeface="Arial"/>
              <a:cs typeface="Arial"/>
            </a:endParaRPr>
          </a:p>
        </p:txBody>
      </p:sp>
      <p:sp>
        <p:nvSpPr>
          <p:cNvPr id="46" name="Google Shape;46;p29">
            <a:extLst xmlns:a="http://schemas.openxmlformats.org/drawingml/2006/main">
              <a:ext uri="{FF2B5EF4-FFF2-40B4-BE49-F238E27FC236}">
                <a16:creationId xmlns:a16="http://schemas.microsoft.com/office/drawing/2014/main" id="{3EFEF65C-2C57-4898-8AF0-1BD983BE87E2}"/>
              </a:ext>
            </a:extLst>
          </p:cNvPr>
          <p:cNvSpPr>
            <a:spLocks xmlns:a="http://schemas.openxmlformats.org/drawingml/2006/main" noGrp="1"/>
          </p:cNvSpPr>
          <p:nvPr>
            <p:ph type="title" idx="0"/>
          </p:nvPr>
        </p:nvSpPr>
        <p:spPr>
          <a:xfrm xmlns:a="http://schemas.openxmlformats.org/drawingml/2006/main">
            <a:off x="311150" y="593725"/>
            <a:ext cx="8521700" cy="7635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R="0" algn="l">
              <a:spcBef>
                <a:spcPts val="0"/>
              </a:spcBef>
              <a:spcAft>
                <a:spcPts val="0"/>
              </a:spcAft>
              <a:buSzPts val="1400"/>
              <a:buNone/>
              <a:defRPr sz="1400" b="0" i="0" u="none" cap="none">
                <a:solidFill>
                  <a:srgbClr val="000000"/>
                </a:solidFill>
                <a:latin typeface="Arial"/>
                <a:ea typeface="Arial"/>
                <a:cs typeface="Arial"/>
              </a:defRPr>
            </a:lvl1pPr>
            <a:lvl2pPr marR="0" algn="l">
              <a:spcBef>
                <a:spcPts val="0"/>
              </a:spcBef>
              <a:spcAft>
                <a:spcPts val="0"/>
              </a:spcAft>
              <a:buSzPts val="1400"/>
              <a:buNone/>
              <a:defRPr sz="1400" b="0" i="0" u="none" cap="none">
                <a:solidFill>
                  <a:srgbClr val="000000"/>
                </a:solidFill>
                <a:latin typeface="Arial"/>
                <a:ea typeface="Arial"/>
                <a:cs typeface="Arial"/>
              </a:defRPr>
            </a:lvl2pPr>
            <a:lvl3pPr marR="0" algn="l">
              <a:spcBef>
                <a:spcPts val="0"/>
              </a:spcBef>
              <a:spcAft>
                <a:spcPts val="0"/>
              </a:spcAft>
              <a:buSzPts val="1400"/>
              <a:buNone/>
              <a:defRPr sz="1400" b="0" i="0" u="none" cap="none">
                <a:solidFill>
                  <a:srgbClr val="000000"/>
                </a:solidFill>
                <a:latin typeface="Arial"/>
                <a:ea typeface="Arial"/>
                <a:cs typeface="Arial"/>
              </a:defRPr>
            </a:lvl3pPr>
            <a:lvl4pPr marR="0" algn="l">
              <a:spcBef>
                <a:spcPts val="0"/>
              </a:spcBef>
              <a:spcAft>
                <a:spcPts val="0"/>
              </a:spcAft>
              <a:buSzPts val="1400"/>
              <a:buNone/>
              <a:defRPr sz="1400" b="0" i="0" u="none" cap="none">
                <a:solidFill>
                  <a:srgbClr val="000000"/>
                </a:solidFill>
                <a:latin typeface="Arial"/>
                <a:ea typeface="Arial"/>
                <a:cs typeface="Arial"/>
              </a:defRPr>
            </a:lvl4pPr>
            <a:lvl5pPr marR="0" algn="l">
              <a:spcBef>
                <a:spcPts val="0"/>
              </a:spcBef>
              <a:spcAft>
                <a:spcPts val="0"/>
              </a:spcAft>
              <a:buSzPts val="1400"/>
              <a:buNone/>
              <a:defRPr sz="1400" b="0" i="0" u="none" cap="none">
                <a:solidFill>
                  <a:srgbClr val="000000"/>
                </a:solidFill>
                <a:latin typeface="Arial"/>
                <a:ea typeface="Arial"/>
                <a:cs typeface="Arial"/>
              </a:defRPr>
            </a:lvl5pPr>
            <a:lvl6pPr marR="0" algn="l">
              <a:lnSpc>
                <a:spcPct val="100000"/>
              </a:lnSpc>
              <a:spcBef>
                <a:spcPts val="0"/>
              </a:spcBef>
              <a:spcAft>
                <a:spcPts val="0"/>
              </a:spcAft>
              <a:buSzPts val="1400"/>
              <a:buNone/>
              <a:defRPr sz="1400" b="0" i="0" u="none" cap="none">
                <a:solidFill>
                  <a:srgbClr val="000000"/>
                </a:solidFill>
                <a:latin typeface="Arial"/>
                <a:ea typeface="Arial"/>
                <a:cs typeface="Arial"/>
              </a:defRPr>
            </a:lvl6pPr>
            <a:lvl7pPr marR="0" algn="l">
              <a:lnSpc>
                <a:spcPct val="100000"/>
              </a:lnSpc>
              <a:spcBef>
                <a:spcPts val="0"/>
              </a:spcBef>
              <a:spcAft>
                <a:spcPts val="0"/>
              </a:spcAft>
              <a:buSzPts val="1400"/>
              <a:buNone/>
              <a:defRPr sz="1400" b="0" i="0" u="none" cap="none">
                <a:solidFill>
                  <a:srgbClr val="000000"/>
                </a:solidFill>
                <a:latin typeface="Arial"/>
                <a:ea typeface="Arial"/>
                <a:cs typeface="Arial"/>
              </a:defRPr>
            </a:lvl7pPr>
            <a:lvl8pPr marR="0" algn="l">
              <a:lnSpc>
                <a:spcPct val="100000"/>
              </a:lnSpc>
              <a:spcBef>
                <a:spcPts val="0"/>
              </a:spcBef>
              <a:spcAft>
                <a:spcPts val="0"/>
              </a:spcAft>
              <a:buSzPts val="1400"/>
              <a:buNone/>
              <a:defRPr sz="1400" b="0" i="0" u="none" cap="none">
                <a:solidFill>
                  <a:srgbClr val="000000"/>
                </a:solidFill>
                <a:latin typeface="Arial"/>
                <a:ea typeface="Arial"/>
                <a:cs typeface="Arial"/>
              </a:defRPr>
            </a:lvl8pPr>
            <a:lvl9pPr marR="0" algn="l">
              <a:lnSpc>
                <a:spcPct val="100000"/>
              </a:lnSpc>
              <a:spcBef>
                <a:spcPts val="0"/>
              </a:spcBef>
              <a:spcAft>
                <a:spcPts val="0"/>
              </a:spcAft>
              <a:buSzPts val="1400"/>
              <a:buNone/>
              <a:defRPr sz="1400" b="0" i="0" u="none" cap="none">
                <a:solidFill>
                  <a:srgbClr val="000000"/>
                </a:solidFill>
                <a:latin typeface="Arial"/>
                <a:ea typeface="Arial"/>
                <a:cs typeface="Arial"/>
              </a:defRPr>
            </a:lvl9pPr>
          </a:lstStyle>
          <a:p xmlns:a="http://schemas.openxmlformats.org/drawingml/2006/main">
            <a:endParaRPr/>
          </a:p>
        </p:txBody>
      </p:sp>
      <p:sp>
        <p:nvSpPr>
          <p:cNvPr id="47" name="Google Shape;47;p29">
            <a:extLst xmlns:a="http://schemas.openxmlformats.org/drawingml/2006/main">
              <a:ext uri="{FF2B5EF4-FFF2-40B4-BE49-F238E27FC236}">
                <a16:creationId xmlns:a16="http://schemas.microsoft.com/office/drawing/2014/main" id="{408B09C0-7478-4D11-A0D9-86151EBCE355}"/>
              </a:ext>
            </a:extLst>
          </p:cNvPr>
          <p:cNvSpPr>
            <a:spLocks xmlns:a="http://schemas.openxmlformats.org/drawingml/2006/main" noGrp="1"/>
          </p:cNvSpPr>
          <p:nvPr>
            <p:ph type="body" idx="1"/>
          </p:nvPr>
        </p:nvSpPr>
        <p:spPr>
          <a:xfrm xmlns:a="http://schemas.openxmlformats.org/drawingml/2006/main">
            <a:off x="311150" y="1536700"/>
            <a:ext cx="8521700" cy="45545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L="4572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1pPr>
            <a:lvl2pPr marL="9144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2pPr>
            <a:lvl3pPr marL="13716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3pPr>
            <a:lvl4pPr marL="18288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4pPr>
            <a:lvl5pPr marL="2286000" marR="0" indent="-317500" algn="l">
              <a:spcBef>
                <a:spcPts val="0"/>
              </a:spcBef>
              <a:spcAft>
                <a:spcPts val="0"/>
              </a:spcAft>
              <a:buClr>
                <a:srgbClr val="000000"/>
              </a:buClr>
              <a:buSzPts val="1400"/>
              <a:buFont typeface="Arial"/>
              <a:buChar char="»"/>
              <a:defRPr sz="1400" b="0" i="0" u="none" cap="none">
                <a:solidFill>
                  <a:srgbClr val="000000"/>
                </a:solidFill>
                <a:latin typeface="Arial"/>
                <a:ea typeface="Arial"/>
                <a:cs typeface="Arial"/>
              </a:defRPr>
            </a:lvl5pPr>
            <a:lvl6pPr marL="27432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6pPr>
            <a:lvl7pPr marL="32004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7pPr>
            <a:lvl8pPr marL="36576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8pPr>
            <a:lvl9pPr marL="4114800" marR="0" indent="-228600" algn="l">
              <a:lnSpc>
                <a:spcPct val="100000"/>
              </a:lnSpc>
              <a:spcBef>
                <a:spcPts val="0"/>
              </a:spcBef>
              <a:spcAft>
                <a:spcPts val="0"/>
              </a:spcAft>
              <a:buSzPts val="1400"/>
              <a:buNone/>
              <a:defRPr sz="1400" b="0" i="0" u="none" cap="none">
                <a:solidFill>
                  <a:srgbClr val="000000"/>
                </a:solidFill>
                <a:latin typeface="Arial"/>
                <a:ea typeface="Arial"/>
                <a:cs typeface="Arial"/>
              </a:defRPr>
            </a:lvl9pPr>
          </a:lstStyle>
          <a:p xmlns:a="http://schemas.openxmlformats.org/drawingml/2006/main">
            <a:endParaRPr/>
          </a:p>
        </p:txBody>
      </p:sp>
      <p:sp>
        <p:nvSpPr>
          <p:cNvPr id="48" name="Google Shape;48;p29">
            <a:extLst xmlns:a="http://schemas.openxmlformats.org/drawingml/2006/main">
              <a:ext uri="{FF2B5EF4-FFF2-40B4-BE49-F238E27FC236}">
                <a16:creationId xmlns:a16="http://schemas.microsoft.com/office/drawing/2014/main" id="{E79233F5-8B5E-4059-BF9C-6FCA5FEF96EE}"/>
              </a:ext>
            </a:extLst>
          </p:cNvPr>
          <p:cNvSpPr>
            <a:spLocks xmlns:a="http://schemas.openxmlformats.org/drawingml/2006/main" noGrp="1"/>
          </p:cNvSpPr>
          <p:nvPr>
            <p:ph type="sldNum" idx="12"/>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lvl1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1pPr>
            <a:lvl2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2pPr>
            <a:lvl3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3pPr>
            <a:lvl4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4pPr>
            <a:lvl5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5pPr>
            <a:lvl6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6pPr>
            <a:lvl7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7pPr>
            <a:lvl8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8pPr>
            <a:lvl9pPr marL="0" marR="0" indent="0" algn="r">
              <a:lnSpc>
                <a:spcPct val="100000"/>
              </a:lnSpc>
              <a:spcBef>
                <a:spcPts val="0"/>
              </a:spcBef>
              <a:spcAft>
                <a:spcPts val="0"/>
              </a:spcAft>
              <a:buClr>
                <a:srgbClr val="595959"/>
              </a:buClr>
              <a:buSzPts val="1000"/>
              <a:buFont typeface="Arial"/>
              <a:buNone/>
              <a:defRPr sz="1000" b="0" i="0" u="none">
                <a:solidFill>
                  <a:srgbClr val="595959"/>
                </a:solidFill>
                <a:latin typeface="Arial"/>
                <a:ea typeface="Arial"/>
                <a:cs typeface="Arial"/>
              </a:defRPr>
            </a:lvl9pPr>
          </a:lstStyle>
          <a:p xmlns:a="http://schemas.openxmlformats.org/drawingml/2006/main">
            <a:pPr marL="0" lvl="0" indent="0" algn="r">
              <a:spcBef>
                <a:spcPts val="0"/>
              </a:spcBef>
              <a:spcAft>
                <a:spcPts val="0"/>
              </a:spcAft>
              <a:buNone/>
            </a:pPr>
            <a:fld id="{00000000-1234-1234-1234-123412341234}" type="slidenum">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60" r:id="Rd395b1b955554101"/>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c81d19e23504118" /><Relationship Type="http://schemas.openxmlformats.org/officeDocument/2006/relationships/image" Target="/ppt/media/image.png" Id="R6dcfef95c0624cbc" /><Relationship Type="http://schemas.openxmlformats.org/officeDocument/2006/relationships/image" Target="/ppt/media/image2.png" Id="Rf088aa2ebf184606" /><Relationship Type="http://schemas.openxmlformats.org/officeDocument/2006/relationships/notesSlide" Target="/ppt/notesSlides/notesSlide1.xml" Id="Rfaa223b5f51a40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f9bdb7a311824ccb" /><Relationship Type="http://schemas.openxmlformats.org/officeDocument/2006/relationships/notesSlide" Target="/ppt/notesSlides/notesSlide2.xml" Id="R79a297bbb03f47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00e9e23b50d94090" /><Relationship Type="http://schemas.openxmlformats.org/officeDocument/2006/relationships/notesSlide" Target="/ppt/notesSlides/notesSlide3.xml" Id="R7058a34e3fe24d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037b20166de5463f" /><Relationship Type="http://schemas.openxmlformats.org/officeDocument/2006/relationships/notesSlide" Target="/ppt/notesSlides/notesSlide4.xml" Id="R96cdaa47f9104124"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bffb2f5e6e054320" /><Relationship Type="http://schemas.openxmlformats.org/officeDocument/2006/relationships/notesSlide" Target="/ppt/notesSlides/notesSlide5.xml" Id="R8295d5c8fb184e18"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26cacd5fd95a4e92" /><Relationship Type="http://schemas.openxmlformats.org/officeDocument/2006/relationships/notesSlide" Target="/ppt/notesSlides/notesSlide6.xml" Id="R174e8c00c55f40fd"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38d172e13c5843df" /><Relationship Type="http://schemas.openxmlformats.org/officeDocument/2006/relationships/notesSlide" Target="/ppt/notesSlides/notesSlide7.xml" Id="R68756164148a4c6c"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d46aa4b7c41c4c32" /><Relationship Type="http://schemas.openxmlformats.org/officeDocument/2006/relationships/notesSlide" Target="/ppt/notesSlides/notesSlide8.xml" Id="Rbfd68245a5f44698"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3e12b433264441a0" /><Relationship Type="http://schemas.openxmlformats.org/officeDocument/2006/relationships/notesSlide" Target="/ppt/notesSlides/notesSlide9.xml" Id="Rcf03601930f44b1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66a04089412b4eae" /><Relationship Type="http://schemas.openxmlformats.org/officeDocument/2006/relationships/notesSlide" Target="/ppt/notesSlides/notesSlide10.xml" Id="R1314b978a50748c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af5d097c2ad4488c" /><Relationship Type="http://schemas.openxmlformats.org/officeDocument/2006/relationships/notesSlide" Target="/ppt/notesSlides/notesSlide11.xml" Id="R380bba06d56f4fc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a63b77ecbfc14000" /><Relationship Type="http://schemas.openxmlformats.org/officeDocument/2006/relationships/notesSlide" Target="/ppt/notesSlides/notesSlide12.xml" Id="R7bc1392582b34ef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95901469b6b44742" /><Relationship Type="http://schemas.openxmlformats.org/officeDocument/2006/relationships/hyperlink" Target="https://doi.org/10.3390/en14030767" TargetMode="External" Id="R1245abc2e8874a6d" /><Relationship Type="http://schemas.openxmlformats.org/officeDocument/2006/relationships/hyperlink" Target="https://doi.org/10.3390/s23104845" TargetMode="External" Id="R6c042ce3590d4148" /><Relationship Type="http://schemas.openxmlformats.org/officeDocument/2006/relationships/hyperlink" Target="https://doi.org/10.3390/inventions11020029" TargetMode="External" Id="R8e0b6fa2f26e46f0" /><Relationship Type="http://schemas.openxmlformats.org/officeDocument/2006/relationships/hyperlink" Target="https://doi.org/10.3390/en19081883" TargetMode="External" Id="R0f8c6f3862864a8d" /><Relationship Type="http://schemas.openxmlformats.org/officeDocument/2006/relationships/hyperlink" Target="https://doi.org/10.3390/en19133131" TargetMode="External" Id="Ra840914ce02c4a7d" /><Relationship Type="http://schemas.openxmlformats.org/officeDocument/2006/relationships/hyperlink" Target="https://doi.org/10.3390/en14144074" TargetMode="External" Id="Rb6d962b939b94268" /><Relationship Type="http://schemas.openxmlformats.org/officeDocument/2006/relationships/hyperlink" Target="https://doi.org/10.1016/j.energy.2017.10.043" TargetMode="External" Id="R291bd379d62c41fd" /><Relationship Type="http://schemas.openxmlformats.org/officeDocument/2006/relationships/hyperlink" Target="https://doi.org/10.3390/en13071811" TargetMode="External" Id="Rb09c8dd904db40ec" /><Relationship Type="http://schemas.openxmlformats.org/officeDocument/2006/relationships/hyperlink" Target="https://doi.org/10.3390/en14041054" TargetMode="External" Id="R74c1828467714f5f" /><Relationship Type="http://schemas.openxmlformats.org/officeDocument/2006/relationships/hyperlink" Target="https://doi.org/10.3390/en14133733" TargetMode="External" Id="Rcd3f8db85dcc493e" /><Relationship Type="http://schemas.openxmlformats.org/officeDocument/2006/relationships/hyperlink" Target="https://doi.org/10.3390/en15218172" TargetMode="External" Id="R51861452113d41bb" /><Relationship Type="http://schemas.openxmlformats.org/officeDocument/2006/relationships/hyperlink" Target="https://doi.org/10.3390/en16145558" TargetMode="External" Id="Rf67d1f45ac124ee2" /><Relationship Type="http://schemas.openxmlformats.org/officeDocument/2006/relationships/hyperlink" Target="https://doi.org/10.3390/batteries9010043" TargetMode="External" Id="R15f751733aef4b90" /><Relationship Type="http://schemas.openxmlformats.org/officeDocument/2006/relationships/hyperlink" Target="https://doi.org/10.3390/electronics13214256" TargetMode="External" Id="R895a2888b7624cdf" /><Relationship Type="http://schemas.openxmlformats.org/officeDocument/2006/relationships/hyperlink" Target="https://doi.org/10.18618/REP.e202521" TargetMode="External" Id="Reac0f0a15e3c41a3" /><Relationship Type="http://schemas.openxmlformats.org/officeDocument/2006/relationships/hyperlink" Target="https://doi.org/10.1016/j.egyr.2020.11.030" TargetMode="External" Id="R7fd8663575d34d1b" /><Relationship Type="http://schemas.openxmlformats.org/officeDocument/2006/relationships/hyperlink" Target="https://doi.org/10.1049/stg2.12151" TargetMode="External" Id="Re1b6c65fcf2848e4" /><Relationship Type="http://schemas.openxmlformats.org/officeDocument/2006/relationships/hyperlink" Target="https://doi.org/10.3390/electronics10131562" TargetMode="External" Id="R9f5561de712144ed" /><Relationship Type="http://schemas.openxmlformats.org/officeDocument/2006/relationships/hyperlink" Target="https://doi.org/10.35784/iapgos.5320" TargetMode="External" Id="R488176625c7e4017" /><Relationship Type="http://schemas.openxmlformats.org/officeDocument/2006/relationships/hyperlink" Target="https://doi.org/10.3390/en16062912" TargetMode="External" Id="R33dab0e4d2194496" /><Relationship Type="http://schemas.openxmlformats.org/officeDocument/2006/relationships/notesSlide" Target="/ppt/notesSlides/notesSlide13.xml" Id="R0669b10a5083446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890b6f264f3640e5" /><Relationship Type="http://schemas.openxmlformats.org/officeDocument/2006/relationships/notesSlide" Target="/ppt/notesSlides/notesSlide14.xml" Id="Rb6488aa4fc554b0d" /></Relationships>
</file>

<file path=ppt/slides/slide1.xml><?xml version="1.0" encoding="utf-8"?>
<p:sld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58" name="Google Shape;58;p1">
            <a:extLst xmlns:a="http://schemas.openxmlformats.org/drawingml/2006/main">
              <a:ext uri="{FF2B5EF4-FFF2-40B4-BE49-F238E27FC236}">
                <a16:creationId xmlns:a16="http://schemas.microsoft.com/office/drawing/2014/main" id="{217E15F9-B27B-4093-8A1C-8AF1B7B5CFE5}"/>
              </a:ext>
            </a:extLst>
          </p:cNvPr>
          <p:cNvSpPr>
            <a:spLocks xmlns:a="http://schemas.openxmlformats.org/drawingml/2006/main" noGrp="1"/>
          </p:cNvSpPr>
          <p:nvPr/>
        </p:nvSpPr>
        <p:spPr>
          <a:xfrm xmlns:a="http://schemas.openxmlformats.org/drawingml/2006/main">
            <a:off x="0" y="0"/>
            <a:ext cx="9144000" cy="1293812"/>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lt1"/>
            </a:solidFill>
            <a:prstDash val="solid"/>
            <a:headEnd type="none" w="sm" len="sm"/>
            <a:tailEnd type="none" w="sm" len="sm"/>
          </a:ln>
          <a:effectLst xmlns:a="http://schemas.openxmlformats.org/drawingml/2006/main">
            <a:outerShdw blurRad="63500" dist="23000" dir="5400000">
              <a:srgbClr val="000000">
                <a:alpha val="34902"/>
              </a:srgbClr>
            </a:outerShdw>
          </a:effectLst>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algn="ctr">
              <a:buNone/>
              <a:defRPr sz="2100" b="1">
                <a:solidFill>
                  <a:srgbClr val="000000"/>
                </a:solidFill>
                <a:latin typeface="Times New Roman"/>
                <a:ea typeface="Times New Roman"/>
                <a:cs typeface="Times New Roman"/>
              </a:defRPr>
            </a:pPr>
            <a:r>
              <a:rPr sz="2100" b="1">
                <a:solidFill>
                  <a:srgbClr val="000000"/>
                </a:solidFill>
                <a:latin typeface="Times New Roman"/>
                <a:ea typeface="Times New Roman"/>
                <a:cs typeface="Times New Roman"/>
              </a:rPr>
              <a:t>KJEI’s, Trinity Academy of Engineering</a:t>
            </a:r>
          </a:p>
          <a:p xmlns:a="http://schemas.openxmlformats.org/drawingml/2006/main">
            <a:pPr algn="ctr">
              <a:buNone/>
              <a:defRPr sz="2100" b="1">
                <a:solidFill>
                  <a:srgbClr val="000000"/>
                </a:solidFill>
                <a:latin typeface="Times New Roman"/>
                <a:ea typeface="Times New Roman"/>
                <a:cs typeface="Times New Roman"/>
              </a:defRPr>
            </a:pPr>
            <a:r>
              <a:rPr sz="2100" b="1">
                <a:solidFill>
                  <a:srgbClr val="000000"/>
                </a:solidFill>
                <a:latin typeface="Times New Roman"/>
                <a:ea typeface="Times New Roman"/>
                <a:cs typeface="Times New Roman"/>
              </a:rPr>
              <a:t>Department of Electronics and</a:t>
            </a:r>
          </a:p>
          <a:p xmlns:a="http://schemas.openxmlformats.org/drawingml/2006/main">
            <a:pPr algn="ctr">
              <a:buNone/>
              <a:defRPr sz="2100" b="1">
                <a:solidFill>
                  <a:srgbClr val="000000"/>
                </a:solidFill>
                <a:latin typeface="Times New Roman"/>
                <a:ea typeface="Times New Roman"/>
                <a:cs typeface="Times New Roman"/>
              </a:defRPr>
            </a:pPr>
            <a:r>
              <a:rPr sz="2100" b="1">
                <a:solidFill>
                  <a:srgbClr val="000000"/>
                </a:solidFill>
                <a:latin typeface="Times New Roman"/>
                <a:ea typeface="Times New Roman"/>
                <a:cs typeface="Times New Roman"/>
              </a:rPr>
              <a:t>Telecommunication Engineering</a:t>
            </a:r>
          </a:p>
        </p:txBody>
      </p:sp>
      <p:sp>
        <p:nvSpPr>
          <p:cNvPr id="59" name="Google Shape;59;p1">
            <a:extLst xmlns:a="http://schemas.openxmlformats.org/drawingml/2006/main">
              <a:ext uri="{FF2B5EF4-FFF2-40B4-BE49-F238E27FC236}">
                <a16:creationId xmlns:a16="http://schemas.microsoft.com/office/drawing/2014/main" id="{11B71EAD-05C4-475D-8F42-605147331B54}"/>
              </a:ext>
            </a:extLst>
          </p:cNvPr>
          <p:cNvSpPr>
            <a:spLocks xmlns:a="http://schemas.openxmlformats.org/drawingml/2006/main" noGrp="1"/>
          </p:cNvSpPr>
          <p:nvPr/>
        </p:nvSpPr>
        <p:spPr>
          <a:xfrm xmlns:a="http://schemas.openxmlformats.org/drawingml/2006/main">
            <a:off x="190500" y="1438275"/>
            <a:ext cx="8763000" cy="933450"/>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63500" dist="23000" dir="5400000">
              <a:srgbClr val="000000">
                <a:alpha val="34902"/>
              </a:srgbClr>
            </a:outerShdw>
          </a:effectLst>
        </p:spPr>
        <p:txBody>
          <a:bodyPr xmlns:a="http://schemas.openxmlformats.org/drawingml/2006/main" spcFirstLastPara="1" wrap="square" lIns="47625" tIns="38100" rIns="47625" bIns="38100" anchor="t">
            <a:noAutofit/>
          </a:bodyPr>
          <a:lstStyle xmlns:a="http://schemas.openxmlformats.org/drawingml/2006/main"/>
          <a:p xmlns:a="http://schemas.openxmlformats.org/drawingml/2006/main">
            <a:pPr marL="60325" marR="0" lvl="0" indent="0" algn="ctr">
              <a:spcBef>
                <a:spcPts val="0"/>
              </a:spcBef>
              <a:spcAft>
                <a:spcPts val="0"/>
              </a:spcAft>
              <a:buClr>
                <a:srgbClr val="9F5900"/>
              </a:buClr>
              <a:buSzPts val="3600"/>
              <a:buFont typeface="Times New Roman"/>
              <a:buNone/>
              <a:defRPr sz="2700" b="1">
                <a:solidFill>
                  <a:srgbClr val="AA5500"/>
                </a:solidFill>
                <a:latin typeface="Times New Roman"/>
                <a:ea typeface="Times New Roman"/>
                <a:cs typeface="Times New Roman"/>
              </a:defRPr>
            </a:pPr>
            <a:r>
              <a:rPr sz="2700" b="1" i="0" u="none" cap="none">
                <a:solidFill>
                  <a:srgbClr val="AA5500"/>
                </a:solidFill>
                <a:latin typeface="Times New Roman"/>
                <a:ea typeface="Times New Roman"/>
                <a:cs typeface="Times New Roman"/>
              </a:rPr>
              <a:t>Academic Year 2026–27  Semester I</a:t>
            </a:r>
          </a:p>
          <a:p xmlns:a="http://schemas.openxmlformats.org/drawingml/2006/main">
            <a:pPr marL="60325" marR="0" lvl="0" indent="0" algn="ctr">
              <a:spcBef>
                <a:spcPts val="0"/>
              </a:spcBef>
              <a:spcAft>
                <a:spcPts val="0"/>
              </a:spcAft>
              <a:buClr>
                <a:srgbClr val="9F5900"/>
              </a:buClr>
              <a:buSzPts val="3600"/>
              <a:buFont typeface="Times New Roman"/>
              <a:buNone/>
              <a:defRPr sz="2700" b="1">
                <a:solidFill>
                  <a:srgbClr val="AA5500"/>
                </a:solidFill>
                <a:latin typeface="Times New Roman"/>
                <a:ea typeface="Times New Roman"/>
                <a:cs typeface="Times New Roman"/>
              </a:defRPr>
            </a:pPr>
            <a:r>
              <a:rPr sz="2700" b="1">
                <a:solidFill>
                  <a:srgbClr val="AA5500"/>
                </a:solidFill>
                <a:latin typeface="Times New Roman"/>
                <a:ea typeface="Times New Roman"/>
                <a:cs typeface="Times New Roman"/>
              </a:rPr>
              <a:t>Project Review 3</a:t>
            </a:r>
            <a:endParaRPr sz="3600" b="1" i="0" u="none" cap="none">
              <a:solidFill>
                <a:srgbClr val="9F5900"/>
              </a:solidFill>
              <a:latin typeface="Times New Roman"/>
              <a:ea typeface="Times New Roman"/>
              <a:cs typeface="Times New Roman"/>
            </a:endParaRPr>
          </a:p>
        </p:txBody>
      </p:sp>
      <p:sp>
        <p:nvSpPr>
          <p:cNvPr id="60" name="Google Shape;60;p1">
            <a:extLst xmlns:a="http://schemas.openxmlformats.org/drawingml/2006/main">
              <a:ext uri="{FF2B5EF4-FFF2-40B4-BE49-F238E27FC236}">
                <a16:creationId xmlns:a16="http://schemas.microsoft.com/office/drawing/2014/main" id="{3908B0E1-532D-4DD0-9358-3E8B37F247FC}"/>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AD75FED6-38D0-DE9C-92C0-6E7FA635581C}" type="slidenum">
              <a:rPr sz="975" b="0" i="0" u="none">
                <a:solidFill>
                  <a:srgbClr val="595959"/>
                </a:solidFill>
                <a:latin typeface="Arial"/>
                <a:ea typeface="Arial"/>
                <a:cs typeface="Arial"/>
              </a:rPr>
              <a:t>1</a:t>
            </a:fld>
            <a:endParaRPr/>
          </a:p>
        </p:txBody>
      </p:sp>
      <p:sp>
        <p:nvSpPr>
          <p:cNvPr id="61" name="Google Shape;61;p1">
            <a:extLst xmlns:a="http://schemas.openxmlformats.org/drawingml/2006/main">
              <a:ext uri="{FF2B5EF4-FFF2-40B4-BE49-F238E27FC236}">
                <a16:creationId xmlns:a16="http://schemas.microsoft.com/office/drawing/2014/main" id="{A1FD0763-03D3-4EBA-9B89-80CF78E810D8}"/>
              </a:ext>
            </a:extLst>
          </p:cNvPr>
          <p:cNvSpPr>
            <a:spLocks xmlns:a="http://schemas.openxmlformats.org/drawingml/2006/main" noGrp="1"/>
          </p:cNvSpPr>
          <p:nvPr/>
        </p:nvSpPr>
        <p:spPr>
          <a:xfrm xmlns:a="http://schemas.openxmlformats.org/drawingml/2006/main">
            <a:off x="552450" y="4362450"/>
            <a:ext cx="4857750" cy="2194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t">
            <a:noAutofit/>
          </a:bodyPr>
          <a:lstStyle xmlns:a="http://schemas.openxmlformats.org/drawingml/2006/main"/>
          <a:p xmlns:a="http://schemas.openxmlformats.org/drawingml/2006/main">
            <a:pPr marL="0" marR="0" lvl="2" indent="0" algn="l">
              <a:lnSpc>
                <a:spcPct val="150000"/>
              </a:lnSpc>
              <a:spcBef>
                <a:spcPts val="0"/>
              </a:spcBef>
              <a:spcAft>
                <a:spcPts val="0"/>
              </a:spcAft>
              <a:buClr>
                <a:schemeClr val="dk1"/>
              </a:buClr>
              <a:buSzPts val="2800"/>
              <a:buFont typeface="Times New Roman"/>
              <a:buNone/>
              <a:defRPr sz="2025" b="0">
                <a:solidFill>
                  <a:srgbClr val="000000"/>
                </a:solidFill>
                <a:latin typeface="Times New Roman"/>
                <a:ea typeface="Times New Roman"/>
                <a:cs typeface="Times New Roman"/>
              </a:defRPr>
            </a:pPr>
            <a:r>
              <a:rPr sz="2025" b="0" i="0" u="none" cap="none">
                <a:solidFill>
                  <a:srgbClr val="000000"/>
                </a:solidFill>
                <a:latin typeface="Times New Roman"/>
                <a:ea typeface="Times New Roman"/>
                <a:cs typeface="Times New Roman"/>
              </a:rPr>
              <a:t>Name of Students</a:t>
            </a:r>
            <a:endParaRPr/>
          </a:p>
          <a:p xmlns:a="http://schemas.openxmlformats.org/drawingml/2006/main">
            <a:pPr marL="0" marR="0" lvl="2" indent="0" algn="l">
              <a:lnSpc>
                <a:spcPct val="100000"/>
              </a:lnSpc>
              <a:spcBef>
                <a:spcPts val="0"/>
              </a:spcBef>
              <a:spcAft>
                <a:spcPts val="0"/>
              </a:spcAft>
              <a:buClr>
                <a:schemeClr val="dk1"/>
              </a:buClr>
              <a:buSzPts val="2400"/>
              <a:buFont typeface="Times New Roman"/>
              <a:buNone/>
              <a:defRPr sz="2025" b="0">
                <a:solidFill>
                  <a:srgbClr val="000000"/>
                </a:solidFill>
                <a:latin typeface="Times New Roman"/>
                <a:ea typeface="Times New Roman"/>
                <a:cs typeface="Times New Roman"/>
              </a:defRPr>
            </a:pPr>
            <a:r>
              <a:rPr sz="2025" b="0" i="0" u="none" cap="none">
                <a:solidFill>
                  <a:srgbClr val="000000"/>
                </a:solidFill>
                <a:latin typeface="Times New Roman"/>
                <a:ea typeface="Times New Roman"/>
                <a:cs typeface="Times New Roman"/>
              </a:rPr>
              <a:t>Dhanesh Chaudhari (4114)</a:t>
            </a:r>
            <a:endParaRPr/>
          </a:p>
          <a:p xmlns:a="http://schemas.openxmlformats.org/drawingml/2006/main">
            <a:pPr marL="0" marR="0" lvl="2" indent="0" algn="l">
              <a:lnSpc>
                <a:spcPct val="100000"/>
              </a:lnSpc>
              <a:spcBef>
                <a:spcPts val="0"/>
              </a:spcBef>
              <a:spcAft>
                <a:spcPts val="0"/>
              </a:spcAft>
              <a:buClr>
                <a:schemeClr val="dk1"/>
              </a:buClr>
              <a:buSzPts val="2400"/>
              <a:buFont typeface="Times New Roman"/>
              <a:buNone/>
              <a:defRPr sz="2025" b="0">
                <a:solidFill>
                  <a:srgbClr val="000000"/>
                </a:solidFill>
                <a:latin typeface="Times New Roman"/>
                <a:ea typeface="Times New Roman"/>
                <a:cs typeface="Times New Roman"/>
              </a:defRPr>
            </a:pPr>
            <a:r>
              <a:rPr sz="2025" b="0" i="0" u="none" cap="none">
                <a:solidFill>
                  <a:srgbClr val="000000"/>
                </a:solidFill>
                <a:latin typeface="Times New Roman"/>
                <a:ea typeface="Times New Roman"/>
                <a:cs typeface="Times New Roman"/>
              </a:rPr>
              <a:t>Yash Ahire (4101)</a:t>
            </a:r>
            <a:endParaRPr/>
          </a:p>
          <a:p xmlns:a="http://schemas.openxmlformats.org/drawingml/2006/main">
            <a:pPr marL="0" marR="0" lvl="2" indent="0" algn="l">
              <a:lnSpc>
                <a:spcPct val="100000"/>
              </a:lnSpc>
              <a:spcBef>
                <a:spcPts val="0"/>
              </a:spcBef>
              <a:spcAft>
                <a:spcPts val="0"/>
              </a:spcAft>
              <a:buClr>
                <a:schemeClr val="dk1"/>
              </a:buClr>
              <a:buSzPts val="2400"/>
              <a:buFont typeface="Times New Roman"/>
              <a:buNone/>
              <a:defRPr sz="2025" b="0">
                <a:solidFill>
                  <a:srgbClr val="000000"/>
                </a:solidFill>
                <a:latin typeface="Times New Roman"/>
                <a:ea typeface="Times New Roman"/>
                <a:cs typeface="Times New Roman"/>
              </a:defRPr>
            </a:pPr>
            <a:r>
              <a:rPr sz="2025" b="0" i="0" u="none" cap="none">
                <a:solidFill>
                  <a:srgbClr val="000000"/>
                </a:solidFill>
                <a:latin typeface="Times New Roman"/>
                <a:ea typeface="Times New Roman"/>
                <a:cs typeface="Times New Roman"/>
              </a:rPr>
              <a:t>Mrudula Pagar (4212)</a:t>
            </a:r>
            <a:endParaRPr/>
          </a:p>
          <a:p xmlns:a="http://schemas.openxmlformats.org/drawingml/2006/main">
            <a:pPr marL="0" marR="0" lvl="2" indent="0" algn="l">
              <a:lnSpc>
                <a:spcPct val="100000"/>
              </a:lnSpc>
              <a:spcBef>
                <a:spcPts val="0"/>
              </a:spcBef>
              <a:spcAft>
                <a:spcPts val="0"/>
              </a:spcAft>
              <a:buClr>
                <a:schemeClr val="dk1"/>
              </a:buClr>
              <a:buSzPts val="2400"/>
              <a:buFont typeface="Times New Roman"/>
              <a:buNone/>
              <a:defRPr sz="2025" b="0">
                <a:solidFill>
                  <a:srgbClr val="000000"/>
                </a:solidFill>
                <a:latin typeface="Times New Roman"/>
                <a:ea typeface="Times New Roman"/>
                <a:cs typeface="Times New Roman"/>
              </a:defRPr>
            </a:pPr>
            <a:r>
              <a:rPr sz="2025" b="0" i="0" u="none" cap="none">
                <a:solidFill>
                  <a:srgbClr val="000000"/>
                </a:solidFill>
                <a:latin typeface="Times New Roman"/>
                <a:ea typeface="Times New Roman"/>
                <a:cs typeface="Times New Roman"/>
              </a:rPr>
              <a:t>Ujjwal Kshirsagar (4154)</a:t>
            </a:r>
            <a:endParaRPr/>
          </a:p>
        </p:txBody>
      </p:sp>
      <p:sp>
        <p:nvSpPr>
          <p:cNvPr id="63" name="Google Shape;63;p1">
            <a:extLst xmlns:a="http://schemas.openxmlformats.org/drawingml/2006/main">
              <a:ext uri="{FF2B5EF4-FFF2-40B4-BE49-F238E27FC236}">
                <a16:creationId xmlns:a16="http://schemas.microsoft.com/office/drawing/2014/main" id="{F6286B5F-7E03-4A6A-BACF-D1A8B8BAC78C}"/>
              </a:ext>
            </a:extLst>
          </p:cNvPr>
          <p:cNvSpPr>
            <a:spLocks xmlns:a="http://schemas.openxmlformats.org/drawingml/2006/main" noGrp="1"/>
          </p:cNvSpPr>
          <p:nvPr/>
        </p:nvSpPr>
        <p:spPr>
          <a:xfrm xmlns:a="http://schemas.openxmlformats.org/drawingml/2006/main">
            <a:off x="7678737" y="265112"/>
            <a:ext cx="1343032" cy="763581"/>
          </a:xfrm>
          <a:custGeom xmlns:a="http://schemas.openxmlformats.org/drawingml/2006/main">
            <a:rect l="l" t="t" r="r" b="b"/>
            <a:pathLst>
              <a:path w="2354453" h="1591818">
                <a:moveTo>
                  <a:pt x="0" y="0"/>
                </a:moveTo>
                <a:lnTo>
                  <a:pt x="2354453" y="0"/>
                </a:lnTo>
                <a:lnTo>
                  <a:pt x="2354453" y="1591818"/>
                </a:lnTo>
                <a:lnTo>
                  <a:pt x="0" y="1591818"/>
                </a:lnTo>
                <a:lnTo>
                  <a:pt x="0" y="0"/>
                </a:lnTo>
                <a:close/>
              </a:path>
            </a:pathLst>
          </a:custGeom>
          <a:blipFill xmlns:a="http://schemas.openxmlformats.org/drawingml/2006/main" rotWithShape="1">
            <a:blip xmlns:r="http://schemas.openxmlformats.org/officeDocument/2006/relationships" r:embed="R6dcfef95c0624cbc">
              <a:alphaModFix/>
            </a:blip>
            <a:stretch>
              <a:fillRect l="0" t="-4120" r="0" b="-4121"/>
            </a:stretch>
          </a:blipFill>
          <a:ln xmlns:a="http://schemas.openxmlformats.org/drawingml/2006/main">
            <a:noFill/>
          </a:ln>
        </p:spPr>
      </p:sp>
      <p:sp>
        <p:nvSpPr>
          <p:cNvPr id="64" name="Google Shape;64;p1">
            <a:extLst xmlns:a="http://schemas.openxmlformats.org/drawingml/2006/main">
              <a:ext uri="{FF2B5EF4-FFF2-40B4-BE49-F238E27FC236}">
                <a16:creationId xmlns:a16="http://schemas.microsoft.com/office/drawing/2014/main" id="{CDE922C4-AA11-43D1-A28B-B0BDB387A5B3}"/>
              </a:ext>
            </a:extLst>
          </p:cNvPr>
          <p:cNvSpPr>
            <a:spLocks xmlns:a="http://schemas.openxmlformats.org/drawingml/2006/main" noGrp="1"/>
          </p:cNvSpPr>
          <p:nvPr/>
        </p:nvSpPr>
        <p:spPr>
          <a:xfrm xmlns:a="http://schemas.openxmlformats.org/drawingml/2006/main">
            <a:off x="136525" y="117475"/>
            <a:ext cx="841375" cy="1163637"/>
          </a:xfrm>
          <a:custGeom xmlns:a="http://schemas.openxmlformats.org/drawingml/2006/main">
            <a:rect l="l" t="t" r="r" b="b"/>
            <a:pathLst>
              <a:path w="1288321" h="1683367">
                <a:moveTo>
                  <a:pt x="0" y="0"/>
                </a:moveTo>
                <a:lnTo>
                  <a:pt x="1288322" y="0"/>
                </a:lnTo>
                <a:lnTo>
                  <a:pt x="1288322" y="1683367"/>
                </a:lnTo>
                <a:lnTo>
                  <a:pt x="0" y="1683367"/>
                </a:lnTo>
                <a:lnTo>
                  <a:pt x="0" y="0"/>
                </a:lnTo>
                <a:close/>
              </a:path>
            </a:pathLst>
          </a:custGeom>
          <a:blipFill xmlns:a="http://schemas.openxmlformats.org/drawingml/2006/main" rotWithShape="1">
            <a:blip xmlns:r="http://schemas.openxmlformats.org/officeDocument/2006/relationships" r:embed="Rf088aa2ebf184606">
              <a:alphaModFix/>
            </a:blip>
            <a:stretch>
              <a:fillRect l="0" t="0" r="0"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None/>
            </a:pPr>
            <a:endParaRPr sz="1400" b="0" i="0" u="none">
              <a:solidFill>
                <a:srgbClr val="000000"/>
              </a:solidFill>
              <a:latin typeface="Arial"/>
              <a:ea typeface="Arial"/>
              <a:cs typeface="Arial"/>
            </a:endParaRPr>
          </a:p>
        </p:txBody>
      </p:sp>
      <p:sp>
        <p:nvSpPr>
          <p:cNvPr id="65" name="Google Shape;65;p1">
            <a:extLst xmlns:a="http://schemas.openxmlformats.org/drawingml/2006/main">
              <a:ext uri="{FF2B5EF4-FFF2-40B4-BE49-F238E27FC236}">
                <a16:creationId xmlns:a16="http://schemas.microsoft.com/office/drawing/2014/main" id="{F27CF449-21D3-4F8F-9E6C-5A81DCF7D8D5}"/>
              </a:ext>
            </a:extLst>
          </p:cNvPr>
          <p:cNvSpPr>
            <a:spLocks xmlns:a="http://schemas.openxmlformats.org/drawingml/2006/main" noGrp="1"/>
          </p:cNvSpPr>
          <p:nvPr/>
        </p:nvSpPr>
        <p:spPr>
          <a:xfrm xmlns:a="http://schemas.openxmlformats.org/drawingml/2006/main">
            <a:off x="2333625" y="3695700"/>
            <a:ext cx="4476750" cy="64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t">
            <a:noAutofit/>
          </a:bodyPr>
          <a:lstStyle xmlns:a="http://schemas.openxmlformats.org/drawingml/2006/main"/>
          <a:p xmlns:a="http://schemas.openxmlformats.org/drawingml/2006/main">
            <a:pPr marL="60325" marR="0" lvl="0" indent="0" algn="ctr">
              <a:lnSpc>
                <a:spcPct val="150000"/>
              </a:lnSpc>
              <a:spcBef>
                <a:spcPts val="0"/>
              </a:spcBef>
              <a:spcAft>
                <a:spcPts val="0"/>
              </a:spcAft>
              <a:buClr>
                <a:srgbClr val="C00000"/>
              </a:buClr>
              <a:buSzPts val="2400"/>
              <a:buFont typeface="Times New Roman"/>
              <a:buNone/>
              <a:defRPr sz="2100" b="1">
                <a:solidFill>
                  <a:srgbClr val="B00000"/>
                </a:solidFill>
                <a:latin typeface="Times New Roman"/>
                <a:ea typeface="Times New Roman"/>
                <a:cs typeface="Times New Roman"/>
              </a:defRPr>
            </a:pPr>
            <a:r>
              <a:rPr sz="2100" b="1" i="0" u="none">
                <a:solidFill>
                  <a:srgbClr val="B00000"/>
                </a:solidFill>
                <a:latin typeface="Times New Roman"/>
                <a:ea typeface="Times New Roman"/>
                <a:cs typeface="Times New Roman"/>
              </a:rPr>
              <a:t>Date: 3 October 2026</a:t>
            </a:r>
            <a:endParaRPr/>
          </a:p>
        </p:txBody>
      </p:sp>
      <p:sp>
        <p:nvSpPr>
          <p:cNvPr id="10" name="Google Shape;59;p1">
            <a:extLst xmlns:a="http://schemas.openxmlformats.org/drawingml/2006/main">
              <a:ext uri="{FF2B5EF4-FFF2-40B4-BE49-F238E27FC236}">
                <a16:creationId xmlns:a16="http://schemas.microsoft.com/office/drawing/2014/main" id="{F9B3BC0D-86F5-4F0F-8296-0CE4859069C0}"/>
              </a:ext>
            </a:extLst>
          </p:cNvPr>
          <p:cNvSpPr>
            <a:spLocks xmlns:a="http://schemas.openxmlformats.org/drawingml/2006/main" noGrp="1"/>
          </p:cNvSpPr>
          <p:nvPr/>
        </p:nvSpPr>
        <p:spPr>
          <a:xfrm xmlns:a="http://schemas.openxmlformats.org/drawingml/2006/main">
            <a:off x="285750" y="2571750"/>
            <a:ext cx="8572500" cy="1066800"/>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63500" dist="23000" dir="5400000">
              <a:srgbClr val="000000">
                <a:alpha val="34902"/>
              </a:srgbClr>
            </a:outerShdw>
          </a:effectLst>
        </p:spPr>
        <p:txBody>
          <a:bodyPr xmlns:a="http://schemas.openxmlformats.org/drawingml/2006/main" spcFirstLastPara="1" wrap="square" lIns="47625" tIns="38100" rIns="47625" bIns="38100" anchor="t">
            <a:noAutofit/>
          </a:bodyPr>
          <a:lstStyle xmlns:a="http://schemas.openxmlformats.org/drawingml/2006/main"/>
          <a:p xmlns:a="http://schemas.openxmlformats.org/drawingml/2006/main">
            <a:pPr marL="60325" marR="0" lvl="0" indent="0" algn="ctr">
              <a:lnSpc>
                <a:spcPct val="100000"/>
              </a:lnSpc>
              <a:spcBef>
                <a:spcPts val="0"/>
              </a:spcBef>
              <a:spcAft>
                <a:spcPts val="0"/>
              </a:spcAft>
              <a:buClr>
                <a:srgbClr val="7030A0"/>
              </a:buClr>
              <a:buSzPts val="3200"/>
              <a:buFont typeface="Times New Roman"/>
              <a:buNone/>
              <a:defRPr sz="2475" b="1">
                <a:solidFill>
                  <a:srgbClr val="7030A0"/>
                </a:solidFill>
                <a:latin typeface="Times New Roman"/>
                <a:ea typeface="Times New Roman"/>
                <a:cs typeface="Times New Roman"/>
              </a:defRPr>
            </a:pPr>
            <a:r>
              <a:rPr sz="2475" b="1" i="0" u="none" cap="none">
                <a:solidFill>
                  <a:srgbClr val="7030A0"/>
                </a:solidFill>
                <a:latin typeface="Times New Roman"/>
                <a:ea typeface="Times New Roman"/>
                <a:cs typeface="Times New Roman"/>
              </a:rPr>
              <a:t>WattSense</a:t>
            </a:r>
            <a:endParaRPr sz="3200" b="1" i="0" u="none">
              <a:solidFill>
                <a:srgbClr val="7030A0"/>
              </a:solidFill>
              <a:latin typeface="Times New Roman"/>
              <a:ea typeface="Times New Roman"/>
              <a:cs typeface="Times New Roman"/>
            </a:endParaRPr>
          </a:p>
          <a:p xmlns:a="http://schemas.openxmlformats.org/drawingml/2006/main">
            <a:pPr marL="60325" marR="0" lvl="0" indent="0" algn="ctr">
              <a:lnSpc>
                <a:spcPct val="100000"/>
              </a:lnSpc>
              <a:spcBef>
                <a:spcPts val="0"/>
              </a:spcBef>
              <a:spcAft>
                <a:spcPts val="0"/>
              </a:spcAft>
              <a:buClr>
                <a:srgbClr val="7030A0"/>
              </a:buClr>
              <a:buSzPts val="3200"/>
              <a:buFont typeface="Times New Roman"/>
              <a:buNone/>
              <a:defRPr sz="2475" b="1">
                <a:solidFill>
                  <a:srgbClr val="7030A0"/>
                </a:solidFill>
                <a:latin typeface="Times New Roman"/>
                <a:ea typeface="Times New Roman"/>
                <a:cs typeface="Times New Roman"/>
              </a:defRPr>
            </a:pPr>
            <a:r>
              <a:rPr sz="2475" b="1" i="0" u="none" cap="none">
                <a:solidFill>
                  <a:srgbClr val="7030A0"/>
                </a:solidFill>
                <a:latin typeface="Times New Roman"/>
                <a:ea typeface="Times New Roman"/>
                <a:cs typeface="Times New Roman"/>
              </a:rPr>
              <a:t>Battery Energy and Runtime Estimation</a:t>
            </a:r>
            <a:endParaRPr sz="3200" b="1" i="0" u="none">
              <a:solidFill>
                <a:srgbClr val="7030A0"/>
              </a:solidFill>
              <a:latin typeface="Times New Roman"/>
              <a:ea typeface="Times New Roman"/>
              <a:cs typeface="Times New Roman"/>
            </a:endParaRPr>
          </a:p>
          <a:p xmlns:a="http://schemas.openxmlformats.org/drawingml/2006/main">
            <a:pPr marL="60325" marR="0" lvl="0" indent="0" algn="ctr">
              <a:lnSpc>
                <a:spcPct val="100000"/>
              </a:lnSpc>
              <a:spcBef>
                <a:spcPts val="0"/>
              </a:spcBef>
              <a:spcAft>
                <a:spcPts val="0"/>
              </a:spcAft>
              <a:buClr>
                <a:srgbClr val="7030A0"/>
              </a:buClr>
              <a:buSzPts val="3200"/>
              <a:buFont typeface="Times New Roman"/>
              <a:buNone/>
              <a:defRPr sz="2475" b="1">
                <a:solidFill>
                  <a:srgbClr val="7030A0"/>
                </a:solidFill>
                <a:latin typeface="Times New Roman"/>
                <a:ea typeface="Times New Roman"/>
                <a:cs typeface="Times New Roman"/>
              </a:defRPr>
            </a:pPr>
            <a:r>
              <a:rPr sz="2475" b="1" i="0" u="none" cap="none">
                <a:solidFill>
                  <a:srgbClr val="7030A0"/>
                </a:solidFill>
                <a:latin typeface="Times New Roman"/>
                <a:ea typeface="Times New Roman"/>
                <a:cs typeface="Times New Roman"/>
              </a:rPr>
              <a:t>with Load Signature Guidance</a:t>
            </a:r>
            <a:endParaRPr sz="3200" b="1" i="0" u="none">
              <a:solidFill>
                <a:srgbClr val="7030A0"/>
              </a:solidFill>
              <a:latin typeface="Times New Roman"/>
              <a:ea typeface="Times New Roman"/>
              <a:cs typeface="Times New Roman"/>
            </a:endParaRPr>
          </a:p>
        </p:txBody>
      </p:sp>
      <p:sp>
        <p:nvSpPr>
          <p:cNvPr id="66" name="Guide and group">
            <a:extLst xmlns:a="http://schemas.openxmlformats.org/drawingml/2006/main">
              <a:ext uri="{FF2B5EF4-FFF2-40B4-BE49-F238E27FC236}">
                <a16:creationId xmlns:a16="http://schemas.microsoft.com/office/drawing/2014/main" id="{4CACEAC9-2FFC-4108-ADA0-71ACD46960F9}"/>
              </a:ext>
            </a:extLst>
          </p:cNvPr>
          <p:cNvSpPr>
            <a:spLocks xmlns:a="http://schemas.openxmlformats.org/drawingml/2006/main" noGrp="1"/>
          </p:cNvSpPr>
          <p:nvPr/>
        </p:nvSpPr>
        <p:spPr>
          <a:xfrm xmlns:a="http://schemas.openxmlformats.org/drawingml/2006/main">
            <a:off x="5572125" y="4514850"/>
            <a:ext cx="304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ctr">
              <a:buNone/>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Under the guidance of</a:t>
            </a:r>
          </a:p>
          <a:p xmlns:a="http://schemas.openxmlformats.org/drawingml/2006/main">
            <a:pPr algn="ctr">
              <a:buNone/>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Mahesh Sapte</a:t>
            </a:r>
          </a:p>
          <a:p xmlns:a="http://schemas.openxmlformats.org/drawingml/2006/main">
            <a:r>
              <a:t/>
            </a:r>
          </a:p>
          <a:p xmlns:a="http://schemas.openxmlformats.org/drawingml/2006/main">
            <a:pPr algn="ctr">
              <a:buNone/>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Group 7</a:t>
            </a:r>
          </a:p>
        </p:txBody>
      </p:sp>
    </p:spTree>
    <p:extLst>
      <p:ext uri="{BB962C8B-B14F-4D97-AF65-F5344CB8AC3E}">
        <p14:creationId xmlns:p14="http://schemas.microsoft.com/office/powerpoint/2010/main" val="73921871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70" name="Google Shape;70;p2">
            <a:extLst xmlns:a="http://schemas.openxmlformats.org/drawingml/2006/main">
              <a:ext uri="{FF2B5EF4-FFF2-40B4-BE49-F238E27FC236}">
                <a16:creationId xmlns:a16="http://schemas.microsoft.com/office/drawing/2014/main" id="{EA4B0F39-ED2E-49AC-82C5-BB97DBFD48C9}"/>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E2598689-54C9-18A7-3A19-ED76AA08988F}" type="slidenum">
              <a:rPr sz="975" b="0" i="0" u="none">
                <a:solidFill>
                  <a:srgbClr val="595959"/>
                </a:solidFill>
                <a:latin typeface="Arial"/>
                <a:ea typeface="Arial"/>
                <a:cs typeface="Arial"/>
              </a:rPr>
              <a:t>2</a:t>
            </a:fld>
            <a:endParaRPr/>
          </a:p>
        </p:txBody>
      </p:sp>
      <p:sp>
        <p:nvSpPr>
          <p:cNvPr id="71" name="Google Shape;71;p2">
            <a:extLst xmlns:a="http://schemas.openxmlformats.org/drawingml/2006/main">
              <a:ext uri="{FF2B5EF4-FFF2-40B4-BE49-F238E27FC236}">
                <a16:creationId xmlns:a16="http://schemas.microsoft.com/office/drawing/2014/main" id="{8BB2C4F1-BBF5-4AAC-8028-F3A9089EE534}"/>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Introduction and Topic Overview</a:t>
            </a:r>
            <a:endParaRPr/>
          </a:p>
        </p:txBody>
      </p:sp>
      <p:sp>
        <p:nvSpPr>
          <p:cNvPr id="72" name="Signature definition">
            <a:extLst xmlns:a="http://schemas.openxmlformats.org/drawingml/2006/main">
              <a:ext uri="{FF2B5EF4-FFF2-40B4-BE49-F238E27FC236}">
                <a16:creationId xmlns:a16="http://schemas.microsoft.com/office/drawing/2014/main" id="{78095421-50F8-4176-A6BE-953C3D3886F7}"/>
              </a:ext>
            </a:extLst>
          </p:cNvPr>
          <p:cNvSpPr>
            <a:spLocks xmlns:a="http://schemas.openxmlformats.org/drawingml/2006/main" noGrp="1"/>
          </p:cNvSpPr>
          <p:nvPr/>
        </p:nvSpPr>
        <p:spPr>
          <a:xfrm xmlns:a="http://schemas.openxmlformats.org/drawingml/2006/main">
            <a:off x="762000" y="1219200"/>
            <a:ext cx="76771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2325" b="1">
                <a:solidFill>
                  <a:srgbClr val="7030A0"/>
                </a:solidFill>
                <a:latin typeface="Times New Roman"/>
                <a:ea typeface="Times New Roman"/>
                <a:cs typeface="Times New Roman"/>
              </a:defRPr>
            </a:pPr>
            <a:r>
              <a:rPr sz="2325" b="1">
                <a:solidFill>
                  <a:srgbClr val="7030A0"/>
                </a:solidFill>
                <a:latin typeface="Times New Roman"/>
                <a:ea typeface="Times New Roman"/>
                <a:cs typeface="Times New Roman"/>
              </a:rPr>
              <a:t>WattSense mounts near the battery and runs from a regulated battery supply.</a:t>
            </a:r>
          </a:p>
        </p:txBody>
      </p:sp>
      <p:sp>
        <p:nvSpPr>
          <p:cNvPr id="74" name="Review status">
            <a:extLst xmlns:a="http://schemas.openxmlformats.org/drawingml/2006/main">
              <a:ext uri="{FF2B5EF4-FFF2-40B4-BE49-F238E27FC236}">
                <a16:creationId xmlns:a16="http://schemas.microsoft.com/office/drawing/2014/main" id="{9D0F5FE8-6B5E-4EE7-9C98-B865F6CA342F}"/>
              </a:ext>
            </a:extLst>
          </p:cNvPr>
          <p:cNvSpPr>
            <a:spLocks xmlns:a="http://schemas.openxmlformats.org/drawingml/2006/main" noGrp="1"/>
          </p:cNvSpPr>
          <p:nvPr/>
        </p:nvSpPr>
        <p:spPr>
          <a:xfrm xmlns:a="http://schemas.openxmlformats.org/drawingml/2006/main">
            <a:off x="876300" y="5676900"/>
            <a:ext cx="76104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Review 3: DC firmware, dashboard and PCB design prepared.</a:t>
            </a:r>
          </a:p>
        </p:txBody>
      </p:sp>
      <p:sp>
        <p:nvSpPr>
          <p:cNvPr id="75" name="Next stage">
            <a:extLst xmlns:a="http://schemas.openxmlformats.org/drawingml/2006/main">
              <a:ext uri="{FF2B5EF4-FFF2-40B4-BE49-F238E27FC236}">
                <a16:creationId xmlns:a16="http://schemas.microsoft.com/office/drawing/2014/main" id="{555B1B32-D0AD-43D1-9DDE-E25050C8678B}"/>
              </a:ext>
            </a:extLst>
          </p:cNvPr>
          <p:cNvSpPr>
            <a:spLocks xmlns:a="http://schemas.openxmlformats.org/drawingml/2006/main" noGrp="1"/>
          </p:cNvSpPr>
          <p:nvPr/>
        </p:nvSpPr>
        <p:spPr>
          <a:xfrm xmlns:a="http://schemas.openxmlformats.org/drawingml/2006/main">
            <a:off x="876300" y="6029325"/>
            <a:ext cx="76104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875" b="1">
                <a:solidFill>
                  <a:srgbClr val="000000"/>
                </a:solidFill>
                <a:latin typeface="Times New Roman"/>
                <a:ea typeface="Times New Roman"/>
                <a:cs typeface="Times New Roman"/>
              </a:defRPr>
            </a:pPr>
            <a:r>
              <a:rPr sz="1875" b="1">
                <a:solidFill>
                  <a:srgbClr val="000000"/>
                </a:solidFill>
                <a:latin typeface="Times New Roman"/>
                <a:ea typeface="Times New Roman"/>
                <a:cs typeface="Times New Roman"/>
              </a:rPr>
              <a:t>Next stage: integrated sensing, learned profiles and guidance validation.</a:t>
            </a:r>
          </a:p>
        </p:txBody>
      </p:sp>
      <p:sp>
        <p:nvSpPr>
          <p:cNvPr id="76" name="Project motivation">
            <a:extLst xmlns:a="http://schemas.openxmlformats.org/drawingml/2006/main">
              <a:ext uri="{FF2B5EF4-FFF2-40B4-BE49-F238E27FC236}">
                <a16:creationId xmlns:a16="http://schemas.microsoft.com/office/drawing/2014/main" id="{BA516267-77C2-4712-9FE8-6968AFA66D2A}"/>
              </a:ext>
            </a:extLst>
          </p:cNvPr>
          <p:cNvSpPr>
            <a:spLocks xmlns:a="http://schemas.openxmlformats.org/drawingml/2006/main" noGrp="1"/>
          </p:cNvSpPr>
          <p:nvPr/>
        </p:nvSpPr>
        <p:spPr>
          <a:xfrm xmlns:a="http://schemas.openxmlformats.org/drawingml/2006/main">
            <a:off x="895350" y="2371725"/>
            <a:ext cx="74390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chor="t">
            <a:noAutofit/>
          </a:bodyPr>
          <a:lstStyle xmlns:a="http://schemas.openxmlformats.org/drawingml/2006/main"/>
          <a:p xmlns:a="http://schemas.openxmlformats.org/drawingml/2006/main">
            <a:pPr marL="304800" indent="-203200" algn="l">
              <a:spcAft>
                <a:spcPts val="11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Estimate battery charge, usable energy and remaining backup time.</a:t>
            </a:r>
          </a:p>
          <a:p xmlns:a="http://schemas.openxmlformats.org/drawingml/2006/main">
            <a:pPr marL="304800" indent="-203200" algn="l">
              <a:spcAft>
                <a:spcPts val="11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Support solar charging or a compatible AC-to-DC battery charger.</a:t>
            </a:r>
          </a:p>
          <a:p xmlns:a="http://schemas.openxmlformats.org/drawingml/2006/main">
            <a:pPr marL="304800" indent="-203200" algn="l">
              <a:spcAft>
                <a:spcPts val="11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Support DC loads through converters and AC loads through an inverter.</a:t>
            </a:r>
          </a:p>
          <a:p xmlns:a="http://schemas.openxmlformats.org/drawingml/2006/main">
            <a:pPr marL="304800" indent="-203200" algn="l">
              <a:spcAft>
                <a:spcPts val="11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Use load signatures and priorities to suggest what to turn off.</a:t>
            </a:r>
          </a:p>
        </p:txBody>
      </p:sp>
    </p:spTree>
    <p:extLst>
      <p:ext uri="{BB962C8B-B14F-4D97-AF65-F5344CB8AC3E}">
        <p14:creationId xmlns:p14="http://schemas.microsoft.com/office/powerpoint/2010/main" val="167858176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7726AD8F-1C64-44B6-A073-A502B738CBF4}"/>
              </a:ext>
            </a:extLst>
          </p:cNvPr>
          <p:cNvSpPr>
            <a:spLocks xmlns:a="http://schemas.openxmlformats.org/drawingml/2006/main" noGrp="1"/>
          </p:cNvSpPr>
          <p:nvPr/>
        </p:nvSpPr>
        <p:spPr>
          <a:xfrm xmlns:a="http://schemas.openxmlformats.org/drawingml/2006/main">
            <a:off x="8472488" y="6572250"/>
            <a:ext cx="549307"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202359C0-8A7A-196E-DD58-8E6569619F09}" type="slidenum">
              <a:rPr sz="975" b="0" i="0" u="none">
                <a:solidFill>
                  <a:srgbClr val="595959"/>
                </a:solidFill>
                <a:latin typeface="Arial"/>
                <a:ea typeface="Arial"/>
                <a:cs typeface="Arial"/>
              </a:rPr>
              <a:t>3</a:t>
            </a:fld>
            <a:endParaRPr/>
          </a:p>
        </p:txBody>
      </p:sp>
      <p:sp>
        <p:nvSpPr>
          <p:cNvPr id="80" name="Google Shape;80;p3">
            <a:extLst xmlns:a="http://schemas.openxmlformats.org/drawingml/2006/main">
              <a:ext uri="{FF2B5EF4-FFF2-40B4-BE49-F238E27FC236}">
                <a16:creationId xmlns:a16="http://schemas.microsoft.com/office/drawing/2014/main" id="{39D07638-6598-4F28-B6C3-AB0D2E3CA862}"/>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Literature Survey 1 of 4</a:t>
            </a:r>
            <a:endParaRPr/>
          </a:p>
        </p:txBody>
      </p:sp>
      <p:graphicFrame>
        <p:nvGraphicFramePr>
          <p:cNvPr id="84" name="Table 2"/>
          <p:cNvGraphicFramePr/>
          <p:nvPr/>
        </p:nvGraphicFramePr>
        <p:xfrm>
          <a:off xmlns:a="http://schemas.openxmlformats.org/drawingml/2006/main" x="190500" y="971550"/>
          <a:ext xmlns:a="http://schemas.openxmlformats.org/drawingml/2006/main" cx="8763000" cy="5581650"/>
        </p:xfrm>
        <a:graphic xmlns:a="http://schemas.openxmlformats.org/drawingml/2006/main">
          <a:graphicData uri="http://schemas.openxmlformats.org/drawingml/2006/table">
            <a:tbl>
              <a:tblPr/>
              <a:tblGrid>
                <a:gridCol w="285750"/>
                <a:gridCol w="3333750"/>
                <a:gridCol w="933450"/>
                <a:gridCol w="1047750"/>
                <a:gridCol w="1028700"/>
                <a:gridCol w="1085850"/>
                <a:gridCol w="1047750"/>
              </a:tblGrid>
              <a:tr h="438150">
                <a:tc>
                  <a:txBody>
                    <a:bodyPr>
                      <a:noAutofit/>
                    </a:bodyPr>
                    <a:lstStyle/>
                    <a:p>
                      <a:pPr algn="ctr">
                        <a:lnSpc>
                          <a:spcPct val="100000"/>
                        </a:lnSpc>
                        <a:buNone/>
                      </a:pPr>
                      <a:r>
                        <a:rPr sz="1275" b="1">
                          <a:solidFill>
                            <a:srgbClr val="000000"/>
                          </a:solidFill>
                          <a:latin typeface="Times New Roman"/>
                          <a:ea typeface="Times New Roman"/>
                          <a:cs typeface="Times New Roman"/>
                        </a:rPr>
                        <a:t>No</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Research Paper / Author / Year</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Problem</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Method</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Data / tests</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Finding</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Scope limit</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1</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A Scalable Real-Time Non-Intrusive Load Monitoring System for the Estimation of Household Appliance Power Consumption</a:t>
                      </a:r>
                    </a:p>
                    <a:p>
                      <a:pPr algn="l">
                        <a:lnSpc>
                          <a:spcPct val="100000"/>
                        </a:lnSpc>
                        <a:buNone/>
                      </a:pPr>
                      <a:r>
                        <a:rPr sz="1275" b="0">
                          <a:solidFill>
                            <a:srgbClr val="000000"/>
                          </a:solidFill>
                          <a:latin typeface="Times New Roman"/>
                          <a:ea typeface="Times New Roman"/>
                          <a:cs typeface="Times New Roman"/>
                        </a:rPr>
                        <a:t>Athanasiadis et al., 2021</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Load energy estimation</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Events + CNN + power estimate</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Reported experimental evaluation</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Real-time consumption estimates</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Transient data needed</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2</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Explainability-Informed Feature Selection and Performance Prediction for Nonintrusive Load Monitoring</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Mollel et al., 2023</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Unclear load classification</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Decision trees + explanations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REFIT to UK-DALE transfer tests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Feature selection improves classification</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Cross-house transfer needs testing</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3</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Machine Learning Models for Non-Intrusive Load Monitoring: A Systematic Review and Meta-Analysis</a:t>
                      </a:r>
                      <a:endParaRPr>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Jaime et al., 2026</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Variable evaluation methods</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PRISMA + meta-analysis</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30 studies; 2017-2024 publications</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Performance varies across study settings</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Heterogeneous study methods</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4</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Non-Intrusive Load Monitoring: A Systematic Review of Methods, Scenario-Specific Challenges, and Pathways to Practical Deployment</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Xiang et al., 2026</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Practical deployment barriers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Event/state methods; scenario review</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Review of published NILM studies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Maps deployment needs and trade-offs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Unknown loads and transfer limits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5</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A Non-Intrusive Load Identification Method Based on the Fusion of Steady-State Features and Lightweight Network</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Li et al., 2026</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Similar load signatures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AC V-I + dual-branch network</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PLAID AC appliance recordings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Feature fusion aids classification</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Requires AC waveforms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Tree>
    <p:extLst>
      <p:ext uri="{BB962C8B-B14F-4D97-AF65-F5344CB8AC3E}">
        <p14:creationId xmlns:p14="http://schemas.microsoft.com/office/powerpoint/2010/main" val="204948208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0E1D03D9-3E46-4A47-AB8C-DD8942DF7326}"/>
              </a:ext>
            </a:extLst>
          </p:cNvPr>
          <p:cNvSpPr>
            <a:spLocks xmlns:a="http://schemas.openxmlformats.org/drawingml/2006/main" noGrp="1"/>
          </p:cNvSpPr>
          <p:nvPr/>
        </p:nvSpPr>
        <p:spPr>
          <a:xfrm xmlns:a="http://schemas.openxmlformats.org/drawingml/2006/main">
            <a:off x="8472488" y="6572250"/>
            <a:ext cx="549307"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EFD6AB9A-5F9E-5F59-51AB-3C8734130965}" type="slidenum">
              <a:rPr sz="975" b="0" i="0" u="none">
                <a:solidFill>
                  <a:srgbClr val="595959"/>
                </a:solidFill>
                <a:latin typeface="Arial"/>
                <a:ea typeface="Arial"/>
                <a:cs typeface="Arial"/>
              </a:rPr>
              <a:t>4</a:t>
            </a:fld>
            <a:endParaRPr/>
          </a:p>
        </p:txBody>
      </p:sp>
      <p:sp>
        <p:nvSpPr>
          <p:cNvPr id="80" name="Google Shape;80;p3">
            <a:extLst xmlns:a="http://schemas.openxmlformats.org/drawingml/2006/main">
              <a:ext uri="{FF2B5EF4-FFF2-40B4-BE49-F238E27FC236}">
                <a16:creationId xmlns:a16="http://schemas.microsoft.com/office/drawing/2014/main" id="{1322C00D-8D2C-48BD-84F4-3F48F061C0A8}"/>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Literature Survey 2 of 4</a:t>
            </a:r>
            <a:endParaRPr/>
          </a:p>
        </p:txBody>
      </p:sp>
      <p:graphicFrame>
        <p:nvGraphicFramePr>
          <p:cNvPr id="84" name="Table 2"/>
          <p:cNvGraphicFramePr/>
          <p:nvPr/>
        </p:nvGraphicFramePr>
        <p:xfrm>
          <a:off xmlns:a="http://schemas.openxmlformats.org/drawingml/2006/main" x="190500" y="971550"/>
          <a:ext xmlns:a="http://schemas.openxmlformats.org/drawingml/2006/main" cx="8763000" cy="5581650"/>
        </p:xfrm>
        <a:graphic xmlns:a="http://schemas.openxmlformats.org/drawingml/2006/main">
          <a:graphicData uri="http://schemas.openxmlformats.org/drawingml/2006/table">
            <a:tbl>
              <a:tblPr/>
              <a:tblGrid>
                <a:gridCol w="285750"/>
                <a:gridCol w="3333750"/>
                <a:gridCol w="933450"/>
                <a:gridCol w="1047750"/>
                <a:gridCol w="1028700"/>
                <a:gridCol w="1085850"/>
                <a:gridCol w="1047750"/>
              </a:tblGrid>
              <a:tr h="438150">
                <a:tc>
                  <a:txBody>
                    <a:bodyPr>
                      <a:noAutofit/>
                    </a:bodyPr>
                    <a:lstStyle/>
                    <a:p>
                      <a:pPr algn="ctr">
                        <a:lnSpc>
                          <a:spcPct val="100000"/>
                        </a:lnSpc>
                        <a:buNone/>
                      </a:pPr>
                      <a:r>
                        <a:rPr sz="1275" b="1">
                          <a:solidFill>
                            <a:srgbClr val="000000"/>
                          </a:solidFill>
                          <a:latin typeface="Times New Roman"/>
                          <a:ea typeface="Times New Roman"/>
                          <a:cs typeface="Times New Roman"/>
                        </a:rPr>
                        <a:t>No</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Research Paper / Author / Year</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Problem</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Method</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Data / tests</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Finding</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Scope limit</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6</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A Critical Look at Coulomb Counting Approach for State of Charge Estimation in Batteries</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Movassagh et al., 2021</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SOC error build-up</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Analytical error decomposition</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Error models and simulations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Quantifies four SOC error sources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Current and initial-SOC errors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7</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Online estimation of battery equivalent circuit model parameters and state of charge using decoupled least squares technique</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Zhang et al., 2018</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Changing battery model parameters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Decoupled weighted RLS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Lithium-ion cell measurements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Separates fast / slow dynamics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Actual pack data needed</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8</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Recursive State of Charge and State of Health Estimation Method for Lithium-Ion Batteries Based on Coulomb Counting and Open Circuit Voltage</a:t>
                      </a:r>
                      <a:endParaRPr>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Gismero et al., 2020</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Charge drift and capacity aging</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Coulomb counting, OCV reset, RLS</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Aged NMC cells; dynamic loads</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OCV resets limit accumulated drift</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Rest time and chemistry matter</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9</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Parameter Identification and State-of-Charge Estimation for Lithium-Ion Batteries Using Separated Time Scales and Extended Kalman Filter</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Yang et al., 2021</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SOC and parameter coupling</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Separated RLS + EKF</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18650 data at varied temperature</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Lower error than conventional RLS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Needs characterized model and data</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10</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Implementing an Extended Kalman Filter for SoC Estimation of a Li-Ion Battery with Hysteresis: A Step-by-Step Guide</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Rzepka et al., 2021</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Empirical tuning and sensor noise</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Circuit + hysteresis + EKF tuning</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Cell estimator experiment</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Tuning improves estimator stability</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Needs noise estimates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Tree>
    <p:extLst>
      <p:ext uri="{BB962C8B-B14F-4D97-AF65-F5344CB8AC3E}">
        <p14:creationId xmlns:p14="http://schemas.microsoft.com/office/powerpoint/2010/main" val="109978731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328325AA-EED6-41F3-BF9C-FD81795E0781}"/>
              </a:ext>
            </a:extLst>
          </p:cNvPr>
          <p:cNvSpPr>
            <a:spLocks xmlns:a="http://schemas.openxmlformats.org/drawingml/2006/main" noGrp="1"/>
          </p:cNvSpPr>
          <p:nvPr/>
        </p:nvSpPr>
        <p:spPr>
          <a:xfrm xmlns:a="http://schemas.openxmlformats.org/drawingml/2006/main">
            <a:off x="8472488" y="6572250"/>
            <a:ext cx="549307"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EE5B3003-2C54-13C6-9832-7637201064DE}" type="slidenum">
              <a:rPr sz="975" b="0" i="0" u="none">
                <a:solidFill>
                  <a:srgbClr val="595959"/>
                </a:solidFill>
                <a:latin typeface="Arial"/>
                <a:ea typeface="Arial"/>
                <a:cs typeface="Arial"/>
              </a:rPr>
              <a:t>5</a:t>
            </a:fld>
            <a:endParaRPr/>
          </a:p>
        </p:txBody>
      </p:sp>
      <p:sp>
        <p:nvSpPr>
          <p:cNvPr id="80" name="Google Shape;80;p3">
            <a:extLst xmlns:a="http://schemas.openxmlformats.org/drawingml/2006/main">
              <a:ext uri="{FF2B5EF4-FFF2-40B4-BE49-F238E27FC236}">
                <a16:creationId xmlns:a16="http://schemas.microsoft.com/office/drawing/2014/main" id="{7CCA9B0D-2A40-4B37-BBC9-7750106A213E}"/>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Literature Survey 3 of 4</a:t>
            </a:r>
            <a:endParaRPr/>
          </a:p>
        </p:txBody>
      </p:sp>
      <p:graphicFrame>
        <p:nvGraphicFramePr>
          <p:cNvPr id="84" name="Table 2"/>
          <p:cNvGraphicFramePr/>
          <p:nvPr/>
        </p:nvGraphicFramePr>
        <p:xfrm>
          <a:off xmlns:a="http://schemas.openxmlformats.org/drawingml/2006/main" x="190500" y="971550"/>
          <a:ext xmlns:a="http://schemas.openxmlformats.org/drawingml/2006/main" cx="8763000" cy="5581650"/>
        </p:xfrm>
        <a:graphic xmlns:a="http://schemas.openxmlformats.org/drawingml/2006/main">
          <a:graphicData uri="http://schemas.openxmlformats.org/drawingml/2006/table">
            <a:tbl>
              <a:tblPr/>
              <a:tblGrid>
                <a:gridCol w="285750"/>
                <a:gridCol w="3333750"/>
                <a:gridCol w="933450"/>
                <a:gridCol w="1047750"/>
                <a:gridCol w="1028700"/>
                <a:gridCol w="1085850"/>
                <a:gridCol w="1047750"/>
              </a:tblGrid>
              <a:tr h="438150">
                <a:tc>
                  <a:txBody>
                    <a:bodyPr>
                      <a:noAutofit/>
                    </a:bodyPr>
                    <a:lstStyle/>
                    <a:p>
                      <a:pPr algn="ctr">
                        <a:lnSpc>
                          <a:spcPct val="100000"/>
                        </a:lnSpc>
                        <a:buNone/>
                      </a:pPr>
                      <a:r>
                        <a:rPr sz="1275" b="1">
                          <a:solidFill>
                            <a:srgbClr val="000000"/>
                          </a:solidFill>
                          <a:latin typeface="Times New Roman"/>
                          <a:ea typeface="Times New Roman"/>
                          <a:cs typeface="Times New Roman"/>
                        </a:rPr>
                        <a:t>No</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Research Paper / Author / Year</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Problem</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Method</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Data / tests</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Finding</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Scope limit</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11</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Experimentally Validated Coulomb Counting Method for Battery State-of-Charge Estimation under Variable Current Profiles</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Zine et al., 2022</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Simple real-time SOC estimation</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Current integration</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Lead-acid bench tests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Bench SOC workflow</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LFP tests still needed</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12</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Hybrid State of Charge Estimation of Lithium-Ion Battery Using the Coulomb Counting Method and an Adaptive Unscented Kalman Filter</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Fahmy et al., 2023</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SOC with changing conditions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Coulomb counting plus adaptive UKF</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2.6 Ah Panasonic simulations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Lower simulated error in comparisons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Numerical results only</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13</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State of Charge Estimation of LiFePO4 in Various Temperature Scenarios</a:t>
                      </a:r>
                      <a:endParaRPr>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Wang et al., 2023</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LFP plateau and temperature</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Temperature ECM; improved EKF</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LFP chamber / load tests</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Includes temperature</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Needs pack-specific data</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14</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Toward Energy Efficient Battery State of Charge Estimation on Embedded Platforms</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Turkmanović et al., 2024</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Estimator energy versus accuracy</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Two EKFs at varied rates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PC accuracy + STM32H7 timing</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Sample-rate trade-off</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ESP32 timing unknown</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15</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Electronic Load for Parameter Characterization in Equivalent Circuit Models of Lithium-Ion Batteries</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Bampi et al., 2025</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Battery parameter testing</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Electronic load + ECM / EKF</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LTO cell + ESP32 rig</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Parameter and SOC estimates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Different test rig</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Tree>
    <p:extLst>
      <p:ext uri="{BB962C8B-B14F-4D97-AF65-F5344CB8AC3E}">
        <p14:creationId xmlns:p14="http://schemas.microsoft.com/office/powerpoint/2010/main" val="105158979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C890AF60-8B19-4F47-B234-5CAB1E850CAB}"/>
              </a:ext>
            </a:extLst>
          </p:cNvPr>
          <p:cNvSpPr>
            <a:spLocks xmlns:a="http://schemas.openxmlformats.org/drawingml/2006/main" noGrp="1"/>
          </p:cNvSpPr>
          <p:nvPr/>
        </p:nvSpPr>
        <p:spPr>
          <a:xfrm xmlns:a="http://schemas.openxmlformats.org/drawingml/2006/main">
            <a:off x="8472488" y="6572250"/>
            <a:ext cx="549307"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8C630A04-5A25-9E0C-9436-126091DB86B3}" type="slidenum">
              <a:rPr sz="975" b="0" i="0" u="none">
                <a:solidFill>
                  <a:srgbClr val="595959"/>
                </a:solidFill>
                <a:latin typeface="Arial"/>
                <a:ea typeface="Arial"/>
                <a:cs typeface="Arial"/>
              </a:rPr>
              <a:t>6</a:t>
            </a:fld>
            <a:endParaRPr/>
          </a:p>
        </p:txBody>
      </p:sp>
      <p:sp>
        <p:nvSpPr>
          <p:cNvPr id="80" name="Google Shape;80;p3">
            <a:extLst xmlns:a="http://schemas.openxmlformats.org/drawingml/2006/main">
              <a:ext uri="{FF2B5EF4-FFF2-40B4-BE49-F238E27FC236}">
                <a16:creationId xmlns:a16="http://schemas.microsoft.com/office/drawing/2014/main" id="{3F6602DC-A04C-47BB-B34A-82D6108D83A1}"/>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Literature Survey 4 of 4</a:t>
            </a:r>
            <a:endParaRPr/>
          </a:p>
        </p:txBody>
      </p:sp>
      <p:graphicFrame>
        <p:nvGraphicFramePr>
          <p:cNvPr id="84" name="Table 2"/>
          <p:cNvGraphicFramePr/>
          <p:nvPr/>
        </p:nvGraphicFramePr>
        <p:xfrm>
          <a:off xmlns:a="http://schemas.openxmlformats.org/drawingml/2006/main" x="190500" y="971550"/>
          <a:ext xmlns:a="http://schemas.openxmlformats.org/drawingml/2006/main" cx="8763000" cy="5581650"/>
        </p:xfrm>
        <a:graphic xmlns:a="http://schemas.openxmlformats.org/drawingml/2006/main">
          <a:graphicData uri="http://schemas.openxmlformats.org/drawingml/2006/table">
            <a:tbl>
              <a:tblPr/>
              <a:tblGrid>
                <a:gridCol w="285750"/>
                <a:gridCol w="3333750"/>
                <a:gridCol w="933450"/>
                <a:gridCol w="1047750"/>
                <a:gridCol w="1028700"/>
                <a:gridCol w="1085850"/>
                <a:gridCol w="1047750"/>
              </a:tblGrid>
              <a:tr h="438150">
                <a:tc>
                  <a:txBody>
                    <a:bodyPr>
                      <a:noAutofit/>
                    </a:bodyPr>
                    <a:lstStyle/>
                    <a:p>
                      <a:pPr algn="ctr">
                        <a:lnSpc>
                          <a:spcPct val="100000"/>
                        </a:lnSpc>
                        <a:buNone/>
                      </a:pPr>
                      <a:r>
                        <a:rPr sz="1275" b="1">
                          <a:solidFill>
                            <a:srgbClr val="000000"/>
                          </a:solidFill>
                          <a:latin typeface="Times New Roman"/>
                          <a:ea typeface="Times New Roman"/>
                          <a:cs typeface="Times New Roman"/>
                        </a:rPr>
                        <a:t>No</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Research Paper / Author / Year</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Problem</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Method</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Data / tests</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Finding</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c>
                  <a:txBody>
                    <a:bodyPr>
                      <a:noAutofit/>
                    </a:bodyPr>
                    <a:lstStyle/>
                    <a:p>
                      <a:pPr algn="l">
                        <a:lnSpc>
                          <a:spcPct val="100000"/>
                        </a:lnSpc>
                        <a:buNone/>
                      </a:pPr>
                      <a:r>
                        <a:rPr sz="1275" b="1">
                          <a:solidFill>
                            <a:srgbClr val="000000"/>
                          </a:solidFill>
                          <a:latin typeface="Times New Roman"/>
                          <a:ea typeface="Times New Roman"/>
                          <a:cs typeface="Times New Roman"/>
                        </a:rPr>
                        <a:t>Scope limit</a:t>
                      </a: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lumMod val="95000"/>
                      </a:schemeClr>
                    </a:solidFill>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16</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Priority-based low voltage DC microgrid system for rural electrification</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Marahatta et al., 2021</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Limited rural energy supply</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Priority switching + SCADA</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Laboratory solar-battery microgrid</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Maintains essential-load service</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Three-level solar system</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17</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Enhanced demand side management for solar-based isolated microgrid system: Load prioritisation and energy optimisation</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Rajbhandari et al., 2024</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Variable solar supply</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Day-ahead forecasts + PSO</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Generation / load simulations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Improves priority-load continuity</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Requires forecasts and optimisation</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18</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Design of a Laboratory Scale Solar Microgrid Cyber-Physical System for Education</a:t>
                      </a:r>
                      <a:endParaRPr>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Guo &amp; Kors, 2021</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Renewable energy teaching</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Sensors, Raspberry Pi, SCADA</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Outdoor rig + student tests</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Integrated educational platform</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No signature matching</a:t>
                      </a:r>
                      <a:endParaRPr>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19</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A standalone DC microgrid energy management strategy using the battery state of charge</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Yusubov &amp; Bekirova, 2023</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Variable PV output and demand</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Power/SOC rules + load shedding</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Standalone DC microgrid simulations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Coordinates loads within SOC bounds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No physical validation reported</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1028700">
                <a:tc>
                  <a:txBody>
                    <a:bodyPr>
                      <a:noAutofit/>
                    </a:bodyPr>
                    <a:lstStyle/>
                    <a:p>
                      <a:pPr algn="ctr">
                        <a:lnSpc>
                          <a:spcPct val="100000"/>
                        </a:lnSpc>
                        <a:buNone/>
                      </a:pPr>
                      <a:r>
                        <a:rPr sz="1275" b="0">
                          <a:solidFill>
                            <a:srgbClr val="000000"/>
                          </a:solidFill>
                          <a:latin typeface="Times New Roman"/>
                          <a:ea typeface="Times New Roman"/>
                          <a:cs typeface="Times New Roman"/>
                        </a:rPr>
                        <a:t>20</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Energy Management System (EMS) Based on Model Predictive Control (MPC) for an Isolated DC Microgrid</a:t>
                      </a:r>
                      <a:endParaRPr sz="1400">
                        <a:latin typeface="Cambria"/>
                        <a:ea typeface="Cambria"/>
                        <a:cs typeface="Cambria"/>
                      </a:endParaRPr>
                    </a:p>
                    <a:p>
                      <a:pPr algn="l">
                        <a:lnSpc>
                          <a:spcPct val="100000"/>
                        </a:lnSpc>
                        <a:buNone/>
                      </a:pPr>
                      <a:r>
                        <a:rPr sz="1275" b="0">
                          <a:solidFill>
                            <a:srgbClr val="000000"/>
                          </a:solidFill>
                          <a:latin typeface="Times New Roman"/>
                          <a:ea typeface="Times New Roman"/>
                          <a:cs typeface="Times New Roman"/>
                        </a:rPr>
                        <a:t>Basantes et al., 2023</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Dispatch cost and battery limits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Hierarchical control + MPC</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Simulink + FICO Xpress scenarios</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Reduces simulated operating cost</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pPr algn="l">
                        <a:lnSpc>
                          <a:spcPct val="100000"/>
                        </a:lnSpc>
                        <a:buNone/>
                      </a:pPr>
                      <a:r>
                        <a:rPr sz="1275" b="0">
                          <a:solidFill>
                            <a:srgbClr val="000000"/>
                          </a:solidFill>
                          <a:latin typeface="Times New Roman"/>
                          <a:ea typeface="Times New Roman"/>
                          <a:cs typeface="Times New Roman"/>
                        </a:rPr>
                        <a:t>Battery degradation model deferred</a:t>
                      </a:r>
                      <a:endParaRPr sz="1400">
                        <a:latin typeface="Cambria"/>
                        <a:ea typeface="Cambria"/>
                        <a:cs typeface="Cambria"/>
                      </a:endParaRPr>
                    </a:p>
                  </a:txBody>
                  <a:tcPr marL="38100" marR="38100" marT="28575" marB="285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Tree>
    <p:extLst>
      <p:ext uri="{BB962C8B-B14F-4D97-AF65-F5344CB8AC3E}">
        <p14:creationId xmlns:p14="http://schemas.microsoft.com/office/powerpoint/2010/main" val="309177255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14953708-870D-42D0-8B19-82C38E9446F8}"/>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D3D7D1C8-AE23-AA48-DF65-C742588DBE47}" type="slidenum">
              <a:rPr sz="975" b="0" i="0" u="none">
                <a:solidFill>
                  <a:srgbClr val="595959"/>
                </a:solidFill>
                <a:latin typeface="Arial"/>
                <a:ea typeface="Arial"/>
                <a:cs typeface="Arial"/>
              </a:rPr>
              <a:t>7</a:t>
            </a:fld>
            <a:endParaRPr/>
          </a:p>
        </p:txBody>
      </p:sp>
      <p:sp>
        <p:nvSpPr>
          <p:cNvPr id="80" name="Google Shape;80;p3">
            <a:extLst xmlns:a="http://schemas.openxmlformats.org/drawingml/2006/main">
              <a:ext uri="{FF2B5EF4-FFF2-40B4-BE49-F238E27FC236}">
                <a16:creationId xmlns:a16="http://schemas.microsoft.com/office/drawing/2014/main" id="{23ABCAA9-61FE-4B40-9920-495B859A6715}"/>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325" b="1">
                <a:solidFill>
                  <a:srgbClr val="000000"/>
                </a:solidFill>
                <a:latin typeface="Times New Roman"/>
                <a:ea typeface="Times New Roman"/>
                <a:cs typeface="Times New Roman"/>
              </a:defRPr>
            </a:pPr>
            <a:r>
              <a:rPr sz="2325" b="1">
                <a:solidFill>
                  <a:srgbClr val="000000"/>
                </a:solidFill>
                <a:latin typeface="Times New Roman"/>
                <a:ea typeface="Times New Roman"/>
                <a:cs typeface="Times New Roman"/>
              </a:rPr>
              <a:t>Research Gap / Problem Identification</a:t>
            </a:r>
            <a:endParaRPr/>
          </a:p>
        </p:txBody>
      </p:sp>
      <p:sp>
        <p:nvSpPr>
          <p:cNvPr id="82" name="Project contribution">
            <a:extLst xmlns:a="http://schemas.openxmlformats.org/drawingml/2006/main">
              <a:ext uri="{FF2B5EF4-FFF2-40B4-BE49-F238E27FC236}">
                <a16:creationId xmlns:a16="http://schemas.microsoft.com/office/drawing/2014/main" id="{E5DDE454-5C64-468D-BDC9-085AAA0AF3AE}"/>
              </a:ext>
            </a:extLst>
          </p:cNvPr>
          <p:cNvSpPr>
            <a:spLocks xmlns:a="http://schemas.openxmlformats.org/drawingml/2006/main" noGrp="1"/>
          </p:cNvSpPr>
          <p:nvPr/>
        </p:nvSpPr>
        <p:spPr>
          <a:xfrm xmlns:a="http://schemas.openxmlformats.org/drawingml/2006/main">
            <a:off x="876300" y="5629275"/>
            <a:ext cx="75914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2175" b="1">
                <a:solidFill>
                  <a:srgbClr val="7030A0"/>
                </a:solidFill>
                <a:latin typeface="Times New Roman"/>
                <a:ea typeface="Times New Roman"/>
                <a:cs typeface="Times New Roman"/>
              </a:defRPr>
            </a:pPr>
            <a:r>
              <a:rPr sz="2175" b="1">
                <a:solidFill>
                  <a:srgbClr val="7030A0"/>
                </a:solidFill>
                <a:latin typeface="Times New Roman"/>
                <a:ea typeface="Times New Roman"/>
                <a:cs typeface="Times New Roman"/>
              </a:rPr>
              <a:t>Proposed contribution: turn battery and load measurements into explainable backup guidance.</a:t>
            </a:r>
          </a:p>
        </p:txBody>
      </p:sp>
      <p:sp>
        <p:nvSpPr>
          <p:cNvPr id="83" name="Research gap">
            <a:extLst xmlns:a="http://schemas.openxmlformats.org/drawingml/2006/main">
              <a:ext uri="{FF2B5EF4-FFF2-40B4-BE49-F238E27FC236}">
                <a16:creationId xmlns:a16="http://schemas.microsoft.com/office/drawing/2014/main" id="{EC936352-3191-4A96-9C3E-5B4D2E2359B2}"/>
              </a:ext>
            </a:extLst>
          </p:cNvPr>
          <p:cNvSpPr>
            <a:spLocks xmlns:a="http://schemas.openxmlformats.org/drawingml/2006/main" noGrp="1"/>
          </p:cNvSpPr>
          <p:nvPr/>
        </p:nvSpPr>
        <p:spPr>
          <a:xfrm xmlns:a="http://schemas.openxmlformats.org/drawingml/2006/main">
            <a:off x="876300" y="1323975"/>
            <a:ext cx="759142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chor="t">
            <a:noAutofit/>
          </a:bodyPr>
          <a:lstStyle xmlns:a="http://schemas.openxmlformats.org/drawingml/2006/main"/>
          <a:p xmlns:a="http://schemas.openxmlformats.org/drawingml/2006/main">
            <a:pPr marL="304800" indent="-203200" algn="l">
              <a:spcAft>
                <a:spcPts val="9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Battery percentage alone does not explain usable energy or backup time.</a:t>
            </a:r>
          </a:p>
          <a:p xmlns:a="http://schemas.openxmlformats.org/drawingml/2006/main">
            <a:pPr marL="304800" indent="-203200" algn="l">
              <a:spcAft>
                <a:spcPts val="9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Changing AC/DC loads and inverter losses affect remaining runtime.</a:t>
            </a:r>
          </a:p>
          <a:p xmlns:a="http://schemas.openxmlformats.org/drawingml/2006/main">
            <a:pPr marL="304800" indent="-203200" algn="l">
              <a:spcAft>
                <a:spcPts val="9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Battery-side signatures can overlap or vary with appliance states.</a:t>
            </a:r>
          </a:p>
          <a:p xmlns:a="http://schemas.openxmlformats.org/drawingml/2006/main">
            <a:pPr marL="304800" indent="-203200" algn="l">
              <a:spcAft>
                <a:spcPts val="9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Charging current can hide load demand and needs separate tracking.</a:t>
            </a:r>
          </a:p>
          <a:p xmlns:a="http://schemas.openxmlformats.org/drawingml/2006/main">
            <a:pPr marL="304800" indent="-203200" algn="l">
              <a:spcAft>
                <a:spcPts val="900"/>
              </a:spcAft>
              <a:buChar char="•"/>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Users need advice on optional loads and the expected backup benefit.</a:t>
            </a:r>
          </a:p>
        </p:txBody>
      </p:sp>
    </p:spTree>
    <p:extLst>
      <p:ext uri="{BB962C8B-B14F-4D97-AF65-F5344CB8AC3E}">
        <p14:creationId xmlns:p14="http://schemas.microsoft.com/office/powerpoint/2010/main" val="416341598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79" name="Google Shape;79;p3">
            <a:extLst xmlns:a="http://schemas.openxmlformats.org/drawingml/2006/main">
              <a:ext uri="{FF2B5EF4-FFF2-40B4-BE49-F238E27FC236}">
                <a16:creationId xmlns:a16="http://schemas.microsoft.com/office/drawing/2014/main" id="{6BAFA4E9-41FA-453E-93F9-2467BAC9ECA5}"/>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BA58DA2A-B818-18A9-29C1-B697728D5BCE}" type="slidenum">
              <a:rPr sz="975" b="0" i="0" u="none">
                <a:solidFill>
                  <a:srgbClr val="595959"/>
                </a:solidFill>
                <a:latin typeface="Arial"/>
                <a:ea typeface="Arial"/>
                <a:cs typeface="Arial"/>
              </a:rPr>
              <a:t>8</a:t>
            </a:fld>
            <a:endParaRPr/>
          </a:p>
        </p:txBody>
      </p:sp>
      <p:sp>
        <p:nvSpPr>
          <p:cNvPr id="80" name="Google Shape;80;p3">
            <a:extLst xmlns:a="http://schemas.openxmlformats.org/drawingml/2006/main">
              <a:ext uri="{FF2B5EF4-FFF2-40B4-BE49-F238E27FC236}">
                <a16:creationId xmlns:a16="http://schemas.microsoft.com/office/drawing/2014/main" id="{A2DE42AB-A3DA-4463-9222-CE3CC85B82B8}"/>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Problem Statement</a:t>
            </a:r>
            <a:endParaRPr/>
          </a:p>
        </p:txBody>
      </p:sp>
      <p:sp>
        <p:nvSpPr>
          <p:cNvPr id="4" name="Google Shape;80;p3">
            <a:extLst xmlns:a="http://schemas.openxmlformats.org/drawingml/2006/main">
              <a:ext uri="{FF2B5EF4-FFF2-40B4-BE49-F238E27FC236}">
                <a16:creationId xmlns:a16="http://schemas.microsoft.com/office/drawing/2014/main" id="{A47311C3-303B-4002-92D3-EBD858D74BA5}"/>
              </a:ext>
            </a:extLst>
          </p:cNvPr>
          <p:cNvSpPr>
            <a:spLocks xmlns:a="http://schemas.openxmlformats.org/drawingml/2006/main" noGrp="1"/>
          </p:cNvSpPr>
          <p:nvPr/>
        </p:nvSpPr>
        <p:spPr>
          <a:xfrm xmlns:a="http://schemas.openxmlformats.org/drawingml/2006/main">
            <a:off x="1562100" y="2952750"/>
            <a:ext cx="6134100" cy="523875"/>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Objectives</a:t>
            </a:r>
            <a:endParaRPr/>
          </a:p>
        </p:txBody>
      </p:sp>
      <p:sp>
        <p:nvSpPr>
          <p:cNvPr id="81" name="Problem statement">
            <a:extLst xmlns:a="http://schemas.openxmlformats.org/drawingml/2006/main">
              <a:ext uri="{FF2B5EF4-FFF2-40B4-BE49-F238E27FC236}">
                <a16:creationId xmlns:a16="http://schemas.microsoft.com/office/drawing/2014/main" id="{E3BF1702-63FF-4CF6-B780-0151FA8464F7}"/>
              </a:ext>
            </a:extLst>
          </p:cNvPr>
          <p:cNvSpPr>
            <a:spLocks xmlns:a="http://schemas.openxmlformats.org/drawingml/2006/main" noGrp="1"/>
          </p:cNvSpPr>
          <p:nvPr/>
        </p:nvSpPr>
        <p:spPr>
          <a:xfrm xmlns:a="http://schemas.openxmlformats.org/drawingml/2006/main">
            <a:off x="800100" y="1133475"/>
            <a:ext cx="766762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2175" b="0">
                <a:solidFill>
                  <a:srgbClr val="000000"/>
                </a:solidFill>
                <a:latin typeface="Times New Roman"/>
                <a:ea typeface="Times New Roman"/>
                <a:cs typeface="Times New Roman"/>
              </a:defRPr>
            </a:pPr>
            <a:r>
              <a:rPr sz="2175" b="0">
                <a:solidFill>
                  <a:srgbClr val="000000"/>
                </a:solidFill>
                <a:latin typeface="Times New Roman"/>
                <a:ea typeface="Times New Roman"/>
                <a:cs typeface="Times New Roman"/>
              </a:rPr>
              <a:t>Develop a battery-mounted device, powered by the battery, that estimates remaining energy and runtime, supports AC/DC loads and solar or AC charging, and recommends which optional loads to turn off.</a:t>
            </a:r>
          </a:p>
        </p:txBody>
      </p:sp>
      <p:sp>
        <p:nvSpPr>
          <p:cNvPr id="82" name="Objectives">
            <a:extLst xmlns:a="http://schemas.openxmlformats.org/drawingml/2006/main">
              <a:ext uri="{FF2B5EF4-FFF2-40B4-BE49-F238E27FC236}">
                <a16:creationId xmlns:a16="http://schemas.microsoft.com/office/drawing/2014/main" id="{52A99727-D061-4153-9418-AD7AC10DD864}"/>
              </a:ext>
            </a:extLst>
          </p:cNvPr>
          <p:cNvSpPr>
            <a:spLocks xmlns:a="http://schemas.openxmlformats.org/drawingml/2006/main" noGrp="1"/>
          </p:cNvSpPr>
          <p:nvPr/>
        </p:nvSpPr>
        <p:spPr>
          <a:xfrm xmlns:a="http://schemas.openxmlformats.org/drawingml/2006/main">
            <a:off x="895350" y="3714750"/>
            <a:ext cx="7581900" cy="2695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38100" tIns="38100" rIns="38100" bIns="38100" anchor="t">
            <a:noAutofit/>
          </a:bodyPr>
          <a:lstStyle xmlns:a="http://schemas.openxmlformats.org/drawingml/2006/main"/>
          <a:p xmlns:a="http://schemas.openxmlformats.org/drawingml/2006/main">
            <a:pPr marL="304800" indent="-203200" algn="l">
              <a:spcAft>
                <a:spcPts val="700"/>
              </a:spcAft>
              <a:buChar char="•"/>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Measure battery V/I/temperature and supporting load power.</a:t>
            </a:r>
          </a:p>
          <a:p xmlns:a="http://schemas.openxmlformats.org/drawingml/2006/main">
            <a:pPr marL="304800" indent="-203200" algn="l">
              <a:spcAft>
                <a:spcPts val="700"/>
              </a:spcAft>
              <a:buChar char="•"/>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Estimate charge, usable energy and backup with a stated reserve.</a:t>
            </a:r>
          </a:p>
          <a:p xmlns:a="http://schemas.openxmlformats.org/drawingml/2006/main">
            <a:pPr marL="304800" indent="-203200" algn="l">
              <a:spcAft>
                <a:spcPts val="700"/>
              </a:spcAft>
              <a:buChar char="•"/>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Learn 4–6 selected AC/DC load profiles with UNKNOWN handling.</a:t>
            </a:r>
          </a:p>
          <a:p xmlns:a="http://schemas.openxmlformats.org/drawingml/2006/main">
            <a:pPr marL="304800" indent="-203200" algn="l">
              <a:spcAft>
                <a:spcPts val="700"/>
              </a:spcAft>
              <a:buChar char="•"/>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Recommend optional loads to turn off using user-set priorities.</a:t>
            </a:r>
          </a:p>
          <a:p xmlns:a="http://schemas.openxmlformats.org/drawingml/2006/main">
            <a:pPr marL="304800" indent="-203200" algn="l">
              <a:spcAft>
                <a:spcPts val="700"/>
              </a:spcAft>
              <a:buChar char="•"/>
              <a:defRPr sz="2025" b="0">
                <a:solidFill>
                  <a:srgbClr val="000000"/>
                </a:solidFill>
                <a:latin typeface="Times New Roman"/>
                <a:ea typeface="Times New Roman"/>
                <a:cs typeface="Times New Roman"/>
              </a:defRPr>
            </a:pPr>
            <a:r>
              <a:rPr sz="2025" b="0">
                <a:solidFill>
                  <a:srgbClr val="000000"/>
                </a:solidFill>
                <a:latin typeface="Times New Roman"/>
                <a:ea typeface="Times New Roman"/>
                <a:cs typeface="Times New Roman"/>
              </a:rPr>
              <a:t>Validate energy/runtime errors and recommendation benefit.</a:t>
            </a:r>
          </a:p>
        </p:txBody>
      </p:sp>
    </p:spTree>
    <p:extLst>
      <p:ext uri="{BB962C8B-B14F-4D97-AF65-F5344CB8AC3E}">
        <p14:creationId xmlns:p14="http://schemas.microsoft.com/office/powerpoint/2010/main" val="427527202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1B7AA39D-A40A-44AE-ABAF-889A848DB83C}"/>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388657AE-30A1-5A7A-6A7F-315D84436430}" type="slidenum">
              <a:rPr sz="975" b="0" i="0" u="none">
                <a:solidFill>
                  <a:srgbClr val="595959"/>
                </a:solidFill>
                <a:latin typeface="Arial"/>
                <a:ea typeface="Arial"/>
                <a:cs typeface="Arial"/>
              </a:rPr>
              <a:t>9</a:t>
            </a:fld>
            <a:endParaRPr/>
          </a:p>
        </p:txBody>
      </p:sp>
      <p:sp>
        <p:nvSpPr>
          <p:cNvPr id="88" name="Google Shape;88;p4">
            <a:extLst xmlns:a="http://schemas.openxmlformats.org/drawingml/2006/main">
              <a:ext uri="{FF2B5EF4-FFF2-40B4-BE49-F238E27FC236}">
                <a16:creationId xmlns:a16="http://schemas.microsoft.com/office/drawing/2014/main" id="{05BCA293-2FF2-4BBF-9806-B1C8B954F2C8}"/>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Proposed System Architecture</a:t>
            </a:r>
            <a:endParaRPr sz="1050"/>
          </a:p>
        </p:txBody>
      </p:sp>
      <p:sp>
        <p:nvSpPr>
          <p:cNvPr id="89" name="Power-flow heading">
            <a:extLst xmlns:a="http://schemas.openxmlformats.org/drawingml/2006/main">
              <a:ext uri="{FF2B5EF4-FFF2-40B4-BE49-F238E27FC236}">
                <a16:creationId xmlns:a16="http://schemas.microsoft.com/office/drawing/2014/main" id="{1756C901-7175-47FE-9DF2-AF6FE14722F5}"/>
              </a:ext>
            </a:extLst>
          </p:cNvPr>
          <p:cNvSpPr>
            <a:spLocks xmlns:a="http://schemas.openxmlformats.org/drawingml/2006/main" noGrp="1"/>
          </p:cNvSpPr>
          <p:nvPr/>
        </p:nvSpPr>
        <p:spPr>
          <a:xfrm xmlns:a="http://schemas.openxmlformats.org/drawingml/2006/main">
            <a:off x="381000" y="914400"/>
            <a:ext cx="838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ctr">
              <a:defRPr sz="1725" b="1">
                <a:solidFill>
                  <a:srgbClr val="000000"/>
                </a:solidFill>
                <a:latin typeface="Times New Roman"/>
                <a:ea typeface="Times New Roman"/>
                <a:cs typeface="Times New Roman"/>
              </a:defRPr>
            </a:pPr>
            <a:r>
              <a:rPr sz="1725" b="1">
                <a:solidFill>
                  <a:srgbClr val="000000"/>
                </a:solidFill>
                <a:latin typeface="Times New Roman"/>
                <a:ea typeface="Times New Roman"/>
                <a:cs typeface="Times New Roman"/>
              </a:rPr>
              <a:t>Power paths: charging, battery and AC/DC loads</a:t>
            </a:r>
          </a:p>
        </p:txBody>
      </p:sp>
      <p:sp>
        <p:nvSpPr>
          <p:cNvPr id="90" name="Solar panel">
            <a:extLst xmlns:a="http://schemas.openxmlformats.org/drawingml/2006/main">
              <a:ext uri="{FF2B5EF4-FFF2-40B4-BE49-F238E27FC236}">
                <a16:creationId xmlns:a16="http://schemas.microsoft.com/office/drawing/2014/main" id="{8EE2B9BC-9565-43FC-8521-3509ADE20F57}"/>
              </a:ext>
            </a:extLst>
          </p:cNvPr>
          <p:cNvSpPr>
            <a:spLocks xmlns:a="http://schemas.openxmlformats.org/drawingml/2006/main" noGrp="1"/>
          </p:cNvSpPr>
          <p:nvPr/>
        </p:nvSpPr>
        <p:spPr>
          <a:xfrm xmlns:a="http://schemas.openxmlformats.org/drawingml/2006/main">
            <a:off x="285750" y="1257300"/>
            <a:ext cx="1381125" cy="476250"/>
          </a:xfrm>
          <a:prstGeom xmlns:a="http://schemas.openxmlformats.org/drawingml/2006/main" prst="rect">
            <a:avLst/>
          </a:prstGeom>
          <a:solidFill xmlns:a="http://schemas.openxmlformats.org/drawingml/2006/main">
            <a:srgbClr val="FFF0DD"/>
          </a:solidFill>
          <a:ln xmlns:a="http://schemas.openxmlformats.org/drawingml/2006/main" w="11430">
            <a:solidFill>
              <a:srgbClr val="333333"/>
            </a:solid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Solar panel</a:t>
            </a:r>
          </a:p>
        </p:txBody>
      </p:sp>
      <p:sp>
        <p:nvSpPr>
          <p:cNvPr id="91" name="Solar controller">
            <a:extLst xmlns:a="http://schemas.openxmlformats.org/drawingml/2006/main">
              <a:ext uri="{FF2B5EF4-FFF2-40B4-BE49-F238E27FC236}">
                <a16:creationId xmlns:a16="http://schemas.microsoft.com/office/drawing/2014/main" id="{674E5503-8AA6-417D-9A5E-418FF9B3B3BC}"/>
              </a:ext>
            </a:extLst>
          </p:cNvPr>
          <p:cNvSpPr>
            <a:spLocks xmlns:a="http://schemas.openxmlformats.org/drawingml/2006/main" noGrp="1"/>
          </p:cNvSpPr>
          <p:nvPr/>
        </p:nvSpPr>
        <p:spPr>
          <a:xfrm xmlns:a="http://schemas.openxmlformats.org/drawingml/2006/main">
            <a:off x="2047875" y="1257300"/>
            <a:ext cx="1619250" cy="476250"/>
          </a:xfrm>
          <a:prstGeom xmlns:a="http://schemas.openxmlformats.org/drawingml/2006/main" prst="rect">
            <a:avLst/>
          </a:prstGeom>
          <a:solidFill xmlns:a="http://schemas.openxmlformats.org/drawingml/2006/main">
            <a:srgbClr val="FFF0DD"/>
          </a:solidFill>
          <a:ln xmlns:a="http://schemas.openxmlformats.org/drawingml/2006/main" w="11430">
            <a:solidFill>
              <a:srgbClr val="333333"/>
            </a:solid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Solar charge</a:t>
            </a:r>
          </a:p>
          <a:p xmlns:a="http://schemas.openxmlformats.org/drawingml/2006/main">
            <a:pPr algn="ctr">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controller</a:t>
            </a:r>
          </a:p>
        </p:txBody>
      </p:sp>
      <p:sp>
        <p:nvSpPr>
          <p:cNvPr id="92" name="AC charging source">
            <a:extLst xmlns:a="http://schemas.openxmlformats.org/drawingml/2006/main">
              <a:ext uri="{FF2B5EF4-FFF2-40B4-BE49-F238E27FC236}">
                <a16:creationId xmlns:a16="http://schemas.microsoft.com/office/drawing/2014/main" id="{652E6D38-3792-4388-B52E-EF10444FC102}"/>
              </a:ext>
            </a:extLst>
          </p:cNvPr>
          <p:cNvSpPr>
            <a:spLocks xmlns:a="http://schemas.openxmlformats.org/drawingml/2006/main" noGrp="1"/>
          </p:cNvSpPr>
          <p:nvPr/>
        </p:nvSpPr>
        <p:spPr>
          <a:xfrm xmlns:a="http://schemas.openxmlformats.org/drawingml/2006/main">
            <a:off x="285750" y="2066925"/>
            <a:ext cx="1381125" cy="476250"/>
          </a:xfrm>
          <a:prstGeom xmlns:a="http://schemas.openxmlformats.org/drawingml/2006/main" prst="rect">
            <a:avLst/>
          </a:prstGeom>
          <a:solidFill xmlns:a="http://schemas.openxmlformats.org/drawingml/2006/main">
            <a:srgbClr val="FFF0DD"/>
          </a:solidFill>
          <a:ln xmlns:a="http://schemas.openxmlformats.org/drawingml/2006/main" w="11430">
            <a:solidFill>
              <a:srgbClr val="333333"/>
            </a:solid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AC mains</a:t>
            </a:r>
          </a:p>
        </p:txBody>
      </p:sp>
      <p:sp>
        <p:nvSpPr>
          <p:cNvPr id="93" name="AC battery charger">
            <a:extLst xmlns:a="http://schemas.openxmlformats.org/drawingml/2006/main">
              <a:ext uri="{FF2B5EF4-FFF2-40B4-BE49-F238E27FC236}">
                <a16:creationId xmlns:a16="http://schemas.microsoft.com/office/drawing/2014/main" id="{A81EC9DA-785A-41B0-82EB-BF51BD646A42}"/>
              </a:ext>
            </a:extLst>
          </p:cNvPr>
          <p:cNvSpPr>
            <a:spLocks xmlns:a="http://schemas.openxmlformats.org/drawingml/2006/main" noGrp="1"/>
          </p:cNvSpPr>
          <p:nvPr/>
        </p:nvSpPr>
        <p:spPr>
          <a:xfrm xmlns:a="http://schemas.openxmlformats.org/drawingml/2006/main">
            <a:off x="2047875" y="2066925"/>
            <a:ext cx="1619250" cy="476250"/>
          </a:xfrm>
          <a:prstGeom xmlns:a="http://schemas.openxmlformats.org/drawingml/2006/main" prst="rect">
            <a:avLst/>
          </a:prstGeom>
          <a:solidFill xmlns:a="http://schemas.openxmlformats.org/drawingml/2006/main">
            <a:srgbClr val="FFF0DD"/>
          </a:solidFill>
          <a:ln xmlns:a="http://schemas.openxmlformats.org/drawingml/2006/main" w="11430">
            <a:solidFill>
              <a:srgbClr val="333333"/>
            </a:solid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Compatible AC/DC</a:t>
            </a:r>
          </a:p>
          <a:p xmlns:a="http://schemas.openxmlformats.org/drawingml/2006/main">
            <a:pPr algn="ctr">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battery charger</a:t>
            </a:r>
          </a:p>
        </p:txBody>
      </p:sp>
      <p:sp>
        <p:nvSpPr>
          <p:cNvPr id="94" name="Protected DC bus">
            <a:extLst xmlns:a="http://schemas.openxmlformats.org/drawingml/2006/main">
              <a:ext uri="{FF2B5EF4-FFF2-40B4-BE49-F238E27FC236}">
                <a16:creationId xmlns:a16="http://schemas.microsoft.com/office/drawing/2014/main" id="{2FE0A52F-2889-409E-BA21-75BE3F597833}"/>
              </a:ext>
            </a:extLst>
          </p:cNvPr>
          <p:cNvSpPr>
            <a:spLocks xmlns:a="http://schemas.openxmlformats.org/drawingml/2006/main" noGrp="1"/>
          </p:cNvSpPr>
          <p:nvPr/>
        </p:nvSpPr>
        <p:spPr>
          <a:xfrm xmlns:a="http://schemas.openxmlformats.org/drawingml/2006/main">
            <a:off x="4095750" y="1685925"/>
            <a:ext cx="1476375" cy="619125"/>
          </a:xfrm>
          <a:prstGeom xmlns:a="http://schemas.openxmlformats.org/drawingml/2006/main" prst="rect">
            <a:avLst/>
          </a:prstGeom>
          <a:solidFill xmlns:a="http://schemas.openxmlformats.org/drawingml/2006/main">
            <a:srgbClr val="F0E7F8"/>
          </a:solidFill>
          <a:ln xmlns:a="http://schemas.openxmlformats.org/drawingml/2006/main" w="11430">
            <a:solidFill>
              <a:srgbClr val="333333"/>
            </a:solid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Protected</a:t>
            </a:r>
          </a:p>
          <a:p xmlns:a="http://schemas.openxmlformats.org/drawingml/2006/main">
            <a:pPr algn="ctr">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DC system bus</a:t>
            </a:r>
          </a:p>
        </p:txBody>
      </p:sp>
      <p:sp>
        <p:nvSpPr>
          <p:cNvPr id="95" name="DC load converter">
            <a:extLst xmlns:a="http://schemas.openxmlformats.org/drawingml/2006/main">
              <a:ext uri="{FF2B5EF4-FFF2-40B4-BE49-F238E27FC236}">
                <a16:creationId xmlns:a16="http://schemas.microsoft.com/office/drawing/2014/main" id="{D066C9BF-D1F1-4608-9951-2B6C24E03236}"/>
              </a:ext>
            </a:extLst>
          </p:cNvPr>
          <p:cNvSpPr>
            <a:spLocks xmlns:a="http://schemas.openxmlformats.org/drawingml/2006/main" noGrp="1"/>
          </p:cNvSpPr>
          <p:nvPr/>
        </p:nvSpPr>
        <p:spPr>
          <a:xfrm xmlns:a="http://schemas.openxmlformats.org/drawingml/2006/main">
            <a:off x="6000750" y="1257300"/>
            <a:ext cx="1285875" cy="476250"/>
          </a:xfrm>
          <a:prstGeom xmlns:a="http://schemas.openxmlformats.org/drawingml/2006/main" prst="rect">
            <a:avLst/>
          </a:prstGeom>
          <a:solidFill xmlns:a="http://schemas.openxmlformats.org/drawingml/2006/main">
            <a:srgbClr val="FFF0DD"/>
          </a:solidFill>
          <a:ln xmlns:a="http://schemas.openxmlformats.org/drawingml/2006/main" w="11430">
            <a:solidFill>
              <a:srgbClr val="333333"/>
            </a:solid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DC/DC</a:t>
            </a:r>
          </a:p>
          <a:p xmlns:a="http://schemas.openxmlformats.org/drawingml/2006/main">
            <a:pPr algn="ctr">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converter</a:t>
            </a:r>
          </a:p>
        </p:txBody>
      </p:sp>
      <p:sp>
        <p:nvSpPr>
          <p:cNvPr id="96" name="DC loads">
            <a:extLst xmlns:a="http://schemas.openxmlformats.org/drawingml/2006/main">
              <a:ext uri="{FF2B5EF4-FFF2-40B4-BE49-F238E27FC236}">
                <a16:creationId xmlns:a16="http://schemas.microsoft.com/office/drawing/2014/main" id="{E7DFEF43-46D3-43F2-BAFA-9222401BD1DC}"/>
              </a:ext>
            </a:extLst>
          </p:cNvPr>
          <p:cNvSpPr>
            <a:spLocks xmlns:a="http://schemas.openxmlformats.org/drawingml/2006/main" noGrp="1"/>
          </p:cNvSpPr>
          <p:nvPr/>
        </p:nvSpPr>
        <p:spPr>
          <a:xfrm xmlns:a="http://schemas.openxmlformats.org/drawingml/2006/main">
            <a:off x="7667625" y="1257300"/>
            <a:ext cx="1200150" cy="476250"/>
          </a:xfrm>
          <a:prstGeom xmlns:a="http://schemas.openxmlformats.org/drawingml/2006/main" prst="rect">
            <a:avLst/>
          </a:prstGeom>
          <a:solidFill xmlns:a="http://schemas.openxmlformats.org/drawingml/2006/main">
            <a:srgbClr val="FFF0DD"/>
          </a:solidFill>
          <a:ln xmlns:a="http://schemas.openxmlformats.org/drawingml/2006/main" w="11430">
            <a:solidFill>
              <a:srgbClr val="333333"/>
            </a:solid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DC loads</a:t>
            </a:r>
          </a:p>
        </p:txBody>
      </p:sp>
      <p:sp>
        <p:nvSpPr>
          <p:cNvPr id="97" name="AC load inverter">
            <a:extLst xmlns:a="http://schemas.openxmlformats.org/drawingml/2006/main">
              <a:ext uri="{FF2B5EF4-FFF2-40B4-BE49-F238E27FC236}">
                <a16:creationId xmlns:a16="http://schemas.microsoft.com/office/drawing/2014/main" id="{19FF45D7-5191-448B-AF92-3703A757A844}"/>
              </a:ext>
            </a:extLst>
          </p:cNvPr>
          <p:cNvSpPr>
            <a:spLocks xmlns:a="http://schemas.openxmlformats.org/drawingml/2006/main" noGrp="1"/>
          </p:cNvSpPr>
          <p:nvPr/>
        </p:nvSpPr>
        <p:spPr>
          <a:xfrm xmlns:a="http://schemas.openxmlformats.org/drawingml/2006/main">
            <a:off x="6000750" y="2066925"/>
            <a:ext cx="1285875" cy="476250"/>
          </a:xfrm>
          <a:prstGeom xmlns:a="http://schemas.openxmlformats.org/drawingml/2006/main" prst="rect">
            <a:avLst/>
          </a:prstGeom>
          <a:solidFill xmlns:a="http://schemas.openxmlformats.org/drawingml/2006/main">
            <a:srgbClr val="FFF0DD"/>
          </a:solidFill>
          <a:ln xmlns:a="http://schemas.openxmlformats.org/drawingml/2006/main" w="11430">
            <a:solidFill>
              <a:srgbClr val="333333"/>
            </a:solid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Inverter</a:t>
            </a:r>
          </a:p>
        </p:txBody>
      </p:sp>
      <p:sp>
        <p:nvSpPr>
          <p:cNvPr id="98" name="AC loads">
            <a:extLst xmlns:a="http://schemas.openxmlformats.org/drawingml/2006/main">
              <a:ext uri="{FF2B5EF4-FFF2-40B4-BE49-F238E27FC236}">
                <a16:creationId xmlns:a16="http://schemas.microsoft.com/office/drawing/2014/main" id="{365241D4-62A4-4A3C-BF17-47562336CFBB}"/>
              </a:ext>
            </a:extLst>
          </p:cNvPr>
          <p:cNvSpPr>
            <a:spLocks xmlns:a="http://schemas.openxmlformats.org/drawingml/2006/main" noGrp="1"/>
          </p:cNvSpPr>
          <p:nvPr/>
        </p:nvSpPr>
        <p:spPr>
          <a:xfrm xmlns:a="http://schemas.openxmlformats.org/drawingml/2006/main">
            <a:off x="7667625" y="2066925"/>
            <a:ext cx="1200150" cy="476250"/>
          </a:xfrm>
          <a:prstGeom xmlns:a="http://schemas.openxmlformats.org/drawingml/2006/main" prst="rect">
            <a:avLst/>
          </a:prstGeom>
          <a:solidFill xmlns:a="http://schemas.openxmlformats.org/drawingml/2006/main">
            <a:srgbClr val="FFF0DD"/>
          </a:solidFill>
          <a:ln xmlns:a="http://schemas.openxmlformats.org/drawingml/2006/main" w="11430">
            <a:solidFill>
              <a:srgbClr val="333333"/>
            </a:solid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AC loads</a:t>
            </a:r>
          </a:p>
        </p:txBody>
      </p:sp>
      <p:sp>
        <p:nvSpPr>
          <p:cNvPr id="99" name="Whole battery sensor">
            <a:extLst xmlns:a="http://schemas.openxmlformats.org/drawingml/2006/main">
              <a:ext uri="{FF2B5EF4-FFF2-40B4-BE49-F238E27FC236}">
                <a16:creationId xmlns:a16="http://schemas.microsoft.com/office/drawing/2014/main" id="{68A877BA-3544-4E7A-9C8D-1B21E267E5B3}"/>
              </a:ext>
            </a:extLst>
          </p:cNvPr>
          <p:cNvSpPr>
            <a:spLocks xmlns:a="http://schemas.openxmlformats.org/drawingml/2006/main" noGrp="1"/>
          </p:cNvSpPr>
          <p:nvPr/>
        </p:nvSpPr>
        <p:spPr>
          <a:xfrm xmlns:a="http://schemas.openxmlformats.org/drawingml/2006/main">
            <a:off x="4095750" y="2638425"/>
            <a:ext cx="1476375" cy="523875"/>
          </a:xfrm>
          <a:prstGeom xmlns:a="http://schemas.openxmlformats.org/drawingml/2006/main" prst="rect">
            <a:avLst/>
          </a:prstGeom>
          <a:solidFill xmlns:a="http://schemas.openxmlformats.org/drawingml/2006/main">
            <a:srgbClr val="F0E7F8"/>
          </a:solidFill>
          <a:ln xmlns:a="http://schemas.openxmlformats.org/drawingml/2006/main" w="11430">
            <a:solidFill>
              <a:srgbClr val="333333"/>
            </a:solid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Rated bidirectional</a:t>
            </a:r>
          </a:p>
          <a:p xmlns:a="http://schemas.openxmlformats.org/drawingml/2006/main">
            <a:pPr algn="ct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DC current sensor</a:t>
            </a:r>
          </a:p>
        </p:txBody>
      </p:sp>
      <p:sp>
        <p:nvSpPr>
          <p:cNvPr id="100" name="Protected battery">
            <a:extLst xmlns:a="http://schemas.openxmlformats.org/drawingml/2006/main">
              <a:ext uri="{FF2B5EF4-FFF2-40B4-BE49-F238E27FC236}">
                <a16:creationId xmlns:a16="http://schemas.microsoft.com/office/drawing/2014/main" id="{F102211E-A8AB-4FCC-B66F-B2ABA6207AD5}"/>
              </a:ext>
            </a:extLst>
          </p:cNvPr>
          <p:cNvSpPr>
            <a:spLocks xmlns:a="http://schemas.openxmlformats.org/drawingml/2006/main" noGrp="1"/>
          </p:cNvSpPr>
          <p:nvPr/>
        </p:nvSpPr>
        <p:spPr>
          <a:xfrm xmlns:a="http://schemas.openxmlformats.org/drawingml/2006/main">
            <a:off x="4095750" y="3448050"/>
            <a:ext cx="1476375" cy="533400"/>
          </a:xfrm>
          <a:prstGeom xmlns:a="http://schemas.openxmlformats.org/drawingml/2006/main" prst="rect">
            <a:avLst/>
          </a:prstGeom>
          <a:solidFill xmlns:a="http://schemas.openxmlformats.org/drawingml/2006/main">
            <a:srgbClr val="F0E7F8"/>
          </a:solidFill>
          <a:ln xmlns:a="http://schemas.openxmlformats.org/drawingml/2006/main" w="11430">
            <a:solidFill>
              <a:srgbClr val="333333"/>
            </a:solid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Battery with</a:t>
            </a:r>
          </a:p>
          <a:p xmlns:a="http://schemas.openxmlformats.org/drawingml/2006/main">
            <a:pPr algn="ct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commercial BMS</a:t>
            </a:r>
          </a:p>
        </p:txBody>
      </p:sp>
      <p:sp>
        <p:nvSpPr>
          <p:cNvPr id="101" name="Device regulator">
            <a:extLst xmlns:a="http://schemas.openxmlformats.org/drawingml/2006/main">
              <a:ext uri="{FF2B5EF4-FFF2-40B4-BE49-F238E27FC236}">
                <a16:creationId xmlns:a16="http://schemas.microsoft.com/office/drawing/2014/main" id="{DC963E2E-146F-4F35-92C8-08314485B991}"/>
              </a:ext>
            </a:extLst>
          </p:cNvPr>
          <p:cNvSpPr>
            <a:spLocks xmlns:a="http://schemas.openxmlformats.org/drawingml/2006/main" noGrp="1"/>
          </p:cNvSpPr>
          <p:nvPr/>
        </p:nvSpPr>
        <p:spPr>
          <a:xfrm xmlns:a="http://schemas.openxmlformats.org/drawingml/2006/main">
            <a:off x="6000750" y="3448050"/>
            <a:ext cx="1285875" cy="533400"/>
          </a:xfrm>
          <a:prstGeom xmlns:a="http://schemas.openxmlformats.org/drawingml/2006/main" prst="rect">
            <a:avLst/>
          </a:prstGeom>
          <a:solidFill xmlns:a="http://schemas.openxmlformats.org/drawingml/2006/main">
            <a:srgbClr val="FFF0DD"/>
          </a:solidFill>
          <a:ln xmlns:a="http://schemas.openxmlformats.org/drawingml/2006/main" w="11430">
            <a:solidFill>
              <a:srgbClr val="333333"/>
            </a:solid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Regulated</a:t>
            </a:r>
          </a:p>
          <a:p xmlns:a="http://schemas.openxmlformats.org/drawingml/2006/main">
            <a:pPr algn="ctr">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device supply</a:t>
            </a:r>
          </a:p>
        </p:txBody>
      </p:sp>
      <p:sp>
        <p:nvSpPr>
          <p:cNvPr id="102" name="Battery-powered WattSense">
            <a:extLst xmlns:a="http://schemas.openxmlformats.org/drawingml/2006/main">
              <a:ext uri="{FF2B5EF4-FFF2-40B4-BE49-F238E27FC236}">
                <a16:creationId xmlns:a16="http://schemas.microsoft.com/office/drawing/2014/main" id="{D35A895E-5B7B-4862-BE70-EE4FDDF12B3B}"/>
              </a:ext>
            </a:extLst>
          </p:cNvPr>
          <p:cNvSpPr>
            <a:spLocks xmlns:a="http://schemas.openxmlformats.org/drawingml/2006/main" noGrp="1"/>
          </p:cNvSpPr>
          <p:nvPr/>
        </p:nvSpPr>
        <p:spPr>
          <a:xfrm xmlns:a="http://schemas.openxmlformats.org/drawingml/2006/main">
            <a:off x="7667625" y="3448050"/>
            <a:ext cx="1200150" cy="533400"/>
          </a:xfrm>
          <a:prstGeom xmlns:a="http://schemas.openxmlformats.org/drawingml/2006/main" prst="rect">
            <a:avLst/>
          </a:prstGeom>
          <a:solidFill xmlns:a="http://schemas.openxmlformats.org/drawingml/2006/main">
            <a:srgbClr val="F0E7F8"/>
          </a:solidFill>
          <a:ln xmlns:a="http://schemas.openxmlformats.org/drawingml/2006/main" w="11430">
            <a:solidFill>
              <a:srgbClr val="333333"/>
            </a:solid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WattSense</a:t>
            </a:r>
          </a:p>
          <a:p xmlns:a="http://schemas.openxmlformats.org/drawingml/2006/main">
            <a:pPr algn="ctr">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ESP32</a:t>
            </a:r>
          </a:p>
        </p:txBody>
      </p:sp>
      <p:cxnSp>
        <p:nvCxnSpPr>
          <p:cNvPr id="140" name=""/>
          <p:cNvCxnSpPr>
            <a:stCxn xmlns:a="http://schemas.openxmlformats.org/drawingml/2006/main" id="90" idx="3"/>
            <a:endCxn xmlns:a="http://schemas.openxmlformats.org/drawingml/2006/main" id="91" idx="1"/>
          </p:cNvCxnSpPr>
          <p:nvPr/>
        </p:nvCxnSpPr>
        <p:spPr>
          <a:xfrm xmlns:a="http://schemas.openxmlformats.org/drawingml/2006/main">
            <a:off x="1666875" y="1495425"/>
            <a:ext cx="381000" cy="0"/>
          </a:xfrm>
          <a:prstGeom xmlns:a="http://schemas.openxmlformats.org/drawingml/2006/main" prst="straightConnector1">
            <a:avLst/>
          </a:prstGeom>
          <a:ln xmlns:a="http://schemas.openxmlformats.org/drawingml/2006/main" w="16193">
            <a:solidFill>
              <a:srgbClr val="23588C"/>
            </a:solidFill>
            <a:tailEnd type="triangle" w="sm" len="sm"/>
          </a:ln>
        </p:spPr>
      </p:cxnSp>
      <p:cxnSp>
        <p:nvCxnSpPr>
          <p:cNvPr id="141" name=""/>
          <p:cNvCxnSpPr>
            <a:stCxn xmlns:a="http://schemas.openxmlformats.org/drawingml/2006/main" id="91" idx="3"/>
            <a:endCxn xmlns:a="http://schemas.openxmlformats.org/drawingml/2006/main" id="94" idx="1"/>
          </p:cNvCxnSpPr>
          <p:nvPr/>
        </p:nvCxnSpPr>
        <p:spPr>
          <a:xfrm xmlns:a="http://schemas.openxmlformats.org/drawingml/2006/main">
            <a:off x="3667125" y="1495425"/>
            <a:ext cx="428625" cy="500063"/>
          </a:xfrm>
          <a:prstGeom xmlns:a="http://schemas.openxmlformats.org/drawingml/2006/main" prst="bentConnector3">
            <a:avLst>
              <a:gd name="adj1" fmla="val 50000"/>
            </a:avLst>
          </a:prstGeom>
          <a:ln xmlns:a="http://schemas.openxmlformats.org/drawingml/2006/main" w="16193">
            <a:solidFill>
              <a:srgbClr val="23588C"/>
            </a:solidFill>
            <a:tailEnd type="triangle" w="sm" len="sm"/>
          </a:ln>
        </p:spPr>
      </p:cxnSp>
      <p:cxnSp>
        <p:nvCxnSpPr>
          <p:cNvPr id="142" name=""/>
          <p:cNvCxnSpPr>
            <a:stCxn xmlns:a="http://schemas.openxmlformats.org/drawingml/2006/main" id="92" idx="3"/>
            <a:endCxn xmlns:a="http://schemas.openxmlformats.org/drawingml/2006/main" id="93" idx="1"/>
          </p:cNvCxnSpPr>
          <p:nvPr/>
        </p:nvCxnSpPr>
        <p:spPr>
          <a:xfrm xmlns:a="http://schemas.openxmlformats.org/drawingml/2006/main">
            <a:off x="1666875" y="2305050"/>
            <a:ext cx="381000" cy="0"/>
          </a:xfrm>
          <a:prstGeom xmlns:a="http://schemas.openxmlformats.org/drawingml/2006/main" prst="straightConnector1">
            <a:avLst/>
          </a:prstGeom>
          <a:ln xmlns:a="http://schemas.openxmlformats.org/drawingml/2006/main" w="16193">
            <a:solidFill>
              <a:srgbClr val="23588C"/>
            </a:solidFill>
            <a:tailEnd type="triangle" w="sm" len="sm"/>
          </a:ln>
        </p:spPr>
      </p:cxnSp>
      <p:cxnSp>
        <p:nvCxnSpPr>
          <p:cNvPr id="143" name=""/>
          <p:cNvCxnSpPr>
            <a:stCxn xmlns:a="http://schemas.openxmlformats.org/drawingml/2006/main" id="93" idx="3"/>
            <a:endCxn xmlns:a="http://schemas.openxmlformats.org/drawingml/2006/main" id="94" idx="1"/>
          </p:cNvCxnSpPr>
          <p:nvPr/>
        </p:nvCxnSpPr>
        <p:spPr>
          <a:xfrm xmlns:a="http://schemas.openxmlformats.org/drawingml/2006/main" flipV="1">
            <a:off x="3667125" y="1995488"/>
            <a:ext cx="428625" cy="309563"/>
          </a:xfrm>
          <a:prstGeom xmlns:a="http://schemas.openxmlformats.org/drawingml/2006/main" prst="bentConnector3">
            <a:avLst>
              <a:gd name="adj1" fmla="val 50000"/>
            </a:avLst>
          </a:prstGeom>
          <a:ln xmlns:a="http://schemas.openxmlformats.org/drawingml/2006/main" w="16193">
            <a:solidFill>
              <a:srgbClr val="23588C"/>
            </a:solidFill>
            <a:tailEnd type="triangle" w="sm" len="sm"/>
          </a:ln>
        </p:spPr>
      </p:cxnSp>
      <p:cxnSp>
        <p:nvCxnSpPr>
          <p:cNvPr id="144" name=""/>
          <p:cNvCxnSpPr>
            <a:stCxn xmlns:a="http://schemas.openxmlformats.org/drawingml/2006/main" id="94" idx="3"/>
            <a:endCxn xmlns:a="http://schemas.openxmlformats.org/drawingml/2006/main" id="95" idx="1"/>
          </p:cNvCxnSpPr>
          <p:nvPr/>
        </p:nvCxnSpPr>
        <p:spPr>
          <a:xfrm xmlns:a="http://schemas.openxmlformats.org/drawingml/2006/main" flipV="1">
            <a:off x="5572125" y="1495425"/>
            <a:ext cx="428625" cy="500063"/>
          </a:xfrm>
          <a:prstGeom xmlns:a="http://schemas.openxmlformats.org/drawingml/2006/main" prst="bentConnector3">
            <a:avLst>
              <a:gd name="adj1" fmla="val 50000"/>
            </a:avLst>
          </a:prstGeom>
          <a:ln xmlns:a="http://schemas.openxmlformats.org/drawingml/2006/main" w="16193">
            <a:solidFill>
              <a:srgbClr val="23588C"/>
            </a:solidFill>
            <a:tailEnd type="triangle" w="sm" len="sm"/>
          </a:ln>
        </p:spPr>
      </p:cxnSp>
      <p:cxnSp>
        <p:nvCxnSpPr>
          <p:cNvPr id="145" name=""/>
          <p:cNvCxnSpPr>
            <a:stCxn xmlns:a="http://schemas.openxmlformats.org/drawingml/2006/main" id="95" idx="3"/>
            <a:endCxn xmlns:a="http://schemas.openxmlformats.org/drawingml/2006/main" id="96" idx="1"/>
          </p:cNvCxnSpPr>
          <p:nvPr/>
        </p:nvCxnSpPr>
        <p:spPr>
          <a:xfrm xmlns:a="http://schemas.openxmlformats.org/drawingml/2006/main">
            <a:off x="7286625" y="1495425"/>
            <a:ext cx="381000" cy="0"/>
          </a:xfrm>
          <a:prstGeom xmlns:a="http://schemas.openxmlformats.org/drawingml/2006/main" prst="straightConnector1">
            <a:avLst/>
          </a:prstGeom>
          <a:ln xmlns:a="http://schemas.openxmlformats.org/drawingml/2006/main" w="16193">
            <a:solidFill>
              <a:srgbClr val="23588C"/>
            </a:solidFill>
            <a:tailEnd type="triangle" w="sm" len="sm"/>
          </a:ln>
        </p:spPr>
      </p:cxnSp>
      <p:cxnSp>
        <p:nvCxnSpPr>
          <p:cNvPr id="146" name=""/>
          <p:cNvCxnSpPr>
            <a:stCxn xmlns:a="http://schemas.openxmlformats.org/drawingml/2006/main" id="94" idx="3"/>
            <a:endCxn xmlns:a="http://schemas.openxmlformats.org/drawingml/2006/main" id="97" idx="1"/>
          </p:cNvCxnSpPr>
          <p:nvPr/>
        </p:nvCxnSpPr>
        <p:spPr>
          <a:xfrm xmlns:a="http://schemas.openxmlformats.org/drawingml/2006/main">
            <a:off x="5572125" y="1995488"/>
            <a:ext cx="428625" cy="309563"/>
          </a:xfrm>
          <a:prstGeom xmlns:a="http://schemas.openxmlformats.org/drawingml/2006/main" prst="bentConnector3">
            <a:avLst>
              <a:gd name="adj1" fmla="val 50000"/>
            </a:avLst>
          </a:prstGeom>
          <a:ln xmlns:a="http://schemas.openxmlformats.org/drawingml/2006/main" w="16193">
            <a:solidFill>
              <a:srgbClr val="23588C"/>
            </a:solidFill>
            <a:tailEnd type="triangle" w="sm" len="sm"/>
          </a:ln>
        </p:spPr>
      </p:cxnSp>
      <p:cxnSp>
        <p:nvCxnSpPr>
          <p:cNvPr id="147" name=""/>
          <p:cNvCxnSpPr>
            <a:stCxn xmlns:a="http://schemas.openxmlformats.org/drawingml/2006/main" id="97" idx="3"/>
            <a:endCxn xmlns:a="http://schemas.openxmlformats.org/drawingml/2006/main" id="98" idx="1"/>
          </p:cNvCxnSpPr>
          <p:nvPr/>
        </p:nvCxnSpPr>
        <p:spPr>
          <a:xfrm xmlns:a="http://schemas.openxmlformats.org/drawingml/2006/main">
            <a:off x="7286625" y="2305050"/>
            <a:ext cx="381000" cy="0"/>
          </a:xfrm>
          <a:prstGeom xmlns:a="http://schemas.openxmlformats.org/drawingml/2006/main" prst="straightConnector1">
            <a:avLst/>
          </a:prstGeom>
          <a:ln xmlns:a="http://schemas.openxmlformats.org/drawingml/2006/main" w="16193">
            <a:solidFill>
              <a:srgbClr val="23588C"/>
            </a:solidFill>
            <a:tailEnd type="triangle" w="sm" len="sm"/>
          </a:ln>
        </p:spPr>
      </p:cxnSp>
      <p:cxnSp>
        <p:nvCxnSpPr>
          <p:cNvPr id="148" name=""/>
          <p:cNvCxnSpPr>
            <a:stCxn xmlns:a="http://schemas.openxmlformats.org/drawingml/2006/main" id="100" idx="0"/>
            <a:endCxn xmlns:a="http://schemas.openxmlformats.org/drawingml/2006/main" id="99" idx="2"/>
          </p:cNvCxnSpPr>
          <p:nvPr/>
        </p:nvCxnSpPr>
        <p:spPr>
          <a:xfrm xmlns:a="http://schemas.openxmlformats.org/drawingml/2006/main" flipV="1">
            <a:off x="4833938" y="3162300"/>
            <a:ext cx="0" cy="285750"/>
          </a:xfrm>
          <a:prstGeom xmlns:a="http://schemas.openxmlformats.org/drawingml/2006/main" prst="straightConnector1">
            <a:avLst/>
          </a:prstGeom>
          <a:ln xmlns:a="http://schemas.openxmlformats.org/drawingml/2006/main" w="16193">
            <a:solidFill>
              <a:srgbClr val="23588C"/>
            </a:solidFill>
            <a:headEnd type="triangle" w="sm" len="sm"/>
            <a:tailEnd type="triangle" w="sm" len="sm"/>
          </a:ln>
        </p:spPr>
      </p:cxnSp>
      <p:cxnSp>
        <p:nvCxnSpPr>
          <p:cNvPr id="149" name=""/>
          <p:cNvCxnSpPr>
            <a:stCxn xmlns:a="http://schemas.openxmlformats.org/drawingml/2006/main" id="99" idx="0"/>
            <a:endCxn xmlns:a="http://schemas.openxmlformats.org/drawingml/2006/main" id="94" idx="2"/>
          </p:cNvCxnSpPr>
          <p:nvPr/>
        </p:nvCxnSpPr>
        <p:spPr>
          <a:xfrm xmlns:a="http://schemas.openxmlformats.org/drawingml/2006/main" flipV="1">
            <a:off x="4833938" y="2305050"/>
            <a:ext cx="0" cy="333375"/>
          </a:xfrm>
          <a:prstGeom xmlns:a="http://schemas.openxmlformats.org/drawingml/2006/main" prst="straightConnector1">
            <a:avLst/>
          </a:prstGeom>
          <a:ln xmlns:a="http://schemas.openxmlformats.org/drawingml/2006/main" w="16193">
            <a:solidFill>
              <a:srgbClr val="23588C"/>
            </a:solidFill>
            <a:headEnd type="triangle" w="sm" len="sm"/>
            <a:tailEnd type="triangle" w="sm" len="sm"/>
          </a:ln>
        </p:spPr>
      </p:cxnSp>
      <p:cxnSp>
        <p:nvCxnSpPr>
          <p:cNvPr id="150" name=""/>
          <p:cNvCxnSpPr>
            <a:stCxn xmlns:a="http://schemas.openxmlformats.org/drawingml/2006/main" id="94" idx="3"/>
            <a:endCxn xmlns:a="http://schemas.openxmlformats.org/drawingml/2006/main" id="101" idx="1"/>
          </p:cNvCxnSpPr>
          <p:nvPr/>
        </p:nvCxnSpPr>
        <p:spPr>
          <a:xfrm xmlns:a="http://schemas.openxmlformats.org/drawingml/2006/main">
            <a:off x="5572125" y="1995488"/>
            <a:ext cx="428625" cy="1719263"/>
          </a:xfrm>
          <a:prstGeom xmlns:a="http://schemas.openxmlformats.org/drawingml/2006/main" prst="bentConnector3">
            <a:avLst>
              <a:gd name="adj1" fmla="val 50000"/>
            </a:avLst>
          </a:prstGeom>
          <a:ln xmlns:a="http://schemas.openxmlformats.org/drawingml/2006/main" w="16193">
            <a:solidFill>
              <a:srgbClr val="23588C"/>
            </a:solidFill>
            <a:tailEnd type="triangle" w="sm" len="sm"/>
          </a:ln>
        </p:spPr>
      </p:cxnSp>
      <p:cxnSp>
        <p:nvCxnSpPr>
          <p:cNvPr id="151" name=""/>
          <p:cNvCxnSpPr>
            <a:stCxn xmlns:a="http://schemas.openxmlformats.org/drawingml/2006/main" id="101" idx="3"/>
            <a:endCxn xmlns:a="http://schemas.openxmlformats.org/drawingml/2006/main" id="102" idx="1"/>
          </p:cNvCxnSpPr>
          <p:nvPr/>
        </p:nvCxnSpPr>
        <p:spPr>
          <a:xfrm xmlns:a="http://schemas.openxmlformats.org/drawingml/2006/main">
            <a:off x="7286625" y="3714750"/>
            <a:ext cx="381000" cy="0"/>
          </a:xfrm>
          <a:prstGeom xmlns:a="http://schemas.openxmlformats.org/drawingml/2006/main" prst="straightConnector1">
            <a:avLst/>
          </a:prstGeom>
          <a:ln xmlns:a="http://schemas.openxmlformats.org/drawingml/2006/main" w="16193">
            <a:solidFill>
              <a:srgbClr val="23588C"/>
            </a:solidFill>
            <a:tailEnd type="triangle" w="sm" len="sm"/>
          </a:ln>
        </p:spPr>
      </p:cxnSp>
      <p:sp>
        <p:nvSpPr>
          <p:cNvPr id="115" name="Charging alternatives">
            <a:extLst xmlns:a="http://schemas.openxmlformats.org/drawingml/2006/main">
              <a:ext uri="{FF2B5EF4-FFF2-40B4-BE49-F238E27FC236}">
                <a16:creationId xmlns:a16="http://schemas.microsoft.com/office/drawing/2014/main" id="{EFC7CE94-2892-4AE9-A9B8-D73261EFCA99}"/>
              </a:ext>
            </a:extLst>
          </p:cNvPr>
          <p:cNvSpPr>
            <a:spLocks xmlns:a="http://schemas.openxmlformats.org/drawingml/2006/main" noGrp="1"/>
          </p:cNvSpPr>
          <p:nvPr/>
        </p:nvSpPr>
        <p:spPr>
          <a:xfrm xmlns:a="http://schemas.openxmlformats.org/drawingml/2006/main">
            <a:off x="285750" y="2781300"/>
            <a:ext cx="3476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defRPr sz="1575" b="1">
                <a:solidFill>
                  <a:srgbClr val="000000"/>
                </a:solidFill>
                <a:latin typeface="Times New Roman"/>
                <a:ea typeface="Times New Roman"/>
                <a:cs typeface="Times New Roman"/>
              </a:defRPr>
            </a:pPr>
            <a:r>
              <a:rPr sz="1575" b="1">
                <a:solidFill>
                  <a:srgbClr val="000000"/>
                </a:solidFill>
                <a:latin typeface="Times New Roman"/>
                <a:ea typeface="Times New Roman"/>
                <a:cs typeface="Times New Roman"/>
              </a:rPr>
              <a:t>Use solar OR AC charging</a:t>
            </a:r>
          </a:p>
          <a:p xmlns:a="http://schemas.openxmlformats.org/drawingml/2006/main">
            <a:pPr algn="l">
              <a:defRPr sz="1575" b="1">
                <a:solidFill>
                  <a:srgbClr val="000000"/>
                </a:solidFill>
                <a:latin typeface="Times New Roman"/>
                <a:ea typeface="Times New Roman"/>
                <a:cs typeface="Times New Roman"/>
              </a:defRPr>
            </a:pPr>
            <a:r>
              <a:rPr sz="1575" b="1">
                <a:solidFill>
                  <a:srgbClr val="000000"/>
                </a:solidFill>
                <a:latin typeface="Times New Roman"/>
                <a:ea typeface="Times New Roman"/>
                <a:cs typeface="Times New Roman"/>
              </a:rPr>
              <a:t>with compatible equipment</a:t>
            </a:r>
          </a:p>
        </p:txBody>
      </p:sp>
      <p:sp>
        <p:nvSpPr>
          <p:cNvPr id="116" name="Guidance-flow heading">
            <a:extLst xmlns:a="http://schemas.openxmlformats.org/drawingml/2006/main">
              <a:ext uri="{FF2B5EF4-FFF2-40B4-BE49-F238E27FC236}">
                <a16:creationId xmlns:a16="http://schemas.microsoft.com/office/drawing/2014/main" id="{90E31853-1057-4ABD-ABB9-0A98676FC9C8}"/>
              </a:ext>
            </a:extLst>
          </p:cNvPr>
          <p:cNvSpPr>
            <a:spLocks xmlns:a="http://schemas.openxmlformats.org/drawingml/2006/main" noGrp="1"/>
          </p:cNvSpPr>
          <p:nvPr/>
        </p:nvSpPr>
        <p:spPr>
          <a:xfrm xmlns:a="http://schemas.openxmlformats.org/drawingml/2006/main">
            <a:off x="381000" y="4295775"/>
            <a:ext cx="8382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ctr">
              <a:defRPr sz="1725" b="1">
                <a:solidFill>
                  <a:srgbClr val="000000"/>
                </a:solidFill>
                <a:latin typeface="Times New Roman"/>
                <a:ea typeface="Times New Roman"/>
                <a:cs typeface="Times New Roman"/>
              </a:defRPr>
            </a:pPr>
            <a:r>
              <a:rPr sz="1725" b="1">
                <a:solidFill>
                  <a:srgbClr val="000000"/>
                </a:solidFill>
                <a:latin typeface="Times New Roman"/>
                <a:ea typeface="Times New Roman"/>
                <a:cs typeface="Times New Roman"/>
              </a:rPr>
              <a:t>Measurements and processing inside the monitoring system</a:t>
            </a:r>
          </a:p>
        </p:txBody>
      </p:sp>
      <p:sp>
        <p:nvSpPr>
          <p:cNvPr id="117" name="Measurement inputs">
            <a:extLst xmlns:a="http://schemas.openxmlformats.org/drawingml/2006/main">
              <a:ext uri="{FF2B5EF4-FFF2-40B4-BE49-F238E27FC236}">
                <a16:creationId xmlns:a16="http://schemas.microsoft.com/office/drawing/2014/main" id="{F7870BDD-F023-44A0-AA3E-AEB2608A71B2}"/>
              </a:ext>
            </a:extLst>
          </p:cNvPr>
          <p:cNvSpPr>
            <a:spLocks xmlns:a="http://schemas.openxmlformats.org/drawingml/2006/main" noGrp="1"/>
          </p:cNvSpPr>
          <p:nvPr/>
        </p:nvSpPr>
        <p:spPr>
          <a:xfrm xmlns:a="http://schemas.openxmlformats.org/drawingml/2006/main">
            <a:off x="381000" y="4752975"/>
            <a:ext cx="2095500" cy="838200"/>
          </a:xfrm>
          <a:prstGeom xmlns:a="http://schemas.openxmlformats.org/drawingml/2006/main" prst="rect">
            <a:avLst/>
          </a:prstGeom>
          <a:solidFill xmlns:a="http://schemas.openxmlformats.org/drawingml/2006/main">
            <a:srgbClr val="FFF0DD"/>
          </a:solidFill>
          <a:ln xmlns:a="http://schemas.openxmlformats.org/drawingml/2006/main" w="11430">
            <a:solidFill>
              <a:srgbClr val="333333"/>
            </a:solid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Battery V/I/temperature</a:t>
            </a:r>
          </a:p>
          <a:p xmlns:a="http://schemas.openxmlformats.org/drawingml/2006/main">
            <a:pPr algn="ctr">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Supporting AC/DC</a:t>
            </a:r>
          </a:p>
          <a:p xmlns:a="http://schemas.openxmlformats.org/drawingml/2006/main">
            <a:pPr algn="ctr">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load measurements</a:t>
            </a:r>
          </a:p>
        </p:txBody>
      </p:sp>
      <p:sp>
        <p:nvSpPr>
          <p:cNvPr id="118" name="Energy and signature processing">
            <a:extLst xmlns:a="http://schemas.openxmlformats.org/drawingml/2006/main">
              <a:ext uri="{FF2B5EF4-FFF2-40B4-BE49-F238E27FC236}">
                <a16:creationId xmlns:a16="http://schemas.microsoft.com/office/drawing/2014/main" id="{1FA8BB25-DBB0-413E-B012-4AE6BA44EAD4}"/>
              </a:ext>
            </a:extLst>
          </p:cNvPr>
          <p:cNvSpPr>
            <a:spLocks xmlns:a="http://schemas.openxmlformats.org/drawingml/2006/main" noGrp="1"/>
          </p:cNvSpPr>
          <p:nvPr/>
        </p:nvSpPr>
        <p:spPr>
          <a:xfrm xmlns:a="http://schemas.openxmlformats.org/drawingml/2006/main">
            <a:off x="2857500" y="4752975"/>
            <a:ext cx="2476500" cy="838200"/>
          </a:xfrm>
          <a:prstGeom xmlns:a="http://schemas.openxmlformats.org/drawingml/2006/main" prst="rect">
            <a:avLst/>
          </a:prstGeom>
          <a:solidFill xmlns:a="http://schemas.openxmlformats.org/drawingml/2006/main">
            <a:srgbClr val="F0E7F8"/>
          </a:solidFill>
          <a:ln xmlns:a="http://schemas.openxmlformats.org/drawingml/2006/main" w="11430">
            <a:solidFill>
              <a:srgbClr val="333333"/>
            </a:solid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ESP32 + local model</a:t>
            </a:r>
          </a:p>
          <a:p xmlns:a="http://schemas.openxmlformats.org/drawingml/2006/main">
            <a:pPr algn="ctr">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SOC, usable Wh, signatures</a:t>
            </a:r>
          </a:p>
          <a:p xmlns:a="http://schemas.openxmlformats.org/drawingml/2006/main">
            <a:pPr algn="ctr">
              <a:defRPr sz="1500" b="0">
                <a:solidFill>
                  <a:srgbClr val="000000"/>
                </a:solidFill>
                <a:latin typeface="Times New Roman"/>
                <a:ea typeface="Times New Roman"/>
                <a:cs typeface="Times New Roman"/>
              </a:defRPr>
            </a:pPr>
            <a:r>
              <a:rPr sz="1500" b="0">
                <a:solidFill>
                  <a:srgbClr val="000000"/>
                </a:solidFill>
                <a:latin typeface="Times New Roman"/>
                <a:ea typeface="Times New Roman"/>
                <a:cs typeface="Times New Roman"/>
              </a:rPr>
              <a:t>Known / UNKNOWN</a:t>
            </a:r>
          </a:p>
        </p:txBody>
      </p:sp>
      <p:sp>
        <p:nvSpPr>
          <p:cNvPr id="119" name="User-facing backup guidance">
            <a:extLst xmlns:a="http://schemas.openxmlformats.org/drawingml/2006/main">
              <a:ext uri="{FF2B5EF4-FFF2-40B4-BE49-F238E27FC236}">
                <a16:creationId xmlns:a16="http://schemas.microsoft.com/office/drawing/2014/main" id="{9A3F70AF-D5CC-48A3-9BCE-8CA43449A203}"/>
              </a:ext>
            </a:extLst>
          </p:cNvPr>
          <p:cNvSpPr>
            <a:spLocks xmlns:a="http://schemas.openxmlformats.org/drawingml/2006/main" noGrp="1"/>
          </p:cNvSpPr>
          <p:nvPr/>
        </p:nvSpPr>
        <p:spPr>
          <a:xfrm xmlns:a="http://schemas.openxmlformats.org/drawingml/2006/main">
            <a:off x="5715000" y="4752975"/>
            <a:ext cx="3143250" cy="838200"/>
          </a:xfrm>
          <a:prstGeom xmlns:a="http://schemas.openxmlformats.org/drawingml/2006/main" prst="rect">
            <a:avLst/>
          </a:prstGeom>
          <a:solidFill xmlns:a="http://schemas.openxmlformats.org/drawingml/2006/main">
            <a:srgbClr val="F0E7F8"/>
          </a:solidFill>
          <a:ln xmlns:a="http://schemas.openxmlformats.org/drawingml/2006/main" w="11430">
            <a:solidFill>
              <a:srgbClr val="333333"/>
            </a:solidFill>
          </a:ln>
        </p:spPr>
        <p:txBody>
          <a:bodyPr xmlns:a="http://schemas.openxmlformats.org/drawingml/2006/main" wrap="square" lIns="38100" tIns="28575" rIns="38100" bIns="28575" anchor="ctr">
            <a:noAutofit/>
          </a:bodyPr>
          <a:lstStyle xmlns:a="http://schemas.openxmlformats.org/drawingml/2006/main"/>
          <a:p xmlns:a="http://schemas.openxmlformats.org/drawingml/2006/main">
            <a:pPr algn="ct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Display / local dashboard</a:t>
            </a:r>
          </a:p>
          <a:p xmlns:a="http://schemas.openxmlformats.org/drawingml/2006/main">
            <a:pPr algn="ct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Energy and backup time</a:t>
            </a:r>
          </a:p>
          <a:p xmlns:a="http://schemas.openxmlformats.org/drawingml/2006/main">
            <a:pPr algn="ctr">
              <a:defRPr sz="1575" b="0">
                <a:solidFill>
                  <a:srgbClr val="000000"/>
                </a:solidFill>
                <a:latin typeface="Times New Roman"/>
                <a:ea typeface="Times New Roman"/>
                <a:cs typeface="Times New Roman"/>
              </a:defRPr>
            </a:pPr>
            <a:r>
              <a:rPr sz="1575" b="0">
                <a:solidFill>
                  <a:srgbClr val="000000"/>
                </a:solidFill>
                <a:latin typeface="Times New Roman"/>
                <a:ea typeface="Times New Roman"/>
                <a:cs typeface="Times New Roman"/>
              </a:rPr>
              <a:t>What to turn off and why</a:t>
            </a:r>
          </a:p>
        </p:txBody>
      </p:sp>
      <p:cxnSp>
        <p:nvCxnSpPr>
          <p:cNvPr id="157" name=""/>
          <p:cNvCxnSpPr>
            <a:stCxn xmlns:a="http://schemas.openxmlformats.org/drawingml/2006/main" id="117" idx="3"/>
            <a:endCxn xmlns:a="http://schemas.openxmlformats.org/drawingml/2006/main" id="118" idx="1"/>
          </p:cNvCxnSpPr>
          <p:nvPr/>
        </p:nvCxnSpPr>
        <p:spPr>
          <a:xfrm xmlns:a="http://schemas.openxmlformats.org/drawingml/2006/main">
            <a:off x="2476500" y="5172075"/>
            <a:ext cx="381000" cy="0"/>
          </a:xfrm>
          <a:prstGeom xmlns:a="http://schemas.openxmlformats.org/drawingml/2006/main" prst="straightConnector1">
            <a:avLst/>
          </a:prstGeom>
          <a:ln xmlns:a="http://schemas.openxmlformats.org/drawingml/2006/main" w="16193">
            <a:solidFill>
              <a:srgbClr val="7030A0"/>
            </a:solidFill>
            <a:tailEnd type="triangle" w="sm" len="sm"/>
          </a:ln>
        </p:spPr>
      </p:cxnSp>
      <p:cxnSp>
        <p:nvCxnSpPr>
          <p:cNvPr id="158" name=""/>
          <p:cNvCxnSpPr>
            <a:stCxn xmlns:a="http://schemas.openxmlformats.org/drawingml/2006/main" id="118" idx="3"/>
            <a:endCxn xmlns:a="http://schemas.openxmlformats.org/drawingml/2006/main" id="119" idx="1"/>
          </p:cNvCxnSpPr>
          <p:nvPr/>
        </p:nvCxnSpPr>
        <p:spPr>
          <a:xfrm xmlns:a="http://schemas.openxmlformats.org/drawingml/2006/main">
            <a:off x="5334000" y="5172075"/>
            <a:ext cx="381000" cy="0"/>
          </a:xfrm>
          <a:prstGeom xmlns:a="http://schemas.openxmlformats.org/drawingml/2006/main" prst="straightConnector1">
            <a:avLst/>
          </a:prstGeom>
          <a:ln xmlns:a="http://schemas.openxmlformats.org/drawingml/2006/main" w="16193">
            <a:solidFill>
              <a:srgbClr val="7030A0"/>
            </a:solidFill>
            <a:tailEnd type="triangle" w="sm" len="sm"/>
          </a:ln>
        </p:spPr>
      </p:cxnSp>
      <p:sp>
        <p:nvSpPr>
          <p:cNvPr id="122" name="Power and signal legend">
            <a:extLst xmlns:a="http://schemas.openxmlformats.org/drawingml/2006/main">
              <a:ext uri="{FF2B5EF4-FFF2-40B4-BE49-F238E27FC236}">
                <a16:creationId xmlns:a16="http://schemas.microsoft.com/office/drawing/2014/main" id="{F2C32E85-7AFB-4998-8B41-CF827A76373B}"/>
              </a:ext>
            </a:extLst>
          </p:cNvPr>
          <p:cNvSpPr>
            <a:spLocks xmlns:a="http://schemas.openxmlformats.org/drawingml/2006/main" noGrp="1"/>
          </p:cNvSpPr>
          <p:nvPr/>
        </p:nvSpPr>
        <p:spPr>
          <a:xfrm xmlns:a="http://schemas.openxmlformats.org/drawingml/2006/main">
            <a:off x="428625" y="5810250"/>
            <a:ext cx="828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ctr">
              <a:defRPr sz="1650" b="0">
                <a:solidFill>
                  <a:srgbClr val="000000"/>
                </a:solidFill>
                <a:latin typeface="Times New Roman"/>
                <a:ea typeface="Times New Roman"/>
                <a:cs typeface="Times New Roman"/>
              </a:defRPr>
            </a:pPr>
            <a:r>
              <a:rPr sz="1650" b="0">
                <a:solidFill>
                  <a:srgbClr val="000000"/>
                </a:solidFill>
                <a:latin typeface="Times New Roman"/>
                <a:ea typeface="Times New Roman"/>
                <a:cs typeface="Times New Roman"/>
              </a:rPr>
              <a:t>Blue connectors: power. Purple connectors: information.</a:t>
            </a:r>
          </a:p>
        </p:txBody>
      </p:sp>
      <p:sp>
        <p:nvSpPr>
          <p:cNvPr id="123" name="Battery-mount explanation">
            <a:extLst xmlns:a="http://schemas.openxmlformats.org/drawingml/2006/main">
              <a:ext uri="{FF2B5EF4-FFF2-40B4-BE49-F238E27FC236}">
                <a16:creationId xmlns:a16="http://schemas.microsoft.com/office/drawing/2014/main" id="{124A3C0B-CB67-42A8-9B1D-A0E3EC7A3345}"/>
              </a:ext>
            </a:extLst>
          </p:cNvPr>
          <p:cNvSpPr>
            <a:spLocks xmlns:a="http://schemas.openxmlformats.org/drawingml/2006/main" noGrp="1"/>
          </p:cNvSpPr>
          <p:nvPr/>
        </p:nvSpPr>
        <p:spPr>
          <a:xfrm xmlns:a="http://schemas.openxmlformats.org/drawingml/2006/main">
            <a:off x="428625" y="6181725"/>
            <a:ext cx="8286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ctr">
              <a:defRPr sz="1650" b="1">
                <a:solidFill>
                  <a:srgbClr val="000000"/>
                </a:solidFill>
                <a:latin typeface="Times New Roman"/>
                <a:ea typeface="Times New Roman"/>
                <a:cs typeface="Times New Roman"/>
              </a:defRPr>
            </a:pPr>
            <a:r>
              <a:rPr sz="1650" b="1">
                <a:solidFill>
                  <a:srgbClr val="000000"/>
                </a:solidFill>
                <a:latin typeface="Times New Roman"/>
                <a:ea typeface="Times New Roman"/>
                <a:cs typeface="Times New Roman"/>
              </a:rPr>
              <a:t>WattSense mounts near the battery. Its demand is included in the monitored power.</a:t>
            </a:r>
          </a:p>
        </p:txBody>
      </p:sp>
    </p:spTree>
    <p:extLst>
      <p:ext uri="{BB962C8B-B14F-4D97-AF65-F5344CB8AC3E}">
        <p14:creationId xmlns:p14="http://schemas.microsoft.com/office/powerpoint/2010/main" val="97398560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2B0933CA-7526-4108-BF35-0DF97EE85242}"/>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DB7BEEEC-A170-5376-2B6E-CB54687B0CB1}" type="slidenum">
              <a:rPr sz="975" b="0" i="0" u="none">
                <a:solidFill>
                  <a:srgbClr val="595959"/>
                </a:solidFill>
                <a:latin typeface="Arial"/>
                <a:ea typeface="Arial"/>
                <a:cs typeface="Arial"/>
              </a:rPr>
              <a:t>10</a:t>
            </a:fld>
            <a:endParaRPr/>
          </a:p>
        </p:txBody>
      </p:sp>
      <p:sp>
        <p:nvSpPr>
          <p:cNvPr id="88" name="Google Shape;88;p4">
            <a:extLst xmlns:a="http://schemas.openxmlformats.org/drawingml/2006/main">
              <a:ext uri="{FF2B5EF4-FFF2-40B4-BE49-F238E27FC236}">
                <a16:creationId xmlns:a16="http://schemas.microsoft.com/office/drawing/2014/main" id="{30934795-354A-40AC-91FF-38AB74A3F90F}"/>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Dataset / Data Collection</a:t>
            </a:r>
            <a:endParaRPr sz="1050"/>
          </a:p>
        </p:txBody>
      </p:sp>
      <p:graphicFrame>
        <p:nvGraphicFramePr>
          <p:cNvPr id="95" name=""/>
          <p:cNvGraphicFramePr/>
          <p:nvPr/>
        </p:nvGraphicFramePr>
        <p:xfrm>
          <a:off xmlns:a="http://schemas.openxmlformats.org/drawingml/2006/main" x="457200" y="1162050"/>
          <a:ext xmlns:a="http://schemas.openxmlformats.org/drawingml/2006/main" cx="8229600" cy="3790950"/>
        </p:xfrm>
        <a:graphic xmlns:a="http://schemas.openxmlformats.org/drawingml/2006/main">
          <a:graphicData uri="http://schemas.openxmlformats.org/drawingml/2006/table">
            <a:tbl>
              <a:tblPr/>
              <a:tblGrid>
                <a:gridCol w="2286000"/>
                <a:gridCol w="5943600"/>
              </a:tblGrid>
              <a:tr h="457200">
                <a:tc>
                  <a:txBody>
                    <a:bodyPr>
                      <a:noAutofit/>
                    </a:bodyPr>
                    <a:lstStyle/>
                    <a:p>
                      <a:pPr algn="l">
                        <a:lnSpc>
                          <a:spcPct val="100000"/>
                        </a:lnSpc>
                        <a:buNone/>
                      </a:pPr>
                      <a:r>
                        <a:rPr sz="1725" b="1">
                          <a:solidFill>
                            <a:srgbClr val="000000"/>
                          </a:solidFill>
                          <a:latin typeface="Times New Roman"/>
                          <a:ea typeface="Times New Roman"/>
                          <a:cs typeface="Times New Roman"/>
                        </a:rPr>
                        <a:t>Data item</a:t>
                      </a:r>
                    </a:p>
                  </a:txBody>
                  <a:tcPr marL="95250" marR="95250" marT="57150" marB="57150" anchor="ctr">
                    <a:solidFill>
                      <a:srgbClr val="F2F2F2"/>
                    </a:solidFill>
                  </a:tcPr>
                </a:tc>
                <a:tc>
                  <a:txBody>
                    <a:bodyPr>
                      <a:noAutofit/>
                    </a:bodyPr>
                    <a:lstStyle/>
                    <a:p>
                      <a:pPr algn="l">
                        <a:lnSpc>
                          <a:spcPct val="100000"/>
                        </a:lnSpc>
                        <a:buNone/>
                      </a:pPr>
                      <a:r>
                        <a:rPr sz="1725" b="1">
                          <a:solidFill>
                            <a:srgbClr val="000000"/>
                          </a:solidFill>
                          <a:latin typeface="Times New Roman"/>
                          <a:ea typeface="Times New Roman"/>
                          <a:cs typeface="Times New Roman"/>
                        </a:rPr>
                        <a:t>Collection plan</a:t>
                      </a:r>
                    </a:p>
                  </a:txBody>
                  <a:tcPr marL="95250" marR="95250" marT="57150" marB="57150" anchor="ctr">
                    <a:solidFill>
                      <a:srgbClr val="F2F2F2"/>
                    </a:solidFill>
                  </a:tcPr>
                </a:tc>
              </a:tr>
              <a:tr h="666750">
                <a:tc>
                  <a:txBody>
                    <a:bodyPr>
                      <a:noAutofit/>
                    </a:bodyPr>
                    <a:lstStyle/>
                    <a:p>
                      <a:pPr algn="l">
                        <a:lnSpc>
                          <a:spcPct val="100000"/>
                        </a:lnSpc>
                        <a:buNone/>
                      </a:pPr>
                      <a:r>
                        <a:rPr sz="1725" b="0">
                          <a:solidFill>
                            <a:srgbClr val="000000"/>
                          </a:solidFill>
                          <a:latin typeface="Times New Roman"/>
                          <a:ea typeface="Times New Roman"/>
                          <a:cs typeface="Times New Roman"/>
                        </a:rPr>
                        <a:t>Initial profiles</a:t>
                      </a:r>
                    </a:p>
                  </a:txBody>
                  <a:tcPr marL="95250" marR="95250" marT="57150" marB="57150" anchor="ctr">
                    <a:solidFill>
                      <a:srgbClr val="FFFFFF"/>
                    </a:solidFill>
                  </a:tcPr>
                </a:tc>
                <a:tc>
                  <a:txBody>
                    <a:bodyPr>
                      <a:noAutofit/>
                    </a:bodyPr>
                    <a:lstStyle/>
                    <a:p>
                      <a:pPr algn="l">
                        <a:lnSpc>
                          <a:spcPct val="100000"/>
                        </a:lnSpc>
                        <a:buNone/>
                      </a:pPr>
                      <a:r>
                        <a:rPr sz="1725" b="0">
                          <a:solidFill>
                            <a:srgbClr val="000000"/>
                          </a:solidFill>
                          <a:latin typeface="Times New Roman"/>
                          <a:ea typeface="Times New Roman"/>
                          <a:cs typeface="Times New Roman"/>
                        </a:rPr>
                        <a:t>4–6 selected AC/DC loads and known operating states</a:t>
                      </a:r>
                    </a:p>
                  </a:txBody>
                  <a:tcPr marL="95250" marR="95250" marT="57150" marB="57150" anchor="ctr">
                    <a:solidFill>
                      <a:srgbClr val="FFFFFF"/>
                    </a:solidFill>
                  </a:tcPr>
                </a:tc>
              </a:tr>
              <a:tr h="666750">
                <a:tc>
                  <a:txBody>
                    <a:bodyPr>
                      <a:noAutofit/>
                    </a:bodyPr>
                    <a:lstStyle/>
                    <a:p>
                      <a:pPr algn="l">
                        <a:lnSpc>
                          <a:spcPct val="100000"/>
                        </a:lnSpc>
                        <a:buNone/>
                      </a:pPr>
                      <a:r>
                        <a:rPr sz="1725" b="0">
                          <a:solidFill>
                            <a:srgbClr val="000000"/>
                          </a:solidFill>
                          <a:latin typeface="Times New Roman"/>
                          <a:ea typeface="Times New Roman"/>
                          <a:cs typeface="Times New Roman"/>
                        </a:rPr>
                        <a:t>Battery / input data</a:t>
                      </a:r>
                    </a:p>
                  </a:txBody>
                  <a:tcPr marL="95250" marR="95250" marT="57150" marB="57150" anchor="ctr">
                    <a:solidFill>
                      <a:srgbClr val="FFFFFF"/>
                    </a:solidFill>
                  </a:tcPr>
                </a:tc>
                <a:tc>
                  <a:txBody>
                    <a:bodyPr>
                      <a:noAutofit/>
                    </a:bodyPr>
                    <a:lstStyle/>
                    <a:p>
                      <a:pPr algn="l">
                        <a:lnSpc>
                          <a:spcPct val="100000"/>
                        </a:lnSpc>
                        <a:buNone/>
                      </a:pPr>
                      <a:r>
                        <a:rPr sz="1725" b="0">
                          <a:solidFill>
                            <a:srgbClr val="000000"/>
                          </a:solidFill>
                          <a:latin typeface="Times New Roman"/>
                          <a:ea typeface="Times New Roman"/>
                          <a:cs typeface="Times New Roman"/>
                        </a:rPr>
                        <a:t>Time, battery V/I/temperature and charge/load power</a:t>
                      </a:r>
                    </a:p>
                  </a:txBody>
                  <a:tcPr marL="95250" marR="95250" marT="57150" marB="57150" anchor="ctr">
                    <a:solidFill>
                      <a:srgbClr val="FFFFFF"/>
                    </a:solidFill>
                  </a:tcPr>
                </a:tc>
              </a:tr>
              <a:tr h="666750">
                <a:tc>
                  <a:txBody>
                    <a:bodyPr>
                      <a:noAutofit/>
                    </a:bodyPr>
                    <a:lstStyle/>
                    <a:p>
                      <a:pPr algn="l">
                        <a:lnSpc>
                          <a:spcPct val="100000"/>
                        </a:lnSpc>
                        <a:buNone/>
                      </a:pPr>
                      <a:r>
                        <a:rPr sz="1725" b="0">
                          <a:solidFill>
                            <a:srgbClr val="000000"/>
                          </a:solidFill>
                          <a:latin typeface="Times New Roman"/>
                          <a:ea typeface="Times New Roman"/>
                          <a:cs typeface="Times New Roman"/>
                        </a:rPr>
                        <a:t>Load conditions</a:t>
                      </a:r>
                    </a:p>
                  </a:txBody>
                  <a:tcPr marL="95250" marR="95250" marT="57150" marB="57150" anchor="ctr">
                    <a:solidFill>
                      <a:srgbClr val="FFFFFF"/>
                    </a:solidFill>
                  </a:tcPr>
                </a:tc>
                <a:tc>
                  <a:txBody>
                    <a:bodyPr>
                      <a:noAutofit/>
                    </a:bodyPr>
                    <a:lstStyle/>
                    <a:p>
                      <a:pPr algn="l">
                        <a:lnSpc>
                          <a:spcPct val="100000"/>
                        </a:lnSpc>
                        <a:buNone/>
                      </a:pPr>
                      <a:r>
                        <a:rPr sz="1725" b="0">
                          <a:solidFill>
                            <a:srgbClr val="000000"/>
                          </a:solidFill>
                          <a:latin typeface="Times New Roman"/>
                          <a:ea typeface="Times New Roman"/>
                          <a:cs typeface="Times New Roman"/>
                        </a:rPr>
                        <a:t>One load per run, repeated sessions, mixtures later</a:t>
                      </a:r>
                    </a:p>
                  </a:txBody>
                  <a:tcPr marL="95250" marR="95250" marT="57150" marB="57150" anchor="ctr">
                    <a:solidFill>
                      <a:srgbClr val="FFFFFF"/>
                    </a:solidFill>
                  </a:tcPr>
                </a:tc>
              </a:tr>
              <a:tr h="666750">
                <a:tc>
                  <a:txBody>
                    <a:bodyPr>
                      <a:noAutofit/>
                    </a:bodyPr>
                    <a:lstStyle/>
                    <a:p>
                      <a:pPr algn="l">
                        <a:lnSpc>
                          <a:spcPct val="100000"/>
                        </a:lnSpc>
                        <a:buNone/>
                      </a:pPr>
                      <a:r>
                        <a:rPr sz="1725" b="0">
                          <a:solidFill>
                            <a:srgbClr val="000000"/>
                          </a:solidFill>
                          <a:latin typeface="Times New Roman"/>
                          <a:ea typeface="Times New Roman"/>
                          <a:cs typeface="Times New Roman"/>
                        </a:rPr>
                        <a:t>Guidance inputs</a:t>
                      </a:r>
                    </a:p>
                  </a:txBody>
                  <a:tcPr marL="95250" marR="95250" marT="57150" marB="57150" anchor="ctr">
                    <a:solidFill>
                      <a:srgbClr val="FFFFFF"/>
                    </a:solidFill>
                  </a:tcPr>
                </a:tc>
                <a:tc>
                  <a:txBody>
                    <a:bodyPr>
                      <a:noAutofit/>
                    </a:bodyPr>
                    <a:lstStyle/>
                    <a:p>
                      <a:pPr algn="l">
                        <a:lnSpc>
                          <a:spcPct val="100000"/>
                        </a:lnSpc>
                        <a:buNone/>
                      </a:pPr>
                      <a:r>
                        <a:rPr sz="1725" b="0">
                          <a:solidFill>
                            <a:srgbClr val="000000"/>
                          </a:solidFill>
                          <a:latin typeface="Times New Roman"/>
                          <a:ea typeface="Times New Roman"/>
                          <a:cs typeface="Times New Roman"/>
                        </a:rPr>
                        <a:t>User priorities, desired backup and estimated load savings</a:t>
                      </a:r>
                    </a:p>
                  </a:txBody>
                  <a:tcPr marL="95250" marR="95250" marT="57150" marB="57150" anchor="ctr">
                    <a:solidFill>
                      <a:srgbClr val="FFFFFF"/>
                    </a:solidFill>
                  </a:tcPr>
                </a:tc>
              </a:tr>
              <a:tr h="666750">
                <a:tc>
                  <a:txBody>
                    <a:bodyPr>
                      <a:noAutofit/>
                    </a:bodyPr>
                    <a:lstStyle/>
                    <a:p>
                      <a:pPr algn="l">
                        <a:lnSpc>
                          <a:spcPct val="100000"/>
                        </a:lnSpc>
                        <a:buNone/>
                      </a:pPr>
                      <a:r>
                        <a:rPr sz="1725" b="0">
                          <a:solidFill>
                            <a:srgbClr val="000000"/>
                          </a:solidFill>
                          <a:latin typeface="Times New Roman"/>
                          <a:ea typeface="Times New Roman"/>
                          <a:cs typeface="Times New Roman"/>
                        </a:rPr>
                        <a:t>Train / test split</a:t>
                      </a:r>
                    </a:p>
                  </a:txBody>
                  <a:tcPr marL="95250" marR="95250" marT="57150" marB="57150" anchor="ctr">
                    <a:solidFill>
                      <a:srgbClr val="FFFFFF"/>
                    </a:solidFill>
                  </a:tcPr>
                </a:tc>
                <a:tc>
                  <a:txBody>
                    <a:bodyPr>
                      <a:noAutofit/>
                    </a:bodyPr>
                    <a:lstStyle/>
                    <a:p>
                      <a:pPr algn="l">
                        <a:lnSpc>
                          <a:spcPct val="100000"/>
                        </a:lnSpc>
                        <a:buNone/>
                      </a:pPr>
                      <a:r>
                        <a:rPr sz="1725" b="0">
                          <a:solidFill>
                            <a:srgbClr val="000000"/>
                          </a:solidFill>
                          <a:latin typeface="Times New Roman"/>
                          <a:ea typeface="Times New Roman"/>
                          <a:cs typeface="Times New Roman"/>
                        </a:rPr>
                        <a:t>Separate complete sessions for training and final testing</a:t>
                      </a:r>
                    </a:p>
                  </a:txBody>
                  <a:tcPr marL="95250" marR="95250" marT="57150" marB="57150" anchor="ctr">
                    <a:solidFill>
                      <a:srgbClr val="FFFFFF"/>
                    </a:solidFill>
                  </a:tcPr>
                </a:tc>
              </a:tr>
            </a:tbl>
          </a:graphicData>
        </a:graphic>
      </p:graphicFrame>
      <p:sp>
        <p:nvSpPr>
          <p:cNvPr id="90" name="Sampling plan">
            <a:extLst xmlns:a="http://schemas.openxmlformats.org/drawingml/2006/main">
              <a:ext uri="{FF2B5EF4-FFF2-40B4-BE49-F238E27FC236}">
                <a16:creationId xmlns:a16="http://schemas.microsoft.com/office/drawing/2014/main" id="{C794FE62-2B73-4989-B15B-1291F5804B0C}"/>
              </a:ext>
            </a:extLst>
          </p:cNvPr>
          <p:cNvSpPr>
            <a:spLocks xmlns:a="http://schemas.openxmlformats.org/drawingml/2006/main" noGrp="1"/>
          </p:cNvSpPr>
          <p:nvPr/>
        </p:nvSpPr>
        <p:spPr>
          <a:xfrm xmlns:a="http://schemas.openxmlformats.org/drawingml/2006/main">
            <a:off x="523875" y="5114925"/>
            <a:ext cx="81153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Record battery and load signals on the actual power system.</a:t>
            </a:r>
          </a:p>
          <a:p xmlns:a="http://schemas.openxmlformats.org/drawingml/2006/main">
            <a:pPr algn="l">
              <a:buNone/>
              <a:defRPr sz="1725" b="0">
                <a:solidFill>
                  <a:srgbClr val="000000"/>
                </a:solidFill>
                <a:latin typeface="Times New Roman"/>
                <a:ea typeface="Times New Roman"/>
                <a:cs typeface="Times New Roman"/>
              </a:defRPr>
            </a:pPr>
            <a:r>
              <a:rPr sz="1725" b="0">
                <a:solidFill>
                  <a:srgbClr val="000000"/>
                </a:solidFill>
                <a:latin typeface="Times New Roman"/>
                <a:ea typeface="Times New Roman"/>
                <a:cs typeface="Times New Roman"/>
              </a:rPr>
              <a:t>AC metering follows its verified update rate.</a:t>
            </a:r>
          </a:p>
        </p:txBody>
      </p:sp>
      <p:sp>
        <p:nvSpPr>
          <p:cNvPr id="91" name="Dataset status">
            <a:extLst xmlns:a="http://schemas.openxmlformats.org/drawingml/2006/main">
              <a:ext uri="{FF2B5EF4-FFF2-40B4-BE49-F238E27FC236}">
                <a16:creationId xmlns:a16="http://schemas.microsoft.com/office/drawing/2014/main" id="{ABBEF73D-75EC-4311-A3AF-F090E1E96109}"/>
              </a:ext>
            </a:extLst>
          </p:cNvPr>
          <p:cNvSpPr>
            <a:spLocks xmlns:a="http://schemas.openxmlformats.org/drawingml/2006/main" noGrp="1"/>
          </p:cNvSpPr>
          <p:nvPr/>
        </p:nvSpPr>
        <p:spPr>
          <a:xfrm xmlns:a="http://schemas.openxmlformats.org/drawingml/2006/main">
            <a:off x="523875" y="6000750"/>
            <a:ext cx="81153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725" b="1">
                <a:solidFill>
                  <a:srgbClr val="7030A0"/>
                </a:solidFill>
                <a:latin typeface="Times New Roman"/>
                <a:ea typeface="Times New Roman"/>
                <a:cs typeface="Times New Roman"/>
              </a:defRPr>
            </a:pPr>
            <a:r>
              <a:rPr sz="1725" b="1">
                <a:solidFill>
                  <a:srgbClr val="7030A0"/>
                </a:solidFill>
                <a:latin typeface="Times New Roman"/>
                <a:ea typeface="Times New Roman"/>
                <a:cs typeface="Times New Roman"/>
              </a:rPr>
              <a:t>Known-load training and combined AC/DC validation are pending.</a:t>
            </a:r>
          </a:p>
          <a:p xmlns:a="http://schemas.openxmlformats.org/drawingml/2006/main">
            <a:pPr algn="l">
              <a:buNone/>
              <a:defRPr sz="1725" b="1">
                <a:solidFill>
                  <a:srgbClr val="7030A0"/>
                </a:solidFill>
                <a:latin typeface="Times New Roman"/>
                <a:ea typeface="Times New Roman"/>
                <a:cs typeface="Times New Roman"/>
              </a:defRPr>
            </a:pPr>
            <a:r>
              <a:rPr sz="1725" b="1">
                <a:solidFill>
                  <a:srgbClr val="7030A0"/>
                </a:solidFill>
                <a:latin typeface="Times New Roman"/>
                <a:ea typeface="Times New Roman"/>
                <a:cs typeface="Times New Roman"/>
              </a:rPr>
              <a:t>Current records demonstrate the DC software foundation.</a:t>
            </a:r>
          </a:p>
        </p:txBody>
      </p:sp>
    </p:spTree>
    <p:extLst>
      <p:ext uri="{BB962C8B-B14F-4D97-AF65-F5344CB8AC3E}">
        <p14:creationId xmlns:p14="http://schemas.microsoft.com/office/powerpoint/2010/main" val="273334686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93BA2D16-3C40-489F-BA96-67F96B185E7D}"/>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30394428-F1DC-E5F6-DB0C-7DE31F3D8A23}" type="slidenum">
              <a:rPr sz="975" b="0" i="0" u="none">
                <a:solidFill>
                  <a:srgbClr val="595959"/>
                </a:solidFill>
                <a:latin typeface="Arial"/>
                <a:ea typeface="Arial"/>
                <a:cs typeface="Arial"/>
              </a:rPr>
              <a:t>11</a:t>
            </a:fld>
            <a:endParaRPr/>
          </a:p>
        </p:txBody>
      </p:sp>
      <p:sp>
        <p:nvSpPr>
          <p:cNvPr id="88" name="Google Shape;88;p4">
            <a:extLst xmlns:a="http://schemas.openxmlformats.org/drawingml/2006/main">
              <a:ext uri="{FF2B5EF4-FFF2-40B4-BE49-F238E27FC236}">
                <a16:creationId xmlns:a16="http://schemas.microsoft.com/office/drawing/2014/main" id="{AA87530C-BB85-4CC7-A36D-74DC62135DB2}"/>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400" b="1">
                <a:solidFill>
                  <a:srgbClr val="000000"/>
                </a:solidFill>
                <a:latin typeface="Times New Roman"/>
                <a:ea typeface="Times New Roman"/>
                <a:cs typeface="Times New Roman"/>
              </a:defRPr>
            </a:pPr>
            <a:r>
              <a:rPr sz="2400" b="1">
                <a:solidFill>
                  <a:srgbClr val="000000"/>
                </a:solidFill>
                <a:latin typeface="Times New Roman"/>
                <a:ea typeface="Times New Roman"/>
                <a:cs typeface="Times New Roman"/>
              </a:rPr>
              <a:t>Expected Outcomes and Evaluation</a:t>
            </a:r>
            <a:endParaRPr sz="1050"/>
          </a:p>
        </p:txBody>
      </p:sp>
      <p:graphicFrame>
        <p:nvGraphicFramePr>
          <p:cNvPr id="95" name=""/>
          <p:cNvGraphicFramePr/>
          <p:nvPr/>
        </p:nvGraphicFramePr>
        <p:xfrm>
          <a:off xmlns:a="http://schemas.openxmlformats.org/drawingml/2006/main" x="457200" y="1162050"/>
          <a:ext xmlns:a="http://schemas.openxmlformats.org/drawingml/2006/main" cx="8229600" cy="3790950"/>
        </p:xfrm>
        <a:graphic xmlns:a="http://schemas.openxmlformats.org/drawingml/2006/main">
          <a:graphicData uri="http://schemas.openxmlformats.org/drawingml/2006/table">
            <a:tbl>
              <a:tblPr/>
              <a:tblGrid>
                <a:gridCol w="2724150"/>
                <a:gridCol w="5505450"/>
              </a:tblGrid>
              <a:tr h="457200">
                <a:tc>
                  <a:txBody>
                    <a:bodyPr>
                      <a:noAutofit/>
                    </a:bodyPr>
                    <a:lstStyle/>
                    <a:p>
                      <a:pPr algn="l">
                        <a:lnSpc>
                          <a:spcPct val="100000"/>
                        </a:lnSpc>
                        <a:buNone/>
                      </a:pPr>
                      <a:r>
                        <a:rPr sz="1725" b="1">
                          <a:solidFill>
                            <a:srgbClr val="000000"/>
                          </a:solidFill>
                          <a:latin typeface="Times New Roman"/>
                          <a:ea typeface="Times New Roman"/>
                          <a:cs typeface="Times New Roman"/>
                        </a:rPr>
                        <a:t>Expected output</a:t>
                      </a:r>
                    </a:p>
                  </a:txBody>
                  <a:tcPr marL="95250" marR="95250" marT="57150" marB="57150" anchor="ctr">
                    <a:solidFill>
                      <a:srgbClr val="F2F2F2"/>
                    </a:solidFill>
                  </a:tcPr>
                </a:tc>
                <a:tc>
                  <a:txBody>
                    <a:bodyPr>
                      <a:noAutofit/>
                    </a:bodyPr>
                    <a:lstStyle/>
                    <a:p>
                      <a:pPr algn="l">
                        <a:lnSpc>
                          <a:spcPct val="100000"/>
                        </a:lnSpc>
                        <a:buNone/>
                      </a:pPr>
                      <a:r>
                        <a:rPr sz="1725" b="1">
                          <a:solidFill>
                            <a:srgbClr val="000000"/>
                          </a:solidFill>
                          <a:latin typeface="Times New Roman"/>
                          <a:ea typeface="Times New Roman"/>
                          <a:cs typeface="Times New Roman"/>
                        </a:rPr>
                        <a:t>Evaluation method</a:t>
                      </a:r>
                    </a:p>
                  </a:txBody>
                  <a:tcPr marL="95250" marR="95250" marT="57150" marB="57150" anchor="ctr">
                    <a:solidFill>
                      <a:srgbClr val="F2F2F2"/>
                    </a:solidFill>
                  </a:tcPr>
                </a:tc>
              </a:tr>
              <a:tr h="666750">
                <a:tc>
                  <a:txBody>
                    <a:bodyPr>
                      <a:noAutofit/>
                    </a:bodyPr>
                    <a:lstStyle/>
                    <a:p>
                      <a:pPr algn="l">
                        <a:lnSpc>
                          <a:spcPct val="100000"/>
                        </a:lnSpc>
                        <a:buNone/>
                      </a:pPr>
                      <a:r>
                        <a:rPr sz="1725" b="0">
                          <a:solidFill>
                            <a:srgbClr val="000000"/>
                          </a:solidFill>
                          <a:latin typeface="Times New Roman"/>
                          <a:ea typeface="Times New Roman"/>
                          <a:cs typeface="Times New Roman"/>
                        </a:rPr>
                        <a:t>Remaining battery energy</a:t>
                      </a:r>
                    </a:p>
                  </a:txBody>
                  <a:tcPr marL="95250" marR="95250" marT="57150" marB="57150" anchor="ctr">
                    <a:solidFill>
                      <a:srgbClr val="FFFFFF"/>
                    </a:solidFill>
                  </a:tcPr>
                </a:tc>
                <a:tc>
                  <a:txBody>
                    <a:bodyPr>
                      <a:noAutofit/>
                    </a:bodyPr>
                    <a:lstStyle/>
                    <a:p>
                      <a:pPr algn="l">
                        <a:lnSpc>
                          <a:spcPct val="100000"/>
                        </a:lnSpc>
                        <a:buNone/>
                      </a:pPr>
                      <a:r>
                        <a:rPr sz="1725" b="0">
                          <a:solidFill>
                            <a:srgbClr val="000000"/>
                          </a:solidFill>
                          <a:latin typeface="Times New Roman"/>
                          <a:ea typeface="Times New Roman"/>
                          <a:cs typeface="Times New Roman"/>
                        </a:rPr>
                        <a:t>Calibrated usable capacity, reference and reserve</a:t>
                      </a:r>
                    </a:p>
                  </a:txBody>
                  <a:tcPr marL="95250" marR="95250" marT="57150" marB="57150" anchor="ctr">
                    <a:solidFill>
                      <a:srgbClr val="FFFFFF"/>
                    </a:solidFill>
                  </a:tcPr>
                </a:tc>
              </a:tr>
              <a:tr h="666750">
                <a:tc>
                  <a:txBody>
                    <a:bodyPr>
                      <a:noAutofit/>
                    </a:bodyPr>
                    <a:lstStyle/>
                    <a:p>
                      <a:pPr algn="l">
                        <a:lnSpc>
                          <a:spcPct val="100000"/>
                        </a:lnSpc>
                        <a:buNone/>
                      </a:pPr>
                      <a:r>
                        <a:rPr sz="1725" b="0">
                          <a:solidFill>
                            <a:srgbClr val="000000"/>
                          </a:solidFill>
                          <a:latin typeface="Times New Roman"/>
                          <a:ea typeface="Times New Roman"/>
                          <a:cs typeface="Times New Roman"/>
                        </a:rPr>
                        <a:t>Backup-runtime estimate</a:t>
                      </a:r>
                    </a:p>
                  </a:txBody>
                  <a:tcPr marL="95250" marR="95250" marT="57150" marB="57150" anchor="ctr">
                    <a:solidFill>
                      <a:srgbClr val="FFFFFF"/>
                    </a:solidFill>
                  </a:tcPr>
                </a:tc>
                <a:tc>
                  <a:txBody>
                    <a:bodyPr>
                      <a:noAutofit/>
                    </a:bodyPr>
                    <a:lstStyle/>
                    <a:p>
                      <a:pPr algn="l">
                        <a:lnSpc>
                          <a:spcPct val="100000"/>
                        </a:lnSpc>
                        <a:buNone/>
                      </a:pPr>
                      <a:r>
                        <a:rPr sz="1725" b="0">
                          <a:solidFill>
                            <a:srgbClr val="000000"/>
                          </a:solidFill>
                          <a:latin typeface="Times New Roman"/>
                          <a:ea typeface="Times New Roman"/>
                          <a:cs typeface="Times New Roman"/>
                        </a:rPr>
                        <a:t>Prediction error against matched observed discharge</a:t>
                      </a:r>
                    </a:p>
                  </a:txBody>
                  <a:tcPr marL="95250" marR="95250" marT="57150" marB="57150" anchor="ctr">
                    <a:solidFill>
                      <a:srgbClr val="FFFFFF"/>
                    </a:solidFill>
                  </a:tcPr>
                </a:tc>
              </a:tr>
              <a:tr h="666750">
                <a:tc>
                  <a:txBody>
                    <a:bodyPr>
                      <a:noAutofit/>
                    </a:bodyPr>
                    <a:lstStyle/>
                    <a:p>
                      <a:pPr algn="l">
                        <a:lnSpc>
                          <a:spcPct val="100000"/>
                        </a:lnSpc>
                        <a:buNone/>
                      </a:pPr>
                      <a:r>
                        <a:rPr sz="1725" b="0">
                          <a:solidFill>
                            <a:srgbClr val="000000"/>
                          </a:solidFill>
                          <a:latin typeface="Times New Roman"/>
                          <a:ea typeface="Times New Roman"/>
                          <a:cs typeface="Times New Roman"/>
                        </a:rPr>
                        <a:t>Known / UNKNOWN load</a:t>
                      </a:r>
                    </a:p>
                  </a:txBody>
                  <a:tcPr marL="95250" marR="95250" marT="57150" marB="57150" anchor="ctr">
                    <a:solidFill>
                      <a:srgbClr val="FFFFFF"/>
                    </a:solidFill>
                  </a:tcPr>
                </a:tc>
                <a:tc>
                  <a:txBody>
                    <a:bodyPr>
                      <a:noAutofit/>
                    </a:bodyPr>
                    <a:lstStyle/>
                    <a:p>
                      <a:pPr algn="l">
                        <a:lnSpc>
                          <a:spcPct val="100000"/>
                        </a:lnSpc>
                        <a:buNone/>
                      </a:pPr>
                      <a:r>
                        <a:rPr sz="1725" b="0">
                          <a:solidFill>
                            <a:srgbClr val="000000"/>
                          </a:solidFill>
                          <a:latin typeface="Times New Roman"/>
                          <a:ea typeface="Times New Roman"/>
                          <a:cs typeface="Times New Roman"/>
                        </a:rPr>
                        <a:t>Held-out confusion matrix and unknown acceptance</a:t>
                      </a:r>
                    </a:p>
                  </a:txBody>
                  <a:tcPr marL="95250" marR="95250" marT="57150" marB="57150" anchor="ctr">
                    <a:solidFill>
                      <a:srgbClr val="FFFFFF"/>
                    </a:solidFill>
                  </a:tcPr>
                </a:tc>
              </a:tr>
              <a:tr h="666750">
                <a:tc>
                  <a:txBody>
                    <a:bodyPr>
                      <a:noAutofit/>
                    </a:bodyPr>
                    <a:lstStyle/>
                    <a:p>
                      <a:pPr algn="l">
                        <a:lnSpc>
                          <a:spcPct val="100000"/>
                        </a:lnSpc>
                        <a:buNone/>
                      </a:pPr>
                      <a:r>
                        <a:rPr sz="1725" b="0">
                          <a:solidFill>
                            <a:srgbClr val="000000"/>
                          </a:solidFill>
                          <a:latin typeface="Times New Roman"/>
                          <a:ea typeface="Times New Roman"/>
                          <a:cs typeface="Times New Roman"/>
                        </a:rPr>
                        <a:t>Turn-off recommendation</a:t>
                      </a:r>
                    </a:p>
                  </a:txBody>
                  <a:tcPr marL="95250" marR="95250" marT="57150" marB="57150" anchor="ctr">
                    <a:solidFill>
                      <a:srgbClr val="FFFFFF"/>
                    </a:solidFill>
                  </a:tcPr>
                </a:tc>
                <a:tc>
                  <a:txBody>
                    <a:bodyPr>
                      <a:noAutofit/>
                    </a:bodyPr>
                    <a:lstStyle/>
                    <a:p>
                      <a:pPr algn="l">
                        <a:lnSpc>
                          <a:spcPct val="100000"/>
                        </a:lnSpc>
                        <a:buNone/>
                      </a:pPr>
                      <a:r>
                        <a:rPr sz="1725" b="0">
                          <a:solidFill>
                            <a:srgbClr val="000000"/>
                          </a:solidFill>
                          <a:latin typeface="Times New Roman"/>
                          <a:ea typeface="Times New Roman"/>
                          <a:cs typeface="Times New Roman"/>
                        </a:rPr>
                        <a:t>Matched before/after demand and backup benefit</a:t>
                      </a:r>
                    </a:p>
                  </a:txBody>
                  <a:tcPr marL="95250" marR="95250" marT="57150" marB="57150" anchor="ctr">
                    <a:solidFill>
                      <a:srgbClr val="FFFFFF"/>
                    </a:solidFill>
                  </a:tcPr>
                </a:tc>
              </a:tr>
              <a:tr h="666750">
                <a:tc>
                  <a:txBody>
                    <a:bodyPr>
                      <a:noAutofit/>
                    </a:bodyPr>
                    <a:lstStyle/>
                    <a:p>
                      <a:pPr algn="l">
                        <a:lnSpc>
                          <a:spcPct val="100000"/>
                        </a:lnSpc>
                        <a:buNone/>
                      </a:pPr>
                      <a:r>
                        <a:rPr sz="1725" b="0">
                          <a:solidFill>
                            <a:srgbClr val="000000"/>
                          </a:solidFill>
                          <a:latin typeface="Times New Roman"/>
                          <a:ea typeface="Times New Roman"/>
                          <a:cs typeface="Times New Roman"/>
                        </a:rPr>
                        <a:t>AC/DC charging and loads</a:t>
                      </a:r>
                    </a:p>
                  </a:txBody>
                  <a:tcPr marL="95250" marR="95250" marT="57150" marB="57150" anchor="ctr">
                    <a:solidFill>
                      <a:srgbClr val="FFFFFF"/>
                    </a:solidFill>
                  </a:tcPr>
                </a:tc>
                <a:tc>
                  <a:txBody>
                    <a:bodyPr>
                      <a:noAutofit/>
                    </a:bodyPr>
                    <a:lstStyle/>
                    <a:p>
                      <a:pPr algn="l">
                        <a:lnSpc>
                          <a:spcPct val="100000"/>
                        </a:lnSpc>
                        <a:buNone/>
                      </a:pPr>
                      <a:r>
                        <a:rPr sz="1725" b="0">
                          <a:solidFill>
                            <a:srgbClr val="000000"/>
                          </a:solidFill>
                          <a:latin typeface="Times New Roman"/>
                          <a:ea typeface="Times New Roman"/>
                          <a:cs typeface="Times New Roman"/>
                        </a:rPr>
                        <a:t>Check conversion, current coverage and meter error</a:t>
                      </a:r>
                    </a:p>
                  </a:txBody>
                  <a:tcPr marL="95250" marR="95250" marT="57150" marB="57150" anchor="ctr">
                    <a:solidFill>
                      <a:srgbClr val="FFFFFF"/>
                    </a:solidFill>
                  </a:tcPr>
                </a:tc>
              </a:tr>
            </a:tbl>
          </a:graphicData>
        </a:graphic>
      </p:graphicFrame>
      <p:sp>
        <p:nvSpPr>
          <p:cNvPr id="90" name="Recorded foundation evidence">
            <a:extLst xmlns:a="http://schemas.openxmlformats.org/drawingml/2006/main">
              <a:ext uri="{FF2B5EF4-FFF2-40B4-BE49-F238E27FC236}">
                <a16:creationId xmlns:a16="http://schemas.microsoft.com/office/drawing/2014/main" id="{4BCD3E3F-2635-4F72-96DB-9A42CA3A0C1E}"/>
              </a:ext>
            </a:extLst>
          </p:cNvPr>
          <p:cNvSpPr>
            <a:spLocks xmlns:a="http://schemas.openxmlformats.org/drawingml/2006/main" noGrp="1"/>
          </p:cNvSpPr>
          <p:nvPr/>
        </p:nvSpPr>
        <p:spPr>
          <a:xfrm xmlns:a="http://schemas.openxmlformats.org/drawingml/2006/main">
            <a:off x="533400" y="5114925"/>
            <a:ext cx="81057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DC audit (30 Sep): 45 Python tests and 67 C++ assertions.</a:t>
            </a:r>
          </a:p>
          <a:p xmlns:a="http://schemas.openxmlformats.org/drawingml/2006/main">
            <a:pPr algn="l">
              <a:buNone/>
              <a:defRPr sz="1800" b="0">
                <a:solidFill>
                  <a:srgbClr val="000000"/>
                </a:solidFill>
                <a:latin typeface="Times New Roman"/>
                <a:ea typeface="Times New Roman"/>
                <a:cs typeface="Times New Roman"/>
              </a:defRPr>
            </a:pPr>
            <a:r>
              <a:rPr sz="1800" b="0">
                <a:solidFill>
                  <a:srgbClr val="000000"/>
                </a:solidFill>
                <a:latin typeface="Times New Roman"/>
                <a:ea typeface="Times New Roman"/>
                <a:cs typeface="Times New Roman"/>
              </a:rPr>
              <a:t>Both existing ESP32 firmware targets compiled.</a:t>
            </a:r>
          </a:p>
        </p:txBody>
      </p:sp>
      <p:sp>
        <p:nvSpPr>
          <p:cNvPr id="91" name="Estimation validation">
            <a:extLst xmlns:a="http://schemas.openxmlformats.org/drawingml/2006/main">
              <a:ext uri="{FF2B5EF4-FFF2-40B4-BE49-F238E27FC236}">
                <a16:creationId xmlns:a16="http://schemas.microsoft.com/office/drawing/2014/main" id="{AFCED23E-C10A-430E-87F1-27BCBCA02010}"/>
              </a:ext>
            </a:extLst>
          </p:cNvPr>
          <p:cNvSpPr>
            <a:spLocks xmlns:a="http://schemas.openxmlformats.org/drawingml/2006/main" noGrp="1"/>
          </p:cNvSpPr>
          <p:nvPr/>
        </p:nvSpPr>
        <p:spPr>
          <a:xfrm xmlns:a="http://schemas.openxmlformats.org/drawingml/2006/main">
            <a:off x="533400" y="5991225"/>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875" b="1">
                <a:solidFill>
                  <a:srgbClr val="7030A0"/>
                </a:solidFill>
                <a:latin typeface="Times New Roman"/>
                <a:ea typeface="Times New Roman"/>
                <a:cs typeface="Times New Roman"/>
              </a:defRPr>
            </a:pPr>
            <a:r>
              <a:rPr sz="1875" b="1">
                <a:solidFill>
                  <a:srgbClr val="7030A0"/>
                </a:solidFill>
                <a:latin typeface="Times New Roman"/>
                <a:ea typeface="Times New Roman"/>
                <a:cs typeface="Times New Roman"/>
              </a:rPr>
              <a:t>Integrated battery-powered guidance and AC/DC performance</a:t>
            </a:r>
          </a:p>
          <a:p xmlns:a="http://schemas.openxmlformats.org/drawingml/2006/main">
            <a:pPr algn="l">
              <a:buNone/>
              <a:defRPr sz="1875" b="1">
                <a:solidFill>
                  <a:srgbClr val="7030A0"/>
                </a:solidFill>
                <a:latin typeface="Times New Roman"/>
                <a:ea typeface="Times New Roman"/>
                <a:cs typeface="Times New Roman"/>
              </a:defRPr>
            </a:pPr>
            <a:r>
              <a:rPr sz="1875" b="1">
                <a:solidFill>
                  <a:srgbClr val="7030A0"/>
                </a:solidFill>
                <a:latin typeface="Times New Roman"/>
                <a:ea typeface="Times New Roman"/>
                <a:cs typeface="Times New Roman"/>
              </a:rPr>
              <a:t>require measured validation.</a:t>
            </a:r>
          </a:p>
        </p:txBody>
      </p:sp>
    </p:spTree>
    <p:extLst>
      <p:ext uri="{BB962C8B-B14F-4D97-AF65-F5344CB8AC3E}">
        <p14:creationId xmlns:p14="http://schemas.microsoft.com/office/powerpoint/2010/main" val="99605886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7C882726-E374-4F85-B65C-0A748256C93F}"/>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4DB16885-0D3F-A391-B669-3211DB3B26E8}" type="slidenum">
              <a:rPr sz="975" b="0" i="0" u="none">
                <a:solidFill>
                  <a:srgbClr val="595959"/>
                </a:solidFill>
                <a:latin typeface="Arial"/>
                <a:ea typeface="Arial"/>
                <a:cs typeface="Arial"/>
              </a:rPr>
              <a:t>12</a:t>
            </a:fld>
            <a:endParaRPr/>
          </a:p>
        </p:txBody>
      </p:sp>
      <p:sp>
        <p:nvSpPr>
          <p:cNvPr id="88" name="Google Shape;88;p4">
            <a:extLst xmlns:a="http://schemas.openxmlformats.org/drawingml/2006/main">
              <a:ext uri="{FF2B5EF4-FFF2-40B4-BE49-F238E27FC236}">
                <a16:creationId xmlns:a16="http://schemas.microsoft.com/office/drawing/2014/main" id="{A36F839B-DD58-4B81-A184-5DD6C1A1F831}"/>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Project Timeline</a:t>
            </a:r>
            <a:endParaRPr sz="1050"/>
          </a:p>
        </p:txBody>
      </p:sp>
      <p:graphicFrame>
        <p:nvGraphicFramePr>
          <p:cNvPr id="94" name="Table 1"/>
          <p:cNvGraphicFramePr/>
          <p:nvPr/>
        </p:nvGraphicFramePr>
        <p:xfrm>
          <a:off xmlns:a="http://schemas.openxmlformats.org/drawingml/2006/main" x="619125" y="1238250"/>
          <a:ext xmlns:a="http://schemas.openxmlformats.org/drawingml/2006/main" cx="7905750" cy="4133850"/>
        </p:xfrm>
        <a:graphic xmlns:a="http://schemas.openxmlformats.org/drawingml/2006/main">
          <a:graphicData uri="http://schemas.openxmlformats.org/drawingml/2006/table">
            <a:tbl>
              <a:tblPr/>
              <a:tblGrid>
                <a:gridCol w="2219325"/>
                <a:gridCol w="5686425"/>
              </a:tblGrid>
              <a:tr h="402590">
                <a:tc>
                  <a:txBody>
                    <a:bodyPr>
                      <a:noAutofit/>
                    </a:bodyPr>
                    <a:lstStyle/>
                    <a:p>
                      <a:r>
                        <a:rPr sz="1875" b="1">
                          <a:solidFill>
                            <a:srgbClr val="000000"/>
                          </a:solidFill>
                          <a:latin typeface="Times New Roman"/>
                          <a:ea typeface="Times New Roman"/>
                          <a:cs typeface="Times New Roman"/>
                        </a:rPr>
                        <a:t>Period</a:t>
                      </a:r>
                      <a:endParaRPr>
                        <a:latin typeface="Cambria"/>
                        <a:ea typeface="Cambria"/>
                        <a:cs typeface="Cambria"/>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75" b="1">
                          <a:solidFill>
                            <a:srgbClr val="000000"/>
                          </a:solidFill>
                          <a:latin typeface="Times New Roman"/>
                          <a:ea typeface="Times New Roman"/>
                          <a:cs typeface="Times New Roman"/>
                        </a:rPr>
                        <a:t>Work and milestone</a:t>
                      </a:r>
                      <a:endParaRPr>
                        <a:latin typeface="Cambria"/>
                        <a:ea typeface="Cambria"/>
                        <a:cs typeface="Cambria"/>
                      </a:endParaRP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noAutofit/>
                    </a:bodyPr>
                    <a:lstStyle/>
                    <a:p>
                      <a:r>
                        <a:rPr sz="1875" b="0">
                          <a:solidFill>
                            <a:srgbClr val="000000"/>
                          </a:solidFill>
                          <a:latin typeface="Times New Roman"/>
                          <a:ea typeface="Times New Roman"/>
                          <a:cs typeface="Times New Roman"/>
                        </a:rPr>
                        <a:t>September 2026</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75" b="0">
                          <a:solidFill>
                            <a:srgbClr val="000000"/>
                          </a:solidFill>
                          <a:latin typeface="Times New Roman"/>
                          <a:ea typeface="Times New Roman"/>
                          <a:cs typeface="Times New Roman"/>
                        </a:rPr>
                        <a:t>DC firmware, dashboard, PCB design and models</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noAutofit/>
                    </a:bodyPr>
                    <a:lstStyle/>
                    <a:p>
                      <a:r>
                        <a:rPr sz="1875" b="0">
                          <a:solidFill>
                            <a:srgbClr val="000000"/>
                          </a:solidFill>
                          <a:latin typeface="Times New Roman"/>
                          <a:ea typeface="Times New Roman"/>
                          <a:cs typeface="Times New Roman"/>
                        </a:rPr>
                        <a:t>October 2026</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75" b="0">
                          <a:solidFill>
                            <a:srgbClr val="000000"/>
                          </a:solidFill>
                          <a:latin typeface="Times New Roman"/>
                          <a:ea typeface="Times New Roman"/>
                          <a:cs typeface="Times New Roman"/>
                        </a:rPr>
                        <a:t>Qualify whole-battery sensing, charging and device supply</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402590">
                <a:tc>
                  <a:txBody>
                    <a:bodyPr>
                      <a:noAutofit/>
                    </a:bodyPr>
                    <a:lstStyle/>
                    <a:p>
                      <a:r>
                        <a:rPr sz="1875" b="0">
                          <a:solidFill>
                            <a:srgbClr val="000000"/>
                          </a:solidFill>
                          <a:latin typeface="Times New Roman"/>
                          <a:ea typeface="Times New Roman"/>
                          <a:cs typeface="Times New Roman"/>
                        </a:rPr>
                        <a:t>November 2026</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75" b="0">
                          <a:solidFill>
                            <a:srgbClr val="000000"/>
                          </a:solidFill>
                          <a:latin typeface="Times New Roman"/>
                          <a:ea typeface="Times New Roman"/>
                          <a:cs typeface="Times New Roman"/>
                        </a:rPr>
                        <a:t>Record selected AC/DC profiles and compare classifiers</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noAutofit/>
                    </a:bodyPr>
                    <a:lstStyle/>
                    <a:p>
                      <a:r>
                        <a:rPr sz="1875" b="0">
                          <a:solidFill>
                            <a:srgbClr val="000000"/>
                          </a:solidFill>
                          <a:latin typeface="Times New Roman"/>
                          <a:ea typeface="Times New Roman"/>
                          <a:cs typeface="Times New Roman"/>
                        </a:rPr>
                        <a:t>Dec 2026–Jan 2027</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75" b="0">
                          <a:solidFill>
                            <a:srgbClr val="000000"/>
                          </a:solidFill>
                          <a:latin typeface="Times New Roman"/>
                          <a:ea typeface="Times New Roman"/>
                          <a:cs typeface="Times New Roman"/>
                        </a:rPr>
                        <a:t>Validate energy/runtime and turn-off recommendations</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684404">
                <a:tc>
                  <a:txBody>
                    <a:bodyPr>
                      <a:noAutofit/>
                    </a:bodyPr>
                    <a:lstStyle/>
                    <a:p>
                      <a:r>
                        <a:rPr sz="1875" b="0">
                          <a:solidFill>
                            <a:srgbClr val="000000"/>
                          </a:solidFill>
                          <a:latin typeface="Times New Roman"/>
                          <a:ea typeface="Times New Roman"/>
                          <a:cs typeface="Times New Roman"/>
                        </a:rPr>
                        <a:t>Feb–Mar 2027</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c>
                  <a:txBody>
                    <a:bodyPr>
                      <a:noAutofit/>
                    </a:bodyPr>
                    <a:lstStyle/>
                    <a:p>
                      <a:r>
                        <a:rPr sz="1875" b="0">
                          <a:solidFill>
                            <a:srgbClr val="000000"/>
                          </a:solidFill>
                          <a:latin typeface="Times New Roman"/>
                          <a:ea typeface="Times New Roman"/>
                          <a:cs typeface="Times New Roman"/>
                        </a:rPr>
                        <a:t>Test charging/load cases and complete the final demo</a:t>
                      </a:r>
                    </a:p>
                  </a:txBody>
                  <a:tcPr marL="114300" marR="114300" marT="66675" marB="66675" anchor="ct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90" name="Review milestone">
            <a:extLst xmlns:a="http://schemas.openxmlformats.org/drawingml/2006/main">
              <a:ext uri="{FF2B5EF4-FFF2-40B4-BE49-F238E27FC236}">
                <a16:creationId xmlns:a16="http://schemas.microsoft.com/office/drawing/2014/main" id="{10B4A6CB-BB56-42B1-B695-403823751054}"/>
              </a:ext>
            </a:extLst>
          </p:cNvPr>
          <p:cNvSpPr>
            <a:spLocks xmlns:a="http://schemas.openxmlformats.org/drawingml/2006/main" noGrp="1"/>
          </p:cNvSpPr>
          <p:nvPr/>
        </p:nvSpPr>
        <p:spPr>
          <a:xfrm xmlns:a="http://schemas.openxmlformats.org/drawingml/2006/main">
            <a:off x="819150" y="5715000"/>
            <a:ext cx="76485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950" b="1">
                <a:solidFill>
                  <a:srgbClr val="000000"/>
                </a:solidFill>
                <a:latin typeface="Times New Roman"/>
                <a:ea typeface="Times New Roman"/>
                <a:cs typeface="Times New Roman"/>
              </a:defRPr>
            </a:pPr>
            <a:r>
              <a:rPr sz="1950" b="1">
                <a:solidFill>
                  <a:srgbClr val="000000"/>
                </a:solidFill>
                <a:latin typeface="Times New Roman"/>
                <a:ea typeface="Times New Roman"/>
                <a:cs typeface="Times New Roman"/>
              </a:rPr>
              <a:t>Review 3: 3 October 2026</a:t>
            </a:r>
          </a:p>
          <a:p xmlns:a="http://schemas.openxmlformats.org/drawingml/2006/main">
            <a:pPr algn="l">
              <a:buNone/>
              <a:defRPr sz="1950" b="1">
                <a:solidFill>
                  <a:srgbClr val="000000"/>
                </a:solidFill>
                <a:latin typeface="Times New Roman"/>
                <a:ea typeface="Times New Roman"/>
                <a:cs typeface="Times New Roman"/>
              </a:defRPr>
            </a:pPr>
            <a:r>
              <a:rPr sz="1950" b="1">
                <a:solidFill>
                  <a:srgbClr val="000000"/>
                </a:solidFill>
                <a:latin typeface="Times New Roman"/>
                <a:ea typeface="Times New Roman"/>
                <a:cs typeface="Times New Roman"/>
              </a:rPr>
              <a:t>Final submission: the department’s next-semester schedule</a:t>
            </a:r>
          </a:p>
        </p:txBody>
      </p:sp>
    </p:spTree>
    <p:extLst>
      <p:ext uri="{BB962C8B-B14F-4D97-AF65-F5344CB8AC3E}">
        <p14:creationId xmlns:p14="http://schemas.microsoft.com/office/powerpoint/2010/main" val="411512865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87" name="Google Shape;87;p4">
            <a:extLst xmlns:a="http://schemas.openxmlformats.org/drawingml/2006/main">
              <a:ext uri="{FF2B5EF4-FFF2-40B4-BE49-F238E27FC236}">
                <a16:creationId xmlns:a16="http://schemas.microsoft.com/office/drawing/2014/main" id="{8EBC6717-4689-45A9-9FAB-BEB4313F7345}"/>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2DD23107-4986-8758-3A93-3D74F35908CC}" type="slidenum">
              <a:rPr sz="975" b="0" i="0" u="none">
                <a:solidFill>
                  <a:srgbClr val="595959"/>
                </a:solidFill>
                <a:latin typeface="Arial"/>
                <a:ea typeface="Arial"/>
                <a:cs typeface="Arial"/>
              </a:rPr>
              <a:t>13</a:t>
            </a:fld>
            <a:endParaRPr/>
          </a:p>
        </p:txBody>
      </p:sp>
      <p:sp>
        <p:nvSpPr>
          <p:cNvPr id="88" name="Google Shape;88;p4">
            <a:extLst xmlns:a="http://schemas.openxmlformats.org/drawingml/2006/main">
              <a:ext uri="{FF2B5EF4-FFF2-40B4-BE49-F238E27FC236}">
                <a16:creationId xmlns:a16="http://schemas.microsoft.com/office/drawing/2014/main" id="{D09861B1-C161-4DCA-ABC0-1C8FD23DAEEA}"/>
              </a:ext>
            </a:extLst>
          </p:cNvPr>
          <p:cNvSpPr>
            <a:spLocks xmlns:a="http://schemas.openxmlformats.org/drawingml/2006/main" noGrp="1"/>
          </p:cNvSpPr>
          <p:nvPr/>
        </p:nvSpPr>
        <p:spPr>
          <a:xfrm xmlns:a="http://schemas.openxmlformats.org/drawingml/2006/main">
            <a:off x="1371600" y="209550"/>
            <a:ext cx="6429375" cy="571500"/>
          </a:xfrm>
          <a:prstGeom xmlns:a="http://schemas.openxmlformats.org/drawingml/2006/main" prst="rect">
            <a:avLst/>
          </a:prstGeom>
          <a:solidFill xmlns:a="http://schemas.openxmlformats.org/drawingml/2006/main">
            <a:srgbClr val="FFEED9"/>
          </a:solidFill>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257175" lvl="0" indent="-257175" algn="ctr">
              <a:buClr>
                <a:schemeClr val="dk1"/>
              </a:buClr>
              <a:buSzPts val="2800"/>
              <a:buNone/>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References</a:t>
            </a:r>
            <a:endParaRPr sz="1050"/>
          </a:p>
        </p:txBody>
      </p:sp>
      <p:sp>
        <p:nvSpPr>
          <p:cNvPr id="89" name="Reference 1">
            <a:extLst xmlns:a="http://schemas.openxmlformats.org/drawingml/2006/main">
              <a:ext uri="{FF2B5EF4-FFF2-40B4-BE49-F238E27FC236}">
                <a16:creationId xmlns:a16="http://schemas.microsoft.com/office/drawing/2014/main" id="{79EA5E28-DDBD-41AD-B93A-82B88391E1DB}"/>
              </a:ext>
            </a:extLst>
          </p:cNvPr>
          <p:cNvSpPr>
            <a:spLocks xmlns:a="http://schemas.openxmlformats.org/drawingml/2006/main" noGrp="1"/>
          </p:cNvSpPr>
          <p:nvPr/>
        </p:nvSpPr>
        <p:spPr>
          <a:xfrm xmlns:a="http://schemas.openxmlformats.org/drawingml/2006/main">
            <a:off x="352425" y="113347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 Athanasiadis et al., 2021</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1245abc2e8874a6d"/>
              </a:rPr>
              <a:t>10.3390/en14030767</a:t>
            </a:r>
          </a:p>
        </p:txBody>
      </p:sp>
      <p:sp>
        <p:nvSpPr>
          <p:cNvPr id="90" name="Reference 2">
            <a:extLst xmlns:a="http://schemas.openxmlformats.org/drawingml/2006/main">
              <a:ext uri="{FF2B5EF4-FFF2-40B4-BE49-F238E27FC236}">
                <a16:creationId xmlns:a16="http://schemas.microsoft.com/office/drawing/2014/main" id="{EDB083C4-99C3-4382-B5B7-6D8BCBD175B9}"/>
              </a:ext>
            </a:extLst>
          </p:cNvPr>
          <p:cNvSpPr>
            <a:spLocks xmlns:a="http://schemas.openxmlformats.org/drawingml/2006/main" noGrp="1"/>
          </p:cNvSpPr>
          <p:nvPr/>
        </p:nvSpPr>
        <p:spPr>
          <a:xfrm xmlns:a="http://schemas.openxmlformats.org/drawingml/2006/main">
            <a:off x="352425" y="163830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[2] Mollel et al., 2023</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6c042ce3590d4148"/>
              </a:rPr>
              <a:t>10.3390/s23104845</a:t>
            </a:r>
          </a:p>
        </p:txBody>
      </p:sp>
      <p:sp>
        <p:nvSpPr>
          <p:cNvPr id="91" name="Reference 3">
            <a:extLst xmlns:a="http://schemas.openxmlformats.org/drawingml/2006/main">
              <a:ext uri="{FF2B5EF4-FFF2-40B4-BE49-F238E27FC236}">
                <a16:creationId xmlns:a16="http://schemas.microsoft.com/office/drawing/2014/main" id="{6D87C724-4978-44B7-B97E-A1613F6D5F11}"/>
              </a:ext>
            </a:extLst>
          </p:cNvPr>
          <p:cNvSpPr>
            <a:spLocks xmlns:a="http://schemas.openxmlformats.org/drawingml/2006/main" noGrp="1"/>
          </p:cNvSpPr>
          <p:nvPr/>
        </p:nvSpPr>
        <p:spPr>
          <a:xfrm xmlns:a="http://schemas.openxmlformats.org/drawingml/2006/main">
            <a:off x="352425" y="214312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[3] Jaime et al., 2026</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8e0b6fa2f26e46f0"/>
              </a:rPr>
              <a:t>10.3390/inventions11020029</a:t>
            </a:r>
          </a:p>
        </p:txBody>
      </p:sp>
      <p:sp>
        <p:nvSpPr>
          <p:cNvPr id="92" name="Reference 4">
            <a:extLst xmlns:a="http://schemas.openxmlformats.org/drawingml/2006/main">
              <a:ext uri="{FF2B5EF4-FFF2-40B4-BE49-F238E27FC236}">
                <a16:creationId xmlns:a16="http://schemas.microsoft.com/office/drawing/2014/main" id="{08AF50BB-589A-41B6-920A-73FED7B134D8}"/>
              </a:ext>
            </a:extLst>
          </p:cNvPr>
          <p:cNvSpPr>
            <a:spLocks xmlns:a="http://schemas.openxmlformats.org/drawingml/2006/main" noGrp="1"/>
          </p:cNvSpPr>
          <p:nvPr/>
        </p:nvSpPr>
        <p:spPr>
          <a:xfrm xmlns:a="http://schemas.openxmlformats.org/drawingml/2006/main">
            <a:off x="352425" y="264795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[4] Xiang et al., 2026</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0f8c6f3862864a8d"/>
              </a:rPr>
              <a:t>10.3390/en19081883</a:t>
            </a:r>
          </a:p>
        </p:txBody>
      </p:sp>
      <p:sp>
        <p:nvSpPr>
          <p:cNvPr id="93" name="Reference 5">
            <a:extLst xmlns:a="http://schemas.openxmlformats.org/drawingml/2006/main">
              <a:ext uri="{FF2B5EF4-FFF2-40B4-BE49-F238E27FC236}">
                <a16:creationId xmlns:a16="http://schemas.microsoft.com/office/drawing/2014/main" id="{FDF73B99-5922-48A1-9687-BF1D61A2A88A}"/>
              </a:ext>
            </a:extLst>
          </p:cNvPr>
          <p:cNvSpPr>
            <a:spLocks xmlns:a="http://schemas.openxmlformats.org/drawingml/2006/main" noGrp="1"/>
          </p:cNvSpPr>
          <p:nvPr/>
        </p:nvSpPr>
        <p:spPr>
          <a:xfrm xmlns:a="http://schemas.openxmlformats.org/drawingml/2006/main">
            <a:off x="352425" y="315277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[5] Li et al., 2026</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a840914ce02c4a7d"/>
              </a:rPr>
              <a:t>10.3390/en19133131</a:t>
            </a:r>
          </a:p>
        </p:txBody>
      </p:sp>
      <p:sp>
        <p:nvSpPr>
          <p:cNvPr id="94" name="Reference 6">
            <a:extLst xmlns:a="http://schemas.openxmlformats.org/drawingml/2006/main">
              <a:ext uri="{FF2B5EF4-FFF2-40B4-BE49-F238E27FC236}">
                <a16:creationId xmlns:a16="http://schemas.microsoft.com/office/drawing/2014/main" id="{5C6E5854-03D3-45B4-9EEC-32FC087E04F0}"/>
              </a:ext>
            </a:extLst>
          </p:cNvPr>
          <p:cNvSpPr>
            <a:spLocks xmlns:a="http://schemas.openxmlformats.org/drawingml/2006/main" noGrp="1"/>
          </p:cNvSpPr>
          <p:nvPr/>
        </p:nvSpPr>
        <p:spPr>
          <a:xfrm xmlns:a="http://schemas.openxmlformats.org/drawingml/2006/main">
            <a:off x="352425" y="365760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[6] Movassagh et al., 2021</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b6d962b939b94268"/>
              </a:rPr>
              <a:t>10.3390/en14144074</a:t>
            </a:r>
          </a:p>
        </p:txBody>
      </p:sp>
      <p:sp>
        <p:nvSpPr>
          <p:cNvPr id="95" name="Reference 7">
            <a:extLst xmlns:a="http://schemas.openxmlformats.org/drawingml/2006/main">
              <a:ext uri="{FF2B5EF4-FFF2-40B4-BE49-F238E27FC236}">
                <a16:creationId xmlns:a16="http://schemas.microsoft.com/office/drawing/2014/main" id="{A8A9FE84-C3DC-4C29-829D-6F2789F82906}"/>
              </a:ext>
            </a:extLst>
          </p:cNvPr>
          <p:cNvSpPr>
            <a:spLocks xmlns:a="http://schemas.openxmlformats.org/drawingml/2006/main" noGrp="1"/>
          </p:cNvSpPr>
          <p:nvPr/>
        </p:nvSpPr>
        <p:spPr>
          <a:xfrm xmlns:a="http://schemas.openxmlformats.org/drawingml/2006/main">
            <a:off x="352425" y="416242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[7] Zhang et al., 2018</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291bd379d62c41fd"/>
              </a:rPr>
              <a:t>10.1016/j.energy.2017.10.043</a:t>
            </a:r>
          </a:p>
        </p:txBody>
      </p:sp>
      <p:sp>
        <p:nvSpPr>
          <p:cNvPr id="96" name="Reference 8">
            <a:extLst xmlns:a="http://schemas.openxmlformats.org/drawingml/2006/main">
              <a:ext uri="{FF2B5EF4-FFF2-40B4-BE49-F238E27FC236}">
                <a16:creationId xmlns:a16="http://schemas.microsoft.com/office/drawing/2014/main" id="{1CCC8EA4-D27D-4F78-B435-EC3E6FB0034C}"/>
              </a:ext>
            </a:extLst>
          </p:cNvPr>
          <p:cNvSpPr>
            <a:spLocks xmlns:a="http://schemas.openxmlformats.org/drawingml/2006/main" noGrp="1"/>
          </p:cNvSpPr>
          <p:nvPr/>
        </p:nvSpPr>
        <p:spPr>
          <a:xfrm xmlns:a="http://schemas.openxmlformats.org/drawingml/2006/main">
            <a:off x="352425" y="466725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[8] Gismero et al., 2020</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b09c8dd904db40ec"/>
              </a:rPr>
              <a:t>10.3390/en13071811</a:t>
            </a:r>
          </a:p>
        </p:txBody>
      </p:sp>
      <p:sp>
        <p:nvSpPr>
          <p:cNvPr id="97" name="Reference 9">
            <a:extLst xmlns:a="http://schemas.openxmlformats.org/drawingml/2006/main">
              <a:ext uri="{FF2B5EF4-FFF2-40B4-BE49-F238E27FC236}">
                <a16:creationId xmlns:a16="http://schemas.microsoft.com/office/drawing/2014/main" id="{8D2376E1-4AD3-4E4D-9E17-100C34FD8EBB}"/>
              </a:ext>
            </a:extLst>
          </p:cNvPr>
          <p:cNvSpPr>
            <a:spLocks xmlns:a="http://schemas.openxmlformats.org/drawingml/2006/main" noGrp="1"/>
          </p:cNvSpPr>
          <p:nvPr/>
        </p:nvSpPr>
        <p:spPr>
          <a:xfrm xmlns:a="http://schemas.openxmlformats.org/drawingml/2006/main">
            <a:off x="352425" y="517207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[9] Yang et al., 2021</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74c1828467714f5f"/>
              </a:rPr>
              <a:t>10.3390/en14041054</a:t>
            </a:r>
          </a:p>
        </p:txBody>
      </p:sp>
      <p:sp>
        <p:nvSpPr>
          <p:cNvPr id="98" name="Reference 10">
            <a:extLst xmlns:a="http://schemas.openxmlformats.org/drawingml/2006/main">
              <a:ext uri="{FF2B5EF4-FFF2-40B4-BE49-F238E27FC236}">
                <a16:creationId xmlns:a16="http://schemas.microsoft.com/office/drawing/2014/main" id="{8ABE25F2-A646-44B8-86D1-484FC5C22EA2}"/>
              </a:ext>
            </a:extLst>
          </p:cNvPr>
          <p:cNvSpPr>
            <a:spLocks xmlns:a="http://schemas.openxmlformats.org/drawingml/2006/main" noGrp="1"/>
          </p:cNvSpPr>
          <p:nvPr/>
        </p:nvSpPr>
        <p:spPr>
          <a:xfrm xmlns:a="http://schemas.openxmlformats.org/drawingml/2006/main">
            <a:off x="352425" y="567690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[10] Rzepka et al., 2021</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cd3f8db85dcc493e"/>
              </a:rPr>
              <a:t>10.3390/en14133733</a:t>
            </a:r>
          </a:p>
        </p:txBody>
      </p:sp>
      <p:sp>
        <p:nvSpPr>
          <p:cNvPr id="99" name="Reference 11">
            <a:extLst xmlns:a="http://schemas.openxmlformats.org/drawingml/2006/main">
              <a:ext uri="{FF2B5EF4-FFF2-40B4-BE49-F238E27FC236}">
                <a16:creationId xmlns:a16="http://schemas.microsoft.com/office/drawing/2014/main" id="{FBFCB2CA-2A2F-415F-A5A0-A09270C74E75}"/>
              </a:ext>
            </a:extLst>
          </p:cNvPr>
          <p:cNvSpPr>
            <a:spLocks xmlns:a="http://schemas.openxmlformats.org/drawingml/2006/main" noGrp="1"/>
          </p:cNvSpPr>
          <p:nvPr/>
        </p:nvSpPr>
        <p:spPr>
          <a:xfrm xmlns:a="http://schemas.openxmlformats.org/drawingml/2006/main">
            <a:off x="4686300" y="113347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[11] Zine et al., 2022</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51861452113d41bb"/>
              </a:rPr>
              <a:t>10.3390/en15218172</a:t>
            </a:r>
          </a:p>
        </p:txBody>
      </p:sp>
      <p:sp>
        <p:nvSpPr>
          <p:cNvPr id="100" name="Reference 12">
            <a:extLst xmlns:a="http://schemas.openxmlformats.org/drawingml/2006/main">
              <a:ext uri="{FF2B5EF4-FFF2-40B4-BE49-F238E27FC236}">
                <a16:creationId xmlns:a16="http://schemas.microsoft.com/office/drawing/2014/main" id="{6CAB54E3-C76E-4743-93FC-9E76610533DE}"/>
              </a:ext>
            </a:extLst>
          </p:cNvPr>
          <p:cNvSpPr>
            <a:spLocks xmlns:a="http://schemas.openxmlformats.org/drawingml/2006/main" noGrp="1"/>
          </p:cNvSpPr>
          <p:nvPr/>
        </p:nvSpPr>
        <p:spPr>
          <a:xfrm xmlns:a="http://schemas.openxmlformats.org/drawingml/2006/main">
            <a:off x="4686300" y="163830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[12] Fahmy et al., 2023</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f67d1f45ac124ee2"/>
              </a:rPr>
              <a:t>10.3390/en16145558</a:t>
            </a:r>
          </a:p>
        </p:txBody>
      </p:sp>
      <p:sp>
        <p:nvSpPr>
          <p:cNvPr id="101" name="Reference 13">
            <a:extLst xmlns:a="http://schemas.openxmlformats.org/drawingml/2006/main">
              <a:ext uri="{FF2B5EF4-FFF2-40B4-BE49-F238E27FC236}">
                <a16:creationId xmlns:a16="http://schemas.microsoft.com/office/drawing/2014/main" id="{DBFBD2C3-D0B8-40D6-9C08-E3B07D717AE9}"/>
              </a:ext>
            </a:extLst>
          </p:cNvPr>
          <p:cNvSpPr>
            <a:spLocks xmlns:a="http://schemas.openxmlformats.org/drawingml/2006/main" noGrp="1"/>
          </p:cNvSpPr>
          <p:nvPr/>
        </p:nvSpPr>
        <p:spPr>
          <a:xfrm xmlns:a="http://schemas.openxmlformats.org/drawingml/2006/main">
            <a:off x="4686300" y="214312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[13] Wang et al., 2023</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15f751733aef4b90"/>
              </a:rPr>
              <a:t>10.3390/batteries9010043</a:t>
            </a:r>
          </a:p>
        </p:txBody>
      </p:sp>
      <p:sp>
        <p:nvSpPr>
          <p:cNvPr id="102" name="Reference 14">
            <a:extLst xmlns:a="http://schemas.openxmlformats.org/drawingml/2006/main">
              <a:ext uri="{FF2B5EF4-FFF2-40B4-BE49-F238E27FC236}">
                <a16:creationId xmlns:a16="http://schemas.microsoft.com/office/drawing/2014/main" id="{1D39D883-E0BB-4B1F-9687-592663C22A39}"/>
              </a:ext>
            </a:extLst>
          </p:cNvPr>
          <p:cNvSpPr>
            <a:spLocks xmlns:a="http://schemas.openxmlformats.org/drawingml/2006/main" noGrp="1"/>
          </p:cNvSpPr>
          <p:nvPr/>
        </p:nvSpPr>
        <p:spPr>
          <a:xfrm xmlns:a="http://schemas.openxmlformats.org/drawingml/2006/main">
            <a:off x="4686300" y="264795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[14] Turkmanović et al., 2024</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895a2888b7624cdf"/>
              </a:rPr>
              <a:t>10.3390/electronics13214256</a:t>
            </a:r>
          </a:p>
        </p:txBody>
      </p:sp>
      <p:sp>
        <p:nvSpPr>
          <p:cNvPr id="103" name="Reference 15">
            <a:extLst xmlns:a="http://schemas.openxmlformats.org/drawingml/2006/main">
              <a:ext uri="{FF2B5EF4-FFF2-40B4-BE49-F238E27FC236}">
                <a16:creationId xmlns:a16="http://schemas.microsoft.com/office/drawing/2014/main" id="{3B6175D7-8C07-4338-BC75-4B5424FA6C19}"/>
              </a:ext>
            </a:extLst>
          </p:cNvPr>
          <p:cNvSpPr>
            <a:spLocks xmlns:a="http://schemas.openxmlformats.org/drawingml/2006/main" noGrp="1"/>
          </p:cNvSpPr>
          <p:nvPr/>
        </p:nvSpPr>
        <p:spPr>
          <a:xfrm xmlns:a="http://schemas.openxmlformats.org/drawingml/2006/main">
            <a:off x="4686300" y="315277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[15] Bampi et al., 2025</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eac0f0a15e3c41a3"/>
              </a:rPr>
              <a:t>10.18618/REP.e202521</a:t>
            </a:r>
          </a:p>
        </p:txBody>
      </p:sp>
      <p:sp>
        <p:nvSpPr>
          <p:cNvPr id="104" name="Reference 16">
            <a:extLst xmlns:a="http://schemas.openxmlformats.org/drawingml/2006/main">
              <a:ext uri="{FF2B5EF4-FFF2-40B4-BE49-F238E27FC236}">
                <a16:creationId xmlns:a16="http://schemas.microsoft.com/office/drawing/2014/main" id="{E427CBAA-09F9-4423-B098-C3A39C76B974}"/>
              </a:ext>
            </a:extLst>
          </p:cNvPr>
          <p:cNvSpPr>
            <a:spLocks xmlns:a="http://schemas.openxmlformats.org/drawingml/2006/main" noGrp="1"/>
          </p:cNvSpPr>
          <p:nvPr/>
        </p:nvSpPr>
        <p:spPr>
          <a:xfrm xmlns:a="http://schemas.openxmlformats.org/drawingml/2006/main">
            <a:off x="4686300" y="365760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[16] Marahatta et al., 2021</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7fd8663575d34d1b"/>
              </a:rPr>
              <a:t>10.1016/j.egyr.2020.11.030</a:t>
            </a:r>
          </a:p>
        </p:txBody>
      </p:sp>
      <p:sp>
        <p:nvSpPr>
          <p:cNvPr id="105" name="Reference 17">
            <a:extLst xmlns:a="http://schemas.openxmlformats.org/drawingml/2006/main">
              <a:ext uri="{FF2B5EF4-FFF2-40B4-BE49-F238E27FC236}">
                <a16:creationId xmlns:a16="http://schemas.microsoft.com/office/drawing/2014/main" id="{E104B42C-79E9-400F-A4D7-EF63EDD38774}"/>
              </a:ext>
            </a:extLst>
          </p:cNvPr>
          <p:cNvSpPr>
            <a:spLocks xmlns:a="http://schemas.openxmlformats.org/drawingml/2006/main" noGrp="1"/>
          </p:cNvSpPr>
          <p:nvPr/>
        </p:nvSpPr>
        <p:spPr>
          <a:xfrm xmlns:a="http://schemas.openxmlformats.org/drawingml/2006/main">
            <a:off x="4686300" y="416242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[17] Rajbhandari et al., 2024</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e1b6c65fcf2848e4"/>
              </a:rPr>
              <a:t>10.1049/stg2.12151</a:t>
            </a:r>
          </a:p>
        </p:txBody>
      </p:sp>
      <p:sp>
        <p:nvSpPr>
          <p:cNvPr id="106" name="Reference 18">
            <a:extLst xmlns:a="http://schemas.openxmlformats.org/drawingml/2006/main">
              <a:ext uri="{FF2B5EF4-FFF2-40B4-BE49-F238E27FC236}">
                <a16:creationId xmlns:a16="http://schemas.microsoft.com/office/drawing/2014/main" id="{7D3BA3F6-0E24-4BAE-BB6C-A6E62C400083}"/>
              </a:ext>
            </a:extLst>
          </p:cNvPr>
          <p:cNvSpPr>
            <a:spLocks xmlns:a="http://schemas.openxmlformats.org/drawingml/2006/main" noGrp="1"/>
          </p:cNvSpPr>
          <p:nvPr/>
        </p:nvSpPr>
        <p:spPr>
          <a:xfrm xmlns:a="http://schemas.openxmlformats.org/drawingml/2006/main">
            <a:off x="4686300" y="466725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[18] Guo &amp; Kors, 2021</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9f5561de712144ed"/>
              </a:rPr>
              <a:t>10.3390/electronics10131562</a:t>
            </a:r>
          </a:p>
        </p:txBody>
      </p:sp>
      <p:sp>
        <p:nvSpPr>
          <p:cNvPr id="107" name="Reference 19">
            <a:extLst xmlns:a="http://schemas.openxmlformats.org/drawingml/2006/main">
              <a:ext uri="{FF2B5EF4-FFF2-40B4-BE49-F238E27FC236}">
                <a16:creationId xmlns:a16="http://schemas.microsoft.com/office/drawing/2014/main" id="{656E455E-077A-41DB-A2C3-CCE7B2BDD8BF}"/>
              </a:ext>
            </a:extLst>
          </p:cNvPr>
          <p:cNvSpPr>
            <a:spLocks xmlns:a="http://schemas.openxmlformats.org/drawingml/2006/main" noGrp="1"/>
          </p:cNvSpPr>
          <p:nvPr/>
        </p:nvSpPr>
        <p:spPr>
          <a:xfrm xmlns:a="http://schemas.openxmlformats.org/drawingml/2006/main">
            <a:off x="4686300" y="5172075"/>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[19] Yusubov &amp; Bekirova, 2023</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488176625c7e4017"/>
              </a:rPr>
              <a:t>10.35784/iapgos.5320</a:t>
            </a:r>
          </a:p>
        </p:txBody>
      </p:sp>
      <p:sp>
        <p:nvSpPr>
          <p:cNvPr id="108" name="Reference 20">
            <a:extLst xmlns:a="http://schemas.openxmlformats.org/drawingml/2006/main">
              <a:ext uri="{FF2B5EF4-FFF2-40B4-BE49-F238E27FC236}">
                <a16:creationId xmlns:a16="http://schemas.microsoft.com/office/drawing/2014/main" id="{F8060993-CE44-4905-9BE6-7D7AFBA8CC11}"/>
              </a:ext>
            </a:extLst>
          </p:cNvPr>
          <p:cNvSpPr>
            <a:spLocks xmlns:a="http://schemas.openxmlformats.org/drawingml/2006/main" noGrp="1"/>
          </p:cNvSpPr>
          <p:nvPr/>
        </p:nvSpPr>
        <p:spPr>
          <a:xfrm xmlns:a="http://schemas.openxmlformats.org/drawingml/2006/main">
            <a:off x="4686300" y="5676900"/>
            <a:ext cx="42195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rPr>
              <a:t>[20] Basantes et al., 2023</a:t>
            </a:r>
          </a:p>
          <a:p xmlns:a="http://schemas.openxmlformats.org/drawingml/2006/main">
            <a:pPr algn="l">
              <a:buNone/>
              <a:defRPr sz="1425" b="0">
                <a:solidFill>
                  <a:srgbClr val="000000"/>
                </a:solidFill>
                <a:latin typeface="Times New Roman"/>
                <a:ea typeface="Times New Roman"/>
                <a:cs typeface="Times New Roman"/>
              </a:defRPr>
            </a:pPr>
            <a:r>
              <a:rPr sz="1425" b="0">
                <a:solidFill>
                  <a:srgbClr val="000000"/>
                </a:solidFill>
                <a:latin typeface="Times New Roman"/>
                <a:ea typeface="Times New Roman"/>
                <a:cs typeface="Times New Roman"/>
                <a:hlinkClick xmlns:r="http://schemas.openxmlformats.org/officeDocument/2006/relationships" r:id="R33dab0e4d2194496"/>
              </a:rPr>
              <a:t>10.3390/en16062912</a:t>
            </a:r>
          </a:p>
        </p:txBody>
      </p:sp>
    </p:spTree>
    <p:extLst>
      <p:ext uri="{BB962C8B-B14F-4D97-AF65-F5344CB8AC3E}">
        <p14:creationId xmlns:p14="http://schemas.microsoft.com/office/powerpoint/2010/main" val="362477373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79" name="Google Shape;179;p17">
            <a:extLst xmlns:a="http://schemas.openxmlformats.org/drawingml/2006/main">
              <a:ext uri="{FF2B5EF4-FFF2-40B4-BE49-F238E27FC236}">
                <a16:creationId xmlns:a16="http://schemas.microsoft.com/office/drawing/2014/main" id="{C7F07772-F161-470E-B8EC-CD5DA282A380}"/>
              </a:ext>
            </a:extLst>
          </p:cNvPr>
          <p:cNvSpPr>
            <a:spLocks xmlns:a="http://schemas.openxmlformats.org/drawingml/2006/main" noGrp="1"/>
          </p:cNvSpPr>
          <p:nvPr>
            <p:ph type="title" idx="0"/>
          </p:nvPr>
        </p:nvSpPr>
        <p:spPr>
          <a:xfrm xmlns:a="http://schemas.openxmlformats.org/drawingml/2006/main">
            <a:off x="227012" y="2547937"/>
            <a:ext cx="8520112" cy="11223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3300" b="0">
                <a:solidFill>
                  <a:srgbClr val="000000"/>
                </a:solidFill>
                <a:latin typeface="Arial"/>
                <a:ea typeface="Arial"/>
                <a:cs typeface="Arial"/>
              </a:defRPr>
            </a:pPr>
            <a:r>
              <a:rPr sz="3300" b="0" i="0" u="none">
                <a:solidFill>
                  <a:srgbClr val="000000"/>
                </a:solidFill>
                <a:latin typeface="Arial"/>
                <a:ea typeface="Arial"/>
                <a:cs typeface="Arial"/>
              </a:rPr>
              <a:t>Thank You</a:t>
            </a:r>
            <a:endParaRPr/>
          </a:p>
          <a:p xmlns:a="http://schemas.openxmlformats.org/drawingml/2006/main">
            <a:pPr marL="0" lvl="0" indent="0" algn="ctr">
              <a:lnSpc>
                <a:spcPct val="100000"/>
              </a:lnSpc>
              <a:spcBef>
                <a:spcPts val="0"/>
              </a:spcBef>
              <a:spcAft>
                <a:spcPts val="0"/>
              </a:spcAft>
              <a:buSzPts val="3600"/>
              <a:buNone/>
              <a:defRPr sz="3300" b="0">
                <a:solidFill>
                  <a:srgbClr val="000000"/>
                </a:solidFill>
                <a:latin typeface="Arial"/>
                <a:ea typeface="Arial"/>
                <a:cs typeface="Arial"/>
              </a:defRPr>
            </a:pPr>
            <a:r>
              <a:rPr sz="3300" b="0" i="0" u="none">
                <a:solidFill>
                  <a:srgbClr val="000000"/>
                </a:solidFill>
                <a:latin typeface="Arial"/>
                <a:ea typeface="Arial"/>
                <a:cs typeface="Arial"/>
              </a:rPr>
              <a:t>Questions and Discussion</a:t>
            </a:r>
            <a:endParaRPr/>
          </a:p>
        </p:txBody>
      </p:sp>
      <p:sp>
        <p:nvSpPr>
          <p:cNvPr id="180" name="Google Shape;180;p17">
            <a:extLst xmlns:a="http://schemas.openxmlformats.org/drawingml/2006/main">
              <a:ext uri="{FF2B5EF4-FFF2-40B4-BE49-F238E27FC236}">
                <a16:creationId xmlns:a16="http://schemas.microsoft.com/office/drawing/2014/main" id="{ACCAE5F9-D482-4F71-9E72-63FD2FEBFCEF}"/>
              </a:ext>
            </a:extLst>
          </p:cNvPr>
          <p:cNvSpPr>
            <a:spLocks xmlns:a="http://schemas.openxmlformats.org/drawingml/2006/main" noGrp="1"/>
          </p:cNvSpPr>
          <p:nvPr/>
        </p:nvSpPr>
        <p:spPr>
          <a:xfrm xmlns:a="http://schemas.openxmlformats.org/drawingml/2006/main">
            <a:off x="8472487" y="6218237"/>
            <a:ext cx="549275" cy="5238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47625" tIns="38100" rIns="47625" bIns="381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595959"/>
              </a:buClr>
              <a:buSzPts val="1000"/>
              <a:buFont typeface="Arial"/>
              <a:buNone/>
              <a:defRPr sz="975" b="0">
                <a:solidFill>
                  <a:srgbClr val="595959"/>
                </a:solidFill>
                <a:latin typeface="Arial"/>
                <a:ea typeface="Arial"/>
                <a:cs typeface="Arial"/>
              </a:defRPr>
            </a:pPr>
            <a:fld id="{327921A4-25C4-3DB4-06B1-32693CEE2241}" type="slidenum">
              <a:rPr sz="975" b="0" i="0" u="none">
                <a:solidFill>
                  <a:srgbClr val="595959"/>
                </a:solidFill>
                <a:latin typeface="Arial"/>
                <a:ea typeface="Arial"/>
                <a:cs typeface="Arial"/>
              </a:rPr>
              <a:t>14</a:t>
            </a:fld>
            <a:endParaRPr/>
          </a:p>
        </p:txBody>
      </p:sp>
      <p:sp>
        <p:nvSpPr>
          <p:cNvPr id="181" name="Closing focus">
            <a:extLst xmlns:a="http://schemas.openxmlformats.org/drawingml/2006/main">
              <a:ext uri="{FF2B5EF4-FFF2-40B4-BE49-F238E27FC236}">
                <a16:creationId xmlns:a16="http://schemas.microsoft.com/office/drawing/2014/main" id="{3BE619B4-C0BA-4EA1-9690-FADCA0C6DCFB}"/>
              </a:ext>
            </a:extLst>
          </p:cNvPr>
          <p:cNvSpPr>
            <a:spLocks xmlns:a="http://schemas.openxmlformats.org/drawingml/2006/main" noGrp="1"/>
          </p:cNvSpPr>
          <p:nvPr/>
        </p:nvSpPr>
        <p:spPr>
          <a:xfrm xmlns:a="http://schemas.openxmlformats.org/drawingml/2006/main">
            <a:off x="809625" y="4314825"/>
            <a:ext cx="75342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47625" tIns="38100" rIns="47625" bIns="38100" anchor="t">
            <a:noAutofit/>
          </a:bodyPr>
          <a:lstStyle xmlns:a="http://schemas.openxmlformats.org/drawingml/2006/main"/>
          <a:p xmlns:a="http://schemas.openxmlformats.org/drawingml/2006/main">
            <a:pPr algn="ctr">
              <a:buNone/>
              <a:defRPr sz="2175" b="1">
                <a:solidFill>
                  <a:srgbClr val="7030A0"/>
                </a:solidFill>
                <a:latin typeface="Times New Roman"/>
                <a:ea typeface="Times New Roman"/>
                <a:cs typeface="Times New Roman"/>
              </a:defRPr>
            </a:pPr>
            <a:r>
              <a:rPr sz="2175" b="1">
                <a:solidFill>
                  <a:srgbClr val="7030A0"/>
                </a:solidFill>
                <a:latin typeface="Times New Roman"/>
                <a:ea typeface="Times New Roman"/>
                <a:cs typeface="Times New Roman"/>
              </a:rPr>
              <a:t>WattSense</a:t>
            </a:r>
          </a:p>
          <a:p xmlns:a="http://schemas.openxmlformats.org/drawingml/2006/main">
            <a:pPr algn="ctr">
              <a:buNone/>
              <a:defRPr sz="2175" b="1">
                <a:solidFill>
                  <a:srgbClr val="7030A0"/>
                </a:solidFill>
                <a:latin typeface="Times New Roman"/>
                <a:ea typeface="Times New Roman"/>
                <a:cs typeface="Times New Roman"/>
              </a:defRPr>
            </a:pPr>
            <a:r>
              <a:rPr sz="2175" b="1">
                <a:solidFill>
                  <a:srgbClr val="7030A0"/>
                </a:solidFill>
                <a:latin typeface="Times New Roman"/>
                <a:ea typeface="Times New Roman"/>
                <a:cs typeface="Times New Roman"/>
              </a:rPr>
              <a:t>Battery Energy and Runtime Estimation</a:t>
            </a:r>
          </a:p>
          <a:p xmlns:a="http://schemas.openxmlformats.org/drawingml/2006/main">
            <a:pPr algn="ctr">
              <a:buNone/>
              <a:defRPr sz="2175" b="1">
                <a:solidFill>
                  <a:srgbClr val="7030A0"/>
                </a:solidFill>
                <a:latin typeface="Times New Roman"/>
                <a:ea typeface="Times New Roman"/>
                <a:cs typeface="Times New Roman"/>
              </a:defRPr>
            </a:pPr>
            <a:r>
              <a:rPr sz="2175" b="1">
                <a:solidFill>
                  <a:srgbClr val="7030A0"/>
                </a:solidFill>
                <a:latin typeface="Times New Roman"/>
                <a:ea typeface="Times New Roman"/>
                <a:cs typeface="Times New Roman"/>
              </a:rPr>
              <a:t>with Load Signature Guidance</a:t>
            </a:r>
          </a:p>
        </p:txBody>
      </p:sp>
    </p:spTree>
    <p:extLst>
      <p:ext uri="{BB962C8B-B14F-4D97-AF65-F5344CB8AC3E}">
        <p14:creationId xmlns:p14="http://schemas.microsoft.com/office/powerpoint/2010/main" val="188822934"/>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2026-10-03T07:19:39.6190000Z</dcterms:created>
  <dcterms:modified xsi:type="dcterms:W3CDTF">2026-10-03T07:19:39.6190000Z</dcterms:modified>
</coreProperties>
</file>